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Define Photosynthesis and explain what it means.; Correct the common misconception about The Dark Reactions and Plant Respiration.</a:t>
            </a:r>
          </a:p>
          <a:p/>
          <a:p>
            <a:r>
              <a:t>ASK STUDENTS (ORAL CHECK):</a:t>
            </a:r>
          </a:p>
          <a:p>
            <a:r>
              <a:t>ask students to predict before revealing anything — Chapter 4: Photosynthesis and the Transformation of Energy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Define Photosynthesis and explain what it means.; Correct the common misconception about The Dark Reactions and Plant Respiration.</a:t>
            </a:r>
          </a:p>
          <a:p/>
          <a:p>
            <a:r>
              <a:t>ASK STUDENTS (ORAL CHECK):</a:t>
            </a:r>
          </a:p>
          <a:p>
            <a:r>
              <a:t>elicit prior knowledge; cold-call one summary — Chapter 4: Photosynthesis and the Transformation of Energy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Define Photosynthesis and explain what it means.; Correct the common misconception about The Dark Reactions and Plant Respiration.</a:t>
            </a:r>
          </a:p>
          <a:p/>
          <a:p>
            <a:r>
              <a:t>ASK STUDENTS (ORAL CHECK):</a:t>
            </a:r>
          </a:p>
          <a:p>
            <a:r>
              <a:t>read objectives aloud; ask which looks hardest — Chapter 4: Photosynthesis and the Transformation of Energy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concept: Introduction and Big Picture</a:t>
            </a:r>
          </a:p>
          <a:p/>
          <a:p>
            <a:r>
              <a:t>ASK STUDENTS (ORAL CHECK):</a:t>
            </a:r>
          </a:p>
          <a:p>
            <a:r>
              <a:t>explain, then pause; ask 'why does this step follow?' — Introduction and Big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definition: Photosynthesis</a:t>
            </a:r>
          </a:p>
          <a:p/>
          <a:p>
            <a:r>
              <a:t>ASK STUDENTS (ORAL CHECK):</a:t>
            </a:r>
          </a:p>
          <a:p>
            <a:r>
              <a:t>explain, then pause; ask 'why does this step follow?' — Photosynthesis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Introduction and Big Picture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derivation: The Overall Chemical Reaction and Thermodynamic Balance</a:t>
            </a:r>
          </a:p>
          <a:p/>
          <a:p>
            <a:r>
              <a:t>ASK STUDENTS (ORAL CHECK):</a:t>
            </a:r>
          </a:p>
          <a:p>
            <a:r>
              <a:t>explain, then pause; ask 'why does this step follow?' — The Overall Chemical Reaction and Thermodynamic Balance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Use the relationship 6CO₂ + 6H₂O + light energy → C₆H₁₂O₆ + 6O₂ to calculate unknown quantities.</a:t>
            </a:r>
          </a:p>
          <a:p/>
          <a:p>
            <a:r>
              <a:t>ASK STUDENTS (ORAL CHECK):</a:t>
            </a:r>
          </a:p>
          <a:p>
            <a:r>
              <a:t>Think time first; who can explain their reasoning?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why each distractor fails.</a:t>
            </a:r>
          </a:p>
          <a:p/>
          <a:p>
            <a:r>
              <a:t>EMPHASIS / KEY POINT:</a:t>
            </a:r>
          </a:p>
          <a:p>
            <a:r>
              <a:t>Learning goal: Use the relationship 6CO₂ + 6H₂O + light energy → C₆H₁₂O₆ + 6O₂ to calculate unknown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mechanism: The Overall Chemical Reaction and Thermodynamic Balance</a:t>
            </a:r>
          </a:p>
          <a:p/>
          <a:p>
            <a:r>
              <a:t>ASK STUDENTS (ORAL CHECK):</a:t>
            </a:r>
          </a:p>
          <a:p>
            <a:r>
              <a:t>explain, then pause; ask 'why does this step follow?' — The Overall Chemical Reaction and Thermodynamic Balance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mechanism: Subcellular Architecture: The Chloroplast</a:t>
            </a:r>
          </a:p>
          <a:p/>
          <a:p>
            <a:r>
              <a:t>ASK STUDENTS (ORAL CHECK):</a:t>
            </a:r>
          </a:p>
          <a:p>
            <a:r>
              <a:t>explain, then pause; ask 'why does this step follow?' — Subcellular Architecture: The Chloroplast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The Overall Chemical Reaction and Thermodynamic Balance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calculation: Chapter 4: Photosynthesis and the Transformation of Energy</a:t>
            </a:r>
          </a:p>
          <a:p/>
          <a:p>
            <a:r>
              <a:t>ASK STUDENTS (ORAL CHECK):</a:t>
            </a:r>
          </a:p>
          <a:p>
            <a:r>
              <a:t>explain, then pause; ask 'why does this step follow?' — worked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Determine the theoretical moles of glucose produced if the experimental quantum requirement is 8 photons per molecule of O₂ evolved.</a:t>
            </a:r>
          </a:p>
          <a:p/>
          <a:p>
            <a:r>
              <a:t>ASK STUDENTS (ORAL CHECK):</a:t>
            </a:r>
          </a:p>
          <a:p>
            <a:r>
              <a:t>Think time first; who can explain their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why each distractor fails.</a:t>
            </a:r>
          </a:p>
          <a:p/>
          <a:p>
            <a:r>
              <a:t>EMPHASIS / KEY POINT:</a:t>
            </a:r>
          </a:p>
          <a:p>
            <a:r>
              <a:t>Learning goal: Determine the theoretical moles of glucose produced if the experimental quantum requirement is 8 photons per molecule of O₂ evolved.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Worked Calculation: Photochemical Quantum Yield and Efficiency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misconception: Common Misconception: The Dark Reactions and Plant Respiration</a:t>
            </a:r>
          </a:p>
          <a:p/>
          <a:p>
            <a:r>
              <a:t>ASK STUDENTS (ORAL CHECK):</a:t>
            </a:r>
          </a:p>
          <a:p>
            <a:r>
              <a:t>explain, then pause; ask 'why does this step follow?' — Common Misconception: The Dark Reactions and Plant Respiration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Common Misconception: The Dark Reactions and Plant Respiration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Correct Reasoning — The Dark Reactions and Plant Respiration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If the thylakoid membrane becomes permeable to protons due to a chemical ionophore, what is the immediate biochemical consequence?</a:t>
            </a:r>
          </a:p>
          <a:p/>
          <a:p>
            <a:r>
              <a:t>ASK STUDENTS (ORAL CHECK):</a:t>
            </a:r>
          </a:p>
          <a:p>
            <a:r>
              <a:t>Think time first; who can explain their reasoning?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why each distractor fails.</a:t>
            </a:r>
          </a:p>
          <a:p/>
          <a:p>
            <a:r>
              <a:t>EMPHASIS / KEY POINT:</a:t>
            </a:r>
          </a:p>
          <a:p>
            <a:r>
              <a:t>Learning goal: If the thylakoid membrane becomes permeable to protons due to a chemical ionophore, what is the immediate biochemical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process: apply the lesson</a:t>
            </a:r>
          </a:p>
          <a:p/>
          <a:p>
            <a:r>
              <a:t>ASK STUDENTS (ORAL CHECK):</a:t>
            </a:r>
          </a:p>
          <a:p>
            <a:r>
              <a:t>model the first step (I DO), let students attempt the next (WE DO) — Practice Problem 1: Trace the path of an electron extracted from water photolysis in Photosystem II until its terminal 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Formative Assessment: Checks for Understanding from memory</a:t>
            </a:r>
          </a:p>
          <a:p/>
          <a:p>
            <a:r>
              <a:t>ASK STUDENTS (ORAL CHECK):</a:t>
            </a:r>
          </a:p>
          <a:p>
            <a:r>
              <a:t>hide the source slide; require recall, not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comparison: apply the lesson</a:t>
            </a:r>
          </a:p>
          <a:p/>
          <a:p>
            <a:r>
              <a:t>ASK STUDENTS (ORAL CHECK):</a:t>
            </a:r>
          </a:p>
          <a:p>
            <a:r>
              <a:t>model the first step (I DO), let students attempt the next (WE DO) — Practice Problem 2: Contrast the physiological advantages and energetic costs of the C3 photosynthetic pathway with the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experimental_data: Quantitative Experimental Data: Action Spectrum vs Absorption Spectrum</a:t>
            </a:r>
          </a:p>
          <a:p/>
          <a:p>
            <a:r>
              <a:t>ASK STUDENTS (ORAL CHECK):</a:t>
            </a:r>
          </a:p>
          <a:p>
            <a:r>
              <a:t>pause before revealing each stage; ask what comes next — Quantitative Experimental Data: Action Spectrum vs Absorption Spectrum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recall Introduction and Big Picture from memory</a:t>
            </a:r>
          </a:p>
          <a:p/>
          <a:p>
            <a:r>
              <a:t>ASK STUDENTS (ORAL CHECK):</a:t>
            </a:r>
          </a:p>
          <a:p>
            <a:r>
              <a:t>revisit an earlier concept in a new context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Define Photosynthesis and explain what it means.; Correct the common misconception about The Dark Reactions and Plant Respiration.</a:t>
            </a:r>
          </a:p>
          <a:p/>
          <a:p>
            <a:r>
              <a:t>ASK STUDENTS (ORAL CHECK):</a:t>
            </a:r>
          </a:p>
          <a:p>
            <a:r>
              <a:t>ask a student to teach back the golden rule — Chapter 4: Photosynthesis and the Transformation of Energy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Interpret the data in Quantitative Experimental Data: Action Spectrum vs Absorption Spectrum.</a:t>
            </a:r>
          </a:p>
          <a:p/>
          <a:p>
            <a:r>
              <a:t>ASK STUDENTS (ORAL CHECK):</a:t>
            </a:r>
          </a:p>
          <a:p>
            <a:r>
              <a:t>Think time first; who can explain their reasoning?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EXPLANATION:</a:t>
            </a:r>
          </a:p>
          <a:p>
            <a:r>
              <a:t>Explain why each distractor fails.</a:t>
            </a:r>
          </a:p>
          <a:p/>
          <a:p>
            <a:r>
              <a:t>EMPHASIS / KEY POINT:</a:t>
            </a:r>
          </a:p>
          <a:p>
            <a:r>
              <a:t>Learning goal: Interpret the data in Quantitative Experimental Data: Action Spectrum vs Absorption Spectrum.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 / KEY POINT:</a:t>
            </a:r>
          </a:p>
          <a:p>
            <a:r>
              <a:t>Learning goal: surface one takeaway and one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1 title" descr="Chapter 4: Photosynthesis and the Transformation of Energy. create relevance and curiosity for the chapter"/>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1 title" descr="Chapter 4: Photosynthesis and the Transformation of Energy. create relevance and curiosity for the chapter"/>
          <p:cNvSpPr/>
          <p:nvPr/>
        </p:nvSpPr>
        <p:spPr>
          <a:xfrm>
            <a:off x="1371600" y="1828800"/>
            <a:ext cx="2560320" cy="365760"/>
          </a:xfrm>
          <a:prstGeom prst="roundRect">
            <a:avLst/>
          </a:prstGeom>
          <a:solidFill>
            <a:srgbClr val="1E293B"/>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284C7"/>
                </a:solidFill>
                <a:latin typeface="Segoe UI"/>
              </a:defRPr>
            </a:pPr>
            <a:r>
              <a:t>• BIOLOGY •</a:t>
            </a:r>
          </a:p>
        </p:txBody>
      </p:sp>
      <p:sp>
        <p:nvSpPr>
          <p:cNvPr id="4" name="S001 title" descr="Chapter 4: Photosynthesis and the Transformation of Energy. create relevance and curiosity for the chapter"/>
          <p:cNvSpPr txBox="1"/>
          <p:nvPr/>
        </p:nvSpPr>
        <p:spPr>
          <a:xfrm>
            <a:off x="1371600" y="2377440"/>
            <a:ext cx="9418320" cy="1645920"/>
          </a:xfrm>
          <a:prstGeom prst="rect">
            <a:avLst/>
          </a:prstGeom>
          <a:noFill/>
        </p:spPr>
        <p:txBody>
          <a:bodyPr wrap="square">
            <a:spAutoFit/>
          </a:bodyPr>
          <a:lstStyle/>
          <a:p>
            <a:pPr>
              <a:defRPr sz="4000" b="1">
                <a:solidFill>
                  <a:srgbClr val="FFFFFF"/>
                </a:solidFill>
                <a:latin typeface="Segoe UI"/>
              </a:defRPr>
            </a:pPr>
            <a:r>
              <a:t>Chapter 4: Photosynthesis and the Transformation of Energy</a:t>
            </a:r>
          </a:p>
          <a:p>
            <a:pPr>
              <a:spcBef>
                <a:spcPts val="1000"/>
              </a:spcBef>
              <a:defRPr sz="1800">
                <a:solidFill>
                  <a:srgbClr val="CBD5E1"/>
                </a:solidFill>
                <a:latin typeface="Segoe UI"/>
              </a:defRPr>
            </a:pPr>
            <a:r>
              <a:t>Chapter 4: Photosynthesis and the Transformation of Energy</a:t>
            </a:r>
          </a:p>
        </p:txBody>
      </p:sp>
      <p:sp>
        <p:nvSpPr>
          <p:cNvPr id="5" name="S001 title" descr="Chapter 4: Photosynthesis and the Transformation of Energy. create relevance and curiosity for the chapter"/>
          <p:cNvSpPr/>
          <p:nvPr/>
        </p:nvSpPr>
        <p:spPr>
          <a:xfrm>
            <a:off x="1371600" y="5029200"/>
            <a:ext cx="4114800" cy="4114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94A3B8"/>
                </a:solidFill>
                <a:latin typeface="Segoe UI"/>
              </a:defRPr>
            </a:pPr>
            <a:r>
              <a:t>CLASSROOM-READY TEACHING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2 concept_card" descr="Prior Knowledge. activate prerequisites before new complexity"/>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2 concept_card" descr="Prior Knowledge. activate prerequisites before new complexity"/>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CONCEPT</a:t>
            </a:r>
          </a:p>
        </p:txBody>
      </p:sp>
      <p:sp>
        <p:nvSpPr>
          <p:cNvPr id="4" name="S002 concept_card" descr="Prior Knowledge. activate prerequisites before new complexity"/>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Prior Knowledge</a:t>
            </a:r>
          </a:p>
          <a:p>
            <a:pPr>
              <a:spcBef>
                <a:spcPts val="400"/>
              </a:spcBef>
              <a:defRPr sz="1400">
                <a:solidFill>
                  <a:srgbClr val="475569"/>
                </a:solidFill>
                <a:latin typeface="Segoe UI"/>
              </a:defRPr>
            </a:pPr>
            <a:r>
              <a:t>Chapter 4: Photosynthesis and the Transformation of Energy</a:t>
            </a:r>
          </a:p>
        </p:txBody>
      </p:sp>
      <p:sp>
        <p:nvSpPr>
          <p:cNvPr id="5" name="S002 concept_card" descr="Prior Knowledge. activate prerequisites before new complexity"/>
          <p:cNvSpPr/>
          <p:nvPr/>
        </p:nvSpPr>
        <p:spPr>
          <a:xfrm>
            <a:off x="731520" y="1920240"/>
            <a:ext cx="10728655" cy="18973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2 concept_card" descr="Prior Knowledge. activate prerequisites before new complexity"/>
          <p:cNvSpPr txBox="1"/>
          <p:nvPr/>
        </p:nvSpPr>
        <p:spPr>
          <a:xfrm>
            <a:off x="1371600" y="2029968"/>
            <a:ext cx="9814255" cy="1677924"/>
          </a:xfrm>
          <a:prstGeom prst="rect">
            <a:avLst/>
          </a:prstGeom>
          <a:noFill/>
        </p:spPr>
        <p:txBody>
          <a:bodyPr wrap="square">
            <a:spAutoFit/>
          </a:bodyPr>
          <a:lstStyle/>
          <a:p>
            <a:pPr>
              <a:defRPr sz="1400" b="1">
                <a:solidFill>
                  <a:srgbClr val="0284C7"/>
                </a:solidFill>
                <a:latin typeface="Segoe UI"/>
              </a:defRPr>
            </a:pPr>
            <a:r>
              <a:t>01</a:t>
            </a:r>
          </a:p>
          <a:p>
            <a:pPr>
              <a:spcBef>
                <a:spcPts val="200"/>
              </a:spcBef>
              <a:defRPr sz="1500" b="0">
                <a:solidFill>
                  <a:srgbClr val="0F172A"/>
                </a:solidFill>
                <a:latin typeface="Segoe UI"/>
              </a:defRPr>
            </a:pPr>
            <a:r>
              <a:t>Cell theory fundamentals</a:t>
            </a:r>
          </a:p>
        </p:txBody>
      </p:sp>
      <p:sp>
        <p:nvSpPr>
          <p:cNvPr id="7" name="S002 concept_card" descr="Prior Knowledge. activate prerequisites before new complexity"/>
          <p:cNvSpPr/>
          <p:nvPr/>
        </p:nvSpPr>
        <p:spPr>
          <a:xfrm>
            <a:off x="731520" y="4046220"/>
            <a:ext cx="10728655" cy="18973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02 concept_card" descr="Prior Knowledge. activate prerequisites before new complexity"/>
          <p:cNvSpPr txBox="1"/>
          <p:nvPr/>
        </p:nvSpPr>
        <p:spPr>
          <a:xfrm>
            <a:off x="1371600" y="4155948"/>
            <a:ext cx="9814255" cy="1677924"/>
          </a:xfrm>
          <a:prstGeom prst="rect">
            <a:avLst/>
          </a:prstGeom>
          <a:noFill/>
        </p:spPr>
        <p:txBody>
          <a:bodyPr wrap="square">
            <a:spAutoFit/>
          </a:bodyPr>
          <a:lstStyle/>
          <a:p>
            <a:pPr>
              <a:defRPr sz="1400" b="1">
                <a:solidFill>
                  <a:srgbClr val="0284C7"/>
                </a:solidFill>
                <a:latin typeface="Segoe UI"/>
              </a:defRPr>
            </a:pPr>
            <a:r>
              <a:t>02</a:t>
            </a:r>
          </a:p>
          <a:p>
            <a:pPr>
              <a:spcBef>
                <a:spcPts val="200"/>
              </a:spcBef>
              <a:defRPr sz="1500" b="0">
                <a:solidFill>
                  <a:srgbClr val="0F172A"/>
                </a:solidFill>
                <a:latin typeface="Segoe UI"/>
              </a:defRPr>
            </a:pPr>
            <a:r>
              <a:t>Basic energy conversion principles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par>
                    <p:cTn id="6" fill="hold">
                      <p:stCondLst>
                        <p:cond delay="0"/>
                      </p:stCondLst>
                      <p:childTnLst>
                        <p:par>
                          <p:cTn id="7" fill="hold">
                            <p:stCondLst>
                              <p:cond delay="0"/>
                            </p:stCondLst>
                            <p:childTnLst>
                              <p:animEffect transition="in" filter="fade">
                                <p:cBhvr>
                                  <p:cTn id="8" dur="4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P spid="7" grpId="0" build="asOne"/>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3 objectives" descr="Learning Objectives. state observable outcomes (backward desig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3 objectives" descr="Learning Objectives. state observable outcomes (backward desig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GOALS</a:t>
            </a:r>
          </a:p>
        </p:txBody>
      </p:sp>
      <p:sp>
        <p:nvSpPr>
          <p:cNvPr id="4" name="S003 objectives" descr="Learning Objectives. state observable outcomes (backward desig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Learning Objectives</a:t>
            </a:r>
          </a:p>
          <a:p>
            <a:pPr>
              <a:spcBef>
                <a:spcPts val="400"/>
              </a:spcBef>
              <a:defRPr sz="1400">
                <a:solidFill>
                  <a:srgbClr val="475569"/>
                </a:solidFill>
                <a:latin typeface="Segoe UI"/>
              </a:defRPr>
            </a:pPr>
            <a:r>
              <a:t>Chapter 4: Photosynthesis and the Transformation of Energy</a:t>
            </a:r>
          </a:p>
        </p:txBody>
      </p:sp>
      <p:sp>
        <p:nvSpPr>
          <p:cNvPr id="5" name="S003 objectives" descr="Learning Objectives. state observable outcomes (backward design)"/>
          <p:cNvSpPr/>
          <p:nvPr/>
        </p:nvSpPr>
        <p:spPr>
          <a:xfrm>
            <a:off x="731520" y="1828800"/>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3 objectives" descr="Learning Objectives. state observable outcomes (backward design)"/>
          <p:cNvSpPr/>
          <p:nvPr/>
        </p:nvSpPr>
        <p:spPr>
          <a:xfrm>
            <a:off x="731520" y="1828800"/>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1</a:t>
            </a:r>
          </a:p>
        </p:txBody>
      </p:sp>
      <p:sp>
        <p:nvSpPr>
          <p:cNvPr id="7" name="S003 objectives" descr="Learning Objectives. state observable outcomes (backward design)"/>
          <p:cNvSpPr txBox="1"/>
          <p:nvPr/>
        </p:nvSpPr>
        <p:spPr>
          <a:xfrm>
            <a:off x="1737360" y="1965960"/>
            <a:ext cx="9539935" cy="640080"/>
          </a:xfrm>
          <a:prstGeom prst="rect">
            <a:avLst/>
          </a:prstGeom>
          <a:noFill/>
        </p:spPr>
        <p:txBody>
          <a:bodyPr wrap="square">
            <a:spAutoFit/>
          </a:bodyPr>
          <a:lstStyle/>
          <a:p>
            <a:pPr>
              <a:defRPr sz="1600" b="1">
                <a:solidFill>
                  <a:srgbClr val="0F172A"/>
                </a:solidFill>
                <a:latin typeface="Segoe UI"/>
              </a:defRPr>
            </a:pPr>
            <a:r>
              <a:t>Define Photosynthesis and explain what it means.</a:t>
            </a:r>
          </a:p>
        </p:txBody>
      </p:sp>
      <p:sp>
        <p:nvSpPr>
          <p:cNvPr id="8" name="S003 objectives" descr="Learning Objectives. state observable outcomes (backward design)"/>
          <p:cNvSpPr/>
          <p:nvPr/>
        </p:nvSpPr>
        <p:spPr>
          <a:xfrm>
            <a:off x="731520" y="2944368"/>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03 objectives" descr="Learning Objectives. state observable outcomes (backward design)"/>
          <p:cNvSpPr/>
          <p:nvPr/>
        </p:nvSpPr>
        <p:spPr>
          <a:xfrm>
            <a:off x="731520" y="2944368"/>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2</a:t>
            </a:r>
          </a:p>
        </p:txBody>
      </p:sp>
      <p:sp>
        <p:nvSpPr>
          <p:cNvPr id="10" name="S003 objectives" descr="Learning Objectives. state observable outcomes (backward design)"/>
          <p:cNvSpPr txBox="1"/>
          <p:nvPr/>
        </p:nvSpPr>
        <p:spPr>
          <a:xfrm>
            <a:off x="1737360" y="3081528"/>
            <a:ext cx="9539935" cy="640080"/>
          </a:xfrm>
          <a:prstGeom prst="rect">
            <a:avLst/>
          </a:prstGeom>
          <a:noFill/>
        </p:spPr>
        <p:txBody>
          <a:bodyPr wrap="square">
            <a:spAutoFit/>
          </a:bodyPr>
          <a:lstStyle/>
          <a:p>
            <a:pPr>
              <a:defRPr sz="1600" b="1">
                <a:solidFill>
                  <a:srgbClr val="0F172A"/>
                </a:solidFill>
                <a:latin typeface="Segoe UI"/>
              </a:defRPr>
            </a:pPr>
            <a:r>
              <a:t>Correct the common misconception about The Dark Reactions and Plant Respiration.</a:t>
            </a:r>
          </a:p>
        </p:txBody>
      </p:sp>
      <p:sp>
        <p:nvSpPr>
          <p:cNvPr id="11" name="S003 objectives" descr="Learning Objectives. state observable outcomes (backward design)"/>
          <p:cNvSpPr/>
          <p:nvPr/>
        </p:nvSpPr>
        <p:spPr>
          <a:xfrm>
            <a:off x="731520" y="4059936"/>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003 objectives" descr="Learning Objectives. state observable outcomes (backward design)"/>
          <p:cNvSpPr/>
          <p:nvPr/>
        </p:nvSpPr>
        <p:spPr>
          <a:xfrm>
            <a:off x="731520" y="4059936"/>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3</a:t>
            </a:r>
          </a:p>
        </p:txBody>
      </p:sp>
      <p:sp>
        <p:nvSpPr>
          <p:cNvPr id="13" name="S003 objectives" descr="Learning Objectives. state observable outcomes (backward design)"/>
          <p:cNvSpPr txBox="1"/>
          <p:nvPr/>
        </p:nvSpPr>
        <p:spPr>
          <a:xfrm>
            <a:off x="1737360" y="4197096"/>
            <a:ext cx="9539935" cy="640080"/>
          </a:xfrm>
          <a:prstGeom prst="rect">
            <a:avLst/>
          </a:prstGeom>
          <a:noFill/>
        </p:spPr>
        <p:txBody>
          <a:bodyPr wrap="square">
            <a:spAutoFit/>
          </a:bodyPr>
          <a:lstStyle/>
          <a:p>
            <a:pPr>
              <a:defRPr sz="1600" b="1">
                <a:solidFill>
                  <a:srgbClr val="0F172A"/>
                </a:solidFill>
                <a:latin typeface="Segoe UI"/>
              </a:defRPr>
            </a:pPr>
            <a:r>
              <a:t>Use the relationship 6CO₂ + 6H₂O + light energy → C₆H₁₂O₆ + 6O₂ to calculate unknown quantities.</a:t>
            </a:r>
          </a:p>
        </p:txBody>
      </p:sp>
      <p:sp>
        <p:nvSpPr>
          <p:cNvPr id="14" name="S003 objectives" descr="Learning Objectives. state observable outcomes (backward design)"/>
          <p:cNvSpPr/>
          <p:nvPr/>
        </p:nvSpPr>
        <p:spPr>
          <a:xfrm>
            <a:off x="731520" y="5175504"/>
            <a:ext cx="10728655" cy="914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03 objectives" descr="Learning Objectives. state observable outcomes (backward design)"/>
          <p:cNvSpPr/>
          <p:nvPr/>
        </p:nvSpPr>
        <p:spPr>
          <a:xfrm>
            <a:off x="731520" y="5175504"/>
            <a:ext cx="822960" cy="9144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800">
                <a:solidFill>
                  <a:srgbClr val="FFFFFF"/>
                </a:solidFill>
              </a:defRPr>
            </a:pPr>
            <a:r>
              <a:t>4</a:t>
            </a:r>
          </a:p>
        </p:txBody>
      </p:sp>
      <p:sp>
        <p:nvSpPr>
          <p:cNvPr id="16" name="S003 objectives" descr="Learning Objectives. state observable outcomes (backward design)"/>
          <p:cNvSpPr txBox="1"/>
          <p:nvPr/>
        </p:nvSpPr>
        <p:spPr>
          <a:xfrm>
            <a:off x="1737360" y="5312664"/>
            <a:ext cx="9539935" cy="640080"/>
          </a:xfrm>
          <a:prstGeom prst="rect">
            <a:avLst/>
          </a:prstGeom>
          <a:noFill/>
        </p:spPr>
        <p:txBody>
          <a:bodyPr wrap="square">
            <a:spAutoFit/>
          </a:bodyPr>
          <a:lstStyle/>
          <a:p>
            <a:pPr>
              <a:defRPr sz="1600" b="1">
                <a:solidFill>
                  <a:srgbClr val="0F172A"/>
                </a:solidFill>
                <a:latin typeface="Segoe UI"/>
              </a:defRPr>
            </a:pPr>
            <a:r>
              <a:t>Interpret the data in Quantitative Experimental Data: Action Spectrum vs Absorption Spectrum.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4 concept_card" descr="Introduction and Big Picture. teach C002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4 concept_card" descr="Introduction and Big Picture. teach C002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CONCEPT</a:t>
            </a:r>
          </a:p>
        </p:txBody>
      </p:sp>
      <p:sp>
        <p:nvSpPr>
          <p:cNvPr id="4" name="S004 concept_card" descr="Introduction and Big Picture. teach C002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Introduction and Big Picture</a:t>
            </a:r>
          </a:p>
          <a:p>
            <a:pPr>
              <a:spcBef>
                <a:spcPts val="400"/>
              </a:spcBef>
              <a:defRPr sz="1400">
                <a:solidFill>
                  <a:srgbClr val="475569"/>
                </a:solidFill>
                <a:latin typeface="Segoe UI"/>
              </a:defRPr>
            </a:pPr>
            <a:r>
              <a:t>Introduction and Big Picture</a:t>
            </a:r>
          </a:p>
        </p:txBody>
      </p:sp>
      <p:sp>
        <p:nvSpPr>
          <p:cNvPr id="5" name="S004 concept_card" descr="Introduction and Big Picture. teach C002 in a manageable chunk"/>
          <p:cNvSpPr/>
          <p:nvPr/>
        </p:nvSpPr>
        <p:spPr>
          <a:xfrm>
            <a:off x="731520" y="1920240"/>
            <a:ext cx="10728655"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4 concept_card" descr="Introduction and Big Picture. teach C002 in a manageable chunk"/>
          <p:cNvSpPr txBox="1"/>
          <p:nvPr/>
        </p:nvSpPr>
        <p:spPr>
          <a:xfrm>
            <a:off x="1371600" y="2029968"/>
            <a:ext cx="9814255" cy="3072384"/>
          </a:xfrm>
          <a:prstGeom prst="rect">
            <a:avLst/>
          </a:prstGeom>
          <a:noFill/>
        </p:spPr>
        <p:txBody>
          <a:bodyPr wrap="square">
            <a:spAutoFit/>
          </a:bodyPr>
          <a:lstStyle/>
          <a:p>
            <a:pPr>
              <a:defRPr sz="1400" b="1">
                <a:solidFill>
                  <a:srgbClr val="0284C7"/>
                </a:solidFill>
                <a:latin typeface="Segoe UI"/>
              </a:defRPr>
            </a:pPr>
            <a:r>
              <a:t>01</a:t>
            </a:r>
          </a:p>
          <a:p>
            <a:pPr>
              <a:spcBef>
                <a:spcPts val="200"/>
              </a:spcBef>
              <a:defRPr sz="1500" b="0">
                <a:solidFill>
                  <a:srgbClr val="0F172A"/>
                </a:solidFill>
                <a:latin typeface="Segoe UI"/>
              </a:defRPr>
            </a:pPr>
            <a:r>
              <a:t>All biological activity on Earth is ultimately driven by solar energy. Phototrophic organisms—including terrestrial green plants, cyanobacteria, and eukaryotic algae—possess the specialized machinery required to capture solar photons and convert electromagneti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5 definition_focus" descr="Photosynthesis. teach C003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5 definition_focus" descr="Photosynthesis. teach C003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DEFINITION</a:t>
            </a:r>
          </a:p>
        </p:txBody>
      </p:sp>
      <p:sp>
        <p:nvSpPr>
          <p:cNvPr id="4" name="S005 definition_focus" descr="Photosynthesis. teach C003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Photosynthesis</a:t>
            </a:r>
          </a:p>
          <a:p>
            <a:pPr>
              <a:spcBef>
                <a:spcPts val="400"/>
              </a:spcBef>
              <a:defRPr sz="1400">
                <a:solidFill>
                  <a:srgbClr val="475569"/>
                </a:solidFill>
                <a:latin typeface="Segoe UI"/>
              </a:defRPr>
            </a:pPr>
            <a:r>
              <a:t>Photosynthesis</a:t>
            </a:r>
          </a:p>
        </p:txBody>
      </p:sp>
      <p:sp>
        <p:nvSpPr>
          <p:cNvPr id="5" name="S005 definition_focus" descr="Photosynthesis. teach C003 in a manageable chunk"/>
          <p:cNvSpPr/>
          <p:nvPr/>
        </p:nvSpPr>
        <p:spPr>
          <a:xfrm>
            <a:off x="731520" y="1920240"/>
            <a:ext cx="10728655" cy="82296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400" b="1">
                <a:solidFill>
                  <a:srgbClr val="FFFFFF"/>
                </a:solidFill>
                <a:latin typeface="Segoe UI"/>
              </a:defRPr>
            </a:pPr>
            <a:r>
              <a:t>Photosynthesis</a:t>
            </a:r>
          </a:p>
        </p:txBody>
      </p:sp>
      <p:sp>
        <p:nvSpPr>
          <p:cNvPr id="6" name="S005 definition_focus" descr="Photosynthesis. teach C003 in a manageable chunk"/>
          <p:cNvSpPr/>
          <p:nvPr/>
        </p:nvSpPr>
        <p:spPr>
          <a:xfrm>
            <a:off x="731520" y="2926080"/>
            <a:ext cx="10728655" cy="292608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05 definition_focus" descr="Photosynthesis. teach C003 in a manageable chunk"/>
          <p:cNvSpPr txBox="1"/>
          <p:nvPr/>
        </p:nvSpPr>
        <p:spPr>
          <a:xfrm>
            <a:off x="1188720" y="3200400"/>
            <a:ext cx="9814255" cy="2468880"/>
          </a:xfrm>
          <a:prstGeom prst="rect">
            <a:avLst/>
          </a:prstGeom>
          <a:noFill/>
        </p:spPr>
        <p:txBody>
          <a:bodyPr wrap="square">
            <a:spAutoFit/>
          </a:bodyPr>
          <a:lstStyle/>
          <a:p>
            <a:pPr>
              <a:defRPr sz="1700" b="0">
                <a:solidFill>
                  <a:srgbClr val="0F172A"/>
                </a:solidFill>
                <a:latin typeface="Segoe UI"/>
              </a:defRPr>
            </a:pPr>
            <a:r>
              <a:t>Definition: Photosynthesis is the anabolic, endergonic biochemical process by which photoautotrophic organisms synthesize high-energy hexose carbohydrates from inorganic carbon dioxide and water, using radiant solar energy captured by photosynthetic pigments…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6 retrieval" descr="Recall: Introduction and Big Picture. retrieve C001, C002, C003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6 retrieval" descr="Recall: Introduction and Big Picture. retrieve C001, C002, C003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06 retrieval" descr="Recall: Introduction and Big Picture. retrieve C001, C002, C003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Introduction and Big Picture</a:t>
            </a:r>
          </a:p>
          <a:p>
            <a:pPr>
              <a:spcBef>
                <a:spcPts val="400"/>
              </a:spcBef>
              <a:defRPr sz="1400">
                <a:solidFill>
                  <a:srgbClr val="475569"/>
                </a:solidFill>
                <a:latin typeface="Segoe UI"/>
              </a:defRPr>
            </a:pPr>
            <a:r>
              <a:t>Introduction and Big Picture</a:t>
            </a:r>
          </a:p>
        </p:txBody>
      </p:sp>
      <p:sp>
        <p:nvSpPr>
          <p:cNvPr id="5" name="S006 retrieval" descr="Recall: Introduction and Big Picture. retrieve C001, C002, C003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06 retrieval" descr="Recall: Introduction and Big Picture. retrieve C001, C002, C003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06 retrieval" descr="Recall: Introduction and Big Picture. retrieve C001, C002, C003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Introduction and Big Picture?</a:t>
            </a:r>
          </a:p>
        </p:txBody>
      </p:sp>
      <p:sp>
        <p:nvSpPr>
          <p:cNvPr id="8" name="S006 retrieval" descr="Recall: Introduction and Big Picture. retrieve C001, C002, C003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7 equation_focus" descr="The Overall Chemical Reaction and Thermodynamic Balance. teach C006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7 equation_focus" descr="The Overall Chemical Reaction and Thermodynamic Balance. teach C006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EQUATION</a:t>
            </a:r>
          </a:p>
        </p:txBody>
      </p:sp>
      <p:sp>
        <p:nvSpPr>
          <p:cNvPr id="4" name="S007 equation_focus" descr="The Overall Chemical Reaction and Thermodynamic Balance. teach C006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The Overall Chemical Reaction and Thermodynamic Balance</a:t>
            </a:r>
          </a:p>
          <a:p>
            <a:pPr>
              <a:spcBef>
                <a:spcPts val="400"/>
              </a:spcBef>
              <a:defRPr sz="1400">
                <a:solidFill>
                  <a:srgbClr val="475569"/>
                </a:solidFill>
                <a:latin typeface="Segoe UI"/>
              </a:defRPr>
            </a:pPr>
            <a:r>
              <a:t>The Overall Chemical Reaction and Thermodynamic Balance</a:t>
            </a:r>
          </a:p>
        </p:txBody>
      </p:sp>
      <p:sp>
        <p:nvSpPr>
          <p:cNvPr id="5" name="S007 equation_focus" descr="The Overall Chemical Reaction and Thermodynamic Balance. teach C006 in a manageable chunk"/>
          <p:cNvSpPr/>
          <p:nvPr/>
        </p:nvSpPr>
        <p:spPr>
          <a:xfrm>
            <a:off x="731520" y="1920240"/>
            <a:ext cx="10728655" cy="1371600"/>
          </a:xfrm>
          <a:prstGeom prst="roundRect">
            <a:avLst/>
          </a:prstGeom>
          <a:solidFill>
            <a:srgbClr val="0F172A"/>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07 equation_focus" descr="The Overall Chemical Reaction and Thermodynamic Balance. teach C006 in a manageable chunk"/>
          <p:cNvSpPr txBox="1"/>
          <p:nvPr/>
        </p:nvSpPr>
        <p:spPr>
          <a:xfrm>
            <a:off x="1097280" y="2148840"/>
            <a:ext cx="9997135" cy="1005840"/>
          </a:xfrm>
          <a:prstGeom prst="rect">
            <a:avLst/>
          </a:prstGeom>
          <a:noFill/>
        </p:spPr>
        <p:txBody>
          <a:bodyPr wrap="square">
            <a:spAutoFit/>
          </a:bodyPr>
          <a:lstStyle/>
          <a:p>
            <a:pPr algn="ctr">
              <a:defRPr sz="2600" b="1">
                <a:solidFill>
                  <a:srgbClr val="FFFFFF"/>
                </a:solidFill>
                <a:latin typeface="Consolas"/>
              </a:defRPr>
            </a:pPr>
            <a:r>
              <a:t>6 CO₂ + 6 H₂O + [light energy] → C₆H₁₂O₆ + 6 O₂</a:t>
            </a:r>
          </a:p>
        </p:txBody>
      </p:sp>
      <p:sp>
        <p:nvSpPr>
          <p:cNvPr id="7" name="S007 equation_focus" descr="The Overall Chemical Reaction and Thermodynamic Balance. teach C006 in a manageable chunk"/>
          <p:cNvSpPr txBox="1"/>
          <p:nvPr/>
        </p:nvSpPr>
        <p:spPr>
          <a:xfrm>
            <a:off x="731520" y="6126480"/>
            <a:ext cx="10728655" cy="457200"/>
          </a:xfrm>
          <a:prstGeom prst="rect">
            <a:avLst/>
          </a:prstGeom>
          <a:noFill/>
        </p:spPr>
        <p:txBody>
          <a:bodyPr wrap="square">
            <a:spAutoFit/>
          </a:bodyPr>
          <a:lstStyle/>
          <a:p>
            <a:pPr>
              <a:defRPr sz="1200" b="0">
                <a:solidFill>
                  <a:srgbClr val="475569"/>
                </a:solidFill>
                <a:latin typeface="Segoe UI"/>
              </a:defRPr>
            </a:pPr>
            <a:r>
              <a:t>6CO₂ + 6H₂O + light energy → C₆H₁₂O₆ + 6O₂</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8 retrieval" descr="Check: The Overall Chemical Reaction and Thermodynamic Balance. Assess: Use the relationship 6CO₂ + 6H₂O + light energy → C₆H₁₂O₆ + 6O₂ to calculate 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8 retrieval" descr="Check: The Overall Chemical Reaction and Thermodynamic Balance. Assess: Use the relationship 6CO₂ + 6H₂O + light energy → C₆H₁₂O₆ + 6O₂ to calculate 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08 retrieval" descr="Check: The Overall Chemical Reaction and Thermodynamic Balance. Assess: Use the relationship 6CO₂ + 6H₂O + light energy → C₆H₁₂O₆ + 6O₂ to calculate 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The Overall Chemical Reaction and Thermodynamic Balance</a:t>
            </a:r>
          </a:p>
          <a:p>
            <a:pPr>
              <a:spcBef>
                <a:spcPts val="400"/>
              </a:spcBef>
              <a:defRPr sz="1400">
                <a:solidFill>
                  <a:srgbClr val="475569"/>
                </a:solidFill>
                <a:latin typeface="Segoe UI"/>
              </a:defRPr>
            </a:pPr>
            <a:r>
              <a:t>Check: The Overall Chemical Reaction and Thermodynamic Balance</a:t>
            </a:r>
          </a:p>
        </p:txBody>
      </p:sp>
      <p:sp>
        <p:nvSpPr>
          <p:cNvPr id="5" name="S008 retrieval" descr="Check: The Overall Chemical Reaction and Thermodynamic Balance. Assess: Use the relationship 6CO₂ + 6H₂O + light energy → C₆H₁₂O₆ + 6O₂ to calculate unk"/>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08 retrieval" descr="Check: The Overall Chemical Reaction and Thermodynamic Balance. Assess: Use the relationship 6CO₂ + 6H₂O + light energy → C₆H₁₂O₆ + 6O₂ to calculate unk"/>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08 retrieval" descr="Check: The Overall Chemical Reaction and Thermodynamic Balance. Assess: Use the relationship 6CO₂ + 6H₂O + light energy → C₆H₁₂O₆ + 6O₂ to calculate unk"/>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Use the relationship 6CO₂ + 6H₂O + light energy → C₆H₁₂O₆ + 6O₂ to calculate unknown quantities.</a:t>
            </a:r>
          </a:p>
        </p:txBody>
      </p:sp>
      <p:sp>
        <p:nvSpPr>
          <p:cNvPr id="8" name="S008 retrieval" descr="Check: The Overall Chemical Reaction and Thermodynamic Balance. Assess: Use the relationship 6CO₂ + 6H₂O + light energy → C₆H₁₂O₆ + 6O₂ to calculate unk"/>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09 retrieval" descr="Answer &amp; Explanation. Reveal locked answer for Q04"/>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09 retrieval" descr="Answer &amp; Explanation. Reveal locked answer for Q04"/>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09 retrieval" descr="Answer &amp; Explanation. Reveal locked answer for Q04"/>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Answer &amp; Explanation</a:t>
            </a:r>
          </a:p>
          <a:p>
            <a:pPr>
              <a:spcBef>
                <a:spcPts val="400"/>
              </a:spcBef>
              <a:defRPr sz="1400">
                <a:solidFill>
                  <a:srgbClr val="475569"/>
                </a:solidFill>
                <a:latin typeface="Segoe UI"/>
              </a:defRPr>
            </a:pPr>
            <a:r>
              <a:t>Answer &amp; Explanation</a:t>
            </a:r>
          </a:p>
        </p:txBody>
      </p:sp>
      <p:sp>
        <p:nvSpPr>
          <p:cNvPr id="5" name="S009 retrieval" descr="Answer &amp; Explanation. Reveal locked answer for Q04"/>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09 retrieval" descr="Answer &amp; Explanation. Reveal locked answer for Q04"/>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09 retrieval" descr="Answer &amp; Explanation. Reveal locked answer for Q04"/>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Use the relationship 6CO₂ + 6H₂O + light energy → C₆H₁₂O₆ + 6O₂ to calculate unknown quantities.</a:t>
            </a:r>
          </a:p>
        </p:txBody>
      </p:sp>
      <p:sp>
        <p:nvSpPr>
          <p:cNvPr id="8" name="S009 retrieval" descr="Answer &amp; Explanation. Reveal locked answer for Q04"/>
          <p:cNvSpPr txBox="1"/>
          <p:nvPr/>
        </p:nvSpPr>
        <p:spPr>
          <a:xfrm>
            <a:off x="731520" y="3840480"/>
            <a:ext cx="10728655" cy="1463040"/>
          </a:xfrm>
          <a:prstGeom prst="rect">
            <a:avLst/>
          </a:prstGeom>
          <a:noFill/>
        </p:spPr>
        <p:txBody>
          <a:bodyPr wrap="square">
            <a:spAutoFit/>
          </a:bodyPr>
          <a:lstStyle/>
          <a:p>
            <a:pPr>
              <a:defRPr sz="1600" b="0">
                <a:solidFill>
                  <a:srgbClr val="0F172A"/>
                </a:solidFill>
                <a:latin typeface="Segoe UI"/>
              </a:defRPr>
            </a:pPr>
            <a:r>
              <a:t>6CO₂ + 6H₂O + light energy → C₆H₁₂O₆ + 6O₂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0 labeled_diagram" descr="CO₂, H₂O, C₆H₁₂O₆. teach C007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0 labeled_diagram" descr="CO₂, H₂O, C₆H₁₂O₆. teach C007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LABELED DIAGRAM</a:t>
            </a:r>
          </a:p>
        </p:txBody>
      </p:sp>
      <p:sp>
        <p:nvSpPr>
          <p:cNvPr id="4" name="S010 labeled_diagram" descr="CO₂, H₂O, C₆H₁₂O₆. teach C007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CO₂, H₂O, C₆H₁₂O₆</a:t>
            </a:r>
          </a:p>
          <a:p>
            <a:pPr>
              <a:spcBef>
                <a:spcPts val="400"/>
              </a:spcBef>
              <a:defRPr sz="1400">
                <a:solidFill>
                  <a:srgbClr val="475569"/>
                </a:solidFill>
                <a:latin typeface="Segoe UI"/>
              </a:defRPr>
            </a:pPr>
            <a:r>
              <a:t>The Overall Chemical Reaction and Thermodynamic Balance</a:t>
            </a:r>
          </a:p>
        </p:txBody>
      </p:sp>
      <p:sp>
        <p:nvSpPr>
          <p:cNvPr id="5" name="S010 labeled_diagram" descr="CO₂, H₂O, C₆H₁₂O₆. teach C007 in a manageable chunk"/>
          <p:cNvSpPr/>
          <p:nvPr/>
        </p:nvSpPr>
        <p:spPr>
          <a:xfrm>
            <a:off x="4937760" y="2377440"/>
            <a:ext cx="2377440" cy="2377440"/>
          </a:xfrm>
          <a:prstGeom prst="roundRect">
            <a:avLst/>
          </a:prstGeom>
          <a:solidFill>
            <a:srgbClr val="E0F2FE"/>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F172A"/>
                </a:solidFill>
                <a:latin typeface="Segoe UI"/>
              </a:defRPr>
            </a:pPr>
            <a:r>
              <a:t>The Overall Chemical Reaction and Thermodynamic Balance</a:t>
            </a:r>
          </a:p>
        </p:txBody>
      </p:sp>
      <p:sp>
        <p:nvSpPr>
          <p:cNvPr id="6" name="S010 labeled_diagram" descr="CO₂, H₂O, C₆H₁₂O₆. teach C007 in a manageable chunk"/>
          <p:cNvSpPr/>
          <p:nvPr/>
        </p:nvSpPr>
        <p:spPr>
          <a:xfrm>
            <a:off x="731520" y="210312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0 labeled_diagram" descr="CO₂, H₂O, C₆H₁₂O₆. teach C007 in a manageable chunk"/>
          <p:cNvSpPr txBox="1"/>
          <p:nvPr/>
        </p:nvSpPr>
        <p:spPr>
          <a:xfrm>
            <a:off x="914400" y="2176272"/>
            <a:ext cx="2743200" cy="1097280"/>
          </a:xfrm>
          <a:prstGeom prst="rect">
            <a:avLst/>
          </a:prstGeom>
          <a:noFill/>
        </p:spPr>
        <p:txBody>
          <a:bodyPr wrap="square">
            <a:spAutoFit/>
          </a:bodyPr>
          <a:lstStyle/>
          <a:p>
            <a:pPr>
              <a:defRPr sz="1300" b="1">
                <a:solidFill>
                  <a:srgbClr val="0284C7"/>
                </a:solidFill>
                <a:latin typeface="Segoe UI"/>
              </a:defRPr>
            </a:pPr>
            <a:r>
              <a:t>CO₂</a:t>
            </a:r>
          </a:p>
          <a:p>
            <a:pPr>
              <a:spcBef>
                <a:spcPts val="400"/>
              </a:spcBef>
              <a:defRPr sz="1200" b="0">
                <a:solidFill>
                  <a:srgbClr val="0F172A"/>
                </a:solidFill>
                <a:latin typeface="Segoe UI"/>
              </a:defRPr>
            </a:pPr>
            <a:r>
              <a:t>atmospheric carbon dioxide, entering via foliar stomatal pores</a:t>
            </a:r>
          </a:p>
        </p:txBody>
      </p:sp>
      <p:cxnSp>
        <p:nvCxnSpPr>
          <p:cNvPr id="8" name="S010 labeled_diagram" descr="CO₂, H₂O, C₆H₁₂O₆. teach C007 in a manageable chunk"/>
          <p:cNvCxnSpPr/>
          <p:nvPr/>
        </p:nvCxnSpPr>
        <p:spPr>
          <a:xfrm>
            <a:off x="3840480" y="2715768"/>
            <a:ext cx="1097280" cy="850392"/>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9" name="S010 labeled_diagram" descr="CO₂, H₂O, C₆H₁₂O₆. teach C007 in a manageable chunk"/>
          <p:cNvSpPr/>
          <p:nvPr/>
        </p:nvSpPr>
        <p:spPr>
          <a:xfrm>
            <a:off x="731520" y="352044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10 labeled_diagram" descr="CO₂, H₂O, C₆H₁₂O₆. teach C007 in a manageable chunk"/>
          <p:cNvSpPr txBox="1"/>
          <p:nvPr/>
        </p:nvSpPr>
        <p:spPr>
          <a:xfrm>
            <a:off x="914400" y="3593592"/>
            <a:ext cx="2743200" cy="1097280"/>
          </a:xfrm>
          <a:prstGeom prst="rect">
            <a:avLst/>
          </a:prstGeom>
          <a:noFill/>
        </p:spPr>
        <p:txBody>
          <a:bodyPr wrap="square">
            <a:spAutoFit/>
          </a:bodyPr>
          <a:lstStyle/>
          <a:p>
            <a:pPr>
              <a:defRPr sz="1300" b="1">
                <a:solidFill>
                  <a:srgbClr val="0284C7"/>
                </a:solidFill>
                <a:latin typeface="Segoe UI"/>
              </a:defRPr>
            </a:pPr>
            <a:r>
              <a:t>C₆H₁₂O₆</a:t>
            </a:r>
          </a:p>
          <a:p>
            <a:pPr>
              <a:spcBef>
                <a:spcPts val="400"/>
              </a:spcBef>
              <a:defRPr sz="1200" b="0">
                <a:solidFill>
                  <a:srgbClr val="0F172A"/>
                </a:solidFill>
                <a:latin typeface="Segoe UI"/>
              </a:defRPr>
            </a:pPr>
            <a:r>
              <a:t>glucose, the primary phosphorylated monosaccharide substrate</a:t>
            </a:r>
          </a:p>
        </p:txBody>
      </p:sp>
      <p:cxnSp>
        <p:nvCxnSpPr>
          <p:cNvPr id="11" name="S010 labeled_diagram" descr="CO₂, H₂O, C₆H₁₂O₆. teach C007 in a manageable chunk"/>
          <p:cNvCxnSpPr/>
          <p:nvPr/>
        </p:nvCxnSpPr>
        <p:spPr>
          <a:xfrm flipV="1">
            <a:off x="3840480" y="3566160"/>
            <a:ext cx="1097280" cy="566928"/>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12" name="S010 labeled_diagram" descr="CO₂, H₂O, C₆H₁₂O₆. teach C007 in a manageable chunk"/>
          <p:cNvSpPr/>
          <p:nvPr/>
        </p:nvSpPr>
        <p:spPr>
          <a:xfrm>
            <a:off x="8351215" y="210312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10 labeled_diagram" descr="CO₂, H₂O, C₆H₁₂O₆. teach C007 in a manageable chunk"/>
          <p:cNvSpPr txBox="1"/>
          <p:nvPr/>
        </p:nvSpPr>
        <p:spPr>
          <a:xfrm>
            <a:off x="8534095" y="2176272"/>
            <a:ext cx="2743200" cy="1097280"/>
          </a:xfrm>
          <a:prstGeom prst="rect">
            <a:avLst/>
          </a:prstGeom>
          <a:noFill/>
        </p:spPr>
        <p:txBody>
          <a:bodyPr wrap="square">
            <a:spAutoFit/>
          </a:bodyPr>
          <a:lstStyle/>
          <a:p>
            <a:pPr>
              <a:defRPr sz="1300" b="1">
                <a:solidFill>
                  <a:srgbClr val="0284C7"/>
                </a:solidFill>
                <a:latin typeface="Segoe UI"/>
              </a:defRPr>
            </a:pPr>
            <a:r>
              <a:t>H₂O</a:t>
            </a:r>
          </a:p>
          <a:p>
            <a:pPr>
              <a:spcBef>
                <a:spcPts val="400"/>
              </a:spcBef>
              <a:defRPr sz="1200" b="0">
                <a:solidFill>
                  <a:srgbClr val="0F172A"/>
                </a:solidFill>
                <a:latin typeface="Segoe UI"/>
              </a:defRPr>
            </a:pPr>
            <a:r>
              <a:t>water absorbed from the rhizosphere through root xylem tissue</a:t>
            </a:r>
          </a:p>
        </p:txBody>
      </p:sp>
      <p:cxnSp>
        <p:nvCxnSpPr>
          <p:cNvPr id="14" name="S010 labeled_diagram" descr="CO₂, H₂O, C₆H₁₂O₆. teach C007 in a manageable chunk"/>
          <p:cNvCxnSpPr/>
          <p:nvPr/>
        </p:nvCxnSpPr>
        <p:spPr>
          <a:xfrm flipH="1">
            <a:off x="7315200" y="2715768"/>
            <a:ext cx="1036015" cy="850392"/>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15" name="S010 labeled_diagram" descr="CO₂, H₂O, C₆H₁₂O₆. teach C007 in a manageable chunk"/>
          <p:cNvSpPr/>
          <p:nvPr/>
        </p:nvSpPr>
        <p:spPr>
          <a:xfrm>
            <a:off x="8351215" y="352044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010 labeled_diagram" descr="CO₂, H₂O, C₆H₁₂O₆. teach C007 in a manageable chunk"/>
          <p:cNvSpPr txBox="1"/>
          <p:nvPr/>
        </p:nvSpPr>
        <p:spPr>
          <a:xfrm>
            <a:off x="8534095" y="3593592"/>
            <a:ext cx="2743200" cy="1097280"/>
          </a:xfrm>
          <a:prstGeom prst="rect">
            <a:avLst/>
          </a:prstGeom>
          <a:noFill/>
        </p:spPr>
        <p:txBody>
          <a:bodyPr wrap="square">
            <a:spAutoFit/>
          </a:bodyPr>
          <a:lstStyle/>
          <a:p>
            <a:pPr>
              <a:defRPr sz="1300" b="1">
                <a:solidFill>
                  <a:srgbClr val="0284C7"/>
                </a:solidFill>
                <a:latin typeface="Segoe UI"/>
              </a:defRPr>
            </a:pPr>
            <a:r>
              <a:t>O₂</a:t>
            </a:r>
          </a:p>
          <a:p>
            <a:pPr>
              <a:spcBef>
                <a:spcPts val="400"/>
              </a:spcBef>
              <a:defRPr sz="1200" b="0">
                <a:solidFill>
                  <a:srgbClr val="0F172A"/>
                </a:solidFill>
                <a:latin typeface="Segoe UI"/>
              </a:defRPr>
            </a:pPr>
            <a:r>
              <a:t>molecular diatomic oxygen, released as a gaseous byproduct</a:t>
            </a:r>
          </a:p>
        </p:txBody>
      </p:sp>
      <p:cxnSp>
        <p:nvCxnSpPr>
          <p:cNvPr id="17" name="S010 labeled_diagram" descr="CO₂, H₂O, C₆H₁₂O₆. teach C007 in a manageable chunk"/>
          <p:cNvCxnSpPr/>
          <p:nvPr/>
        </p:nvCxnSpPr>
        <p:spPr>
          <a:xfrm flipH="1" flipV="1">
            <a:off x="7315200" y="3566160"/>
            <a:ext cx="1036015" cy="566928"/>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par>
                    <p:cTn id="6" fill="hold">
                      <p:stCondLst>
                        <p:cond delay="0"/>
                      </p:stCondLst>
                      <p:childTnLst>
                        <p:par>
                          <p:cTn id="7" fill="hold">
                            <p:stCondLst>
                              <p:cond delay="0"/>
                            </p:stCondLst>
                            <p:childTnLst>
                              <p:animEffect transition="in" filter="fade">
                                <p:cBhvr>
                                  <p:cTn id="8" dur="400"/>
                                  <p:tgtEl>
                                    <p:spTgt spid="6"/>
                                  </p:tgtEl>
                                </p:cBhvr>
                              </p:animEffect>
                            </p:childTnLst>
                          </p:cTn>
                        </p:par>
                      </p:childTnLst>
                    </p:cTn>
                  </p:par>
                  <p:par>
                    <p:cTn id="9" fill="hold">
                      <p:stCondLst>
                        <p:cond delay="0"/>
                      </p:stCondLst>
                      <p:childTnLst>
                        <p:par>
                          <p:cTn id="10" fill="hold">
                            <p:stCondLst>
                              <p:cond delay="0"/>
                            </p:stCondLst>
                            <p:childTnLst>
                              <p:animEffect transition="in" filter="fade">
                                <p:cBhvr>
                                  <p:cTn id="11" dur="400"/>
                                  <p:tgtEl>
                                    <p:spTgt spid="9"/>
                                  </p:tgtEl>
                                </p:cBhvr>
                              </p:animEffect>
                            </p:childTnLst>
                          </p:cTn>
                        </p:par>
                      </p:childTnLst>
                    </p:cTn>
                  </p:par>
                  <p:par>
                    <p:cTn id="12" fill="hold">
                      <p:stCondLst>
                        <p:cond delay="0"/>
                      </p:stCondLst>
                      <p:childTnLst>
                        <p:par>
                          <p:cTn id="13" fill="hold">
                            <p:stCondLst>
                              <p:cond delay="0"/>
                            </p:stCondLst>
                            <p:childTnLst>
                              <p:animEffect transition="in" filter="fade">
                                <p:cBhvr>
                                  <p:cTn id="14" dur="400"/>
                                  <p:tgtEl>
                                    <p:spTgt spid="12"/>
                                  </p:tgtEl>
                                </p:cBhvr>
                              </p:animEffect>
                            </p:childTnLst>
                          </p:cTn>
                        </p:par>
                      </p:childTnLst>
                    </p:cTn>
                  </p:par>
                  <p:par>
                    <p:cTn id="15" fill="hold">
                      <p:stCondLst>
                        <p:cond delay="0"/>
                      </p:stCondLst>
                      <p:childTnLst>
                        <p:par>
                          <p:cTn id="16" fill="hold">
                            <p:stCondLst>
                              <p:cond delay="0"/>
                            </p:stCondLst>
                            <p:childTnLst>
                              <p:animEffect transition="in" filter="fade">
                                <p:cBhvr>
                                  <p:cTn id="17" dur="400"/>
                                  <p:tgtEl>
                                    <p:spTgt spid="1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P spid="6" grpId="0" build="asOne"/>
      <p:bldP spid="9" grpId="0" build="asOne"/>
      <p:bldP spid="12" grpId="0" build="asOne"/>
      <p:bldP spid="15" grpId="0" build="asOne"/>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1 labeled_diagram" descr="Subcellular Architecture: The Chloroplast. teach C009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1 labeled_diagram" descr="Subcellular Architecture: The Chloroplast. teach C009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LABELED DIAGRAM</a:t>
            </a:r>
          </a:p>
        </p:txBody>
      </p:sp>
      <p:sp>
        <p:nvSpPr>
          <p:cNvPr id="4" name="S011 labeled_diagram" descr="Subcellular Architecture: The Chloroplast. teach C009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Subcellular Architecture: The Chloroplast</a:t>
            </a:r>
          </a:p>
          <a:p>
            <a:pPr>
              <a:spcBef>
                <a:spcPts val="400"/>
              </a:spcBef>
              <a:defRPr sz="1400">
                <a:solidFill>
                  <a:srgbClr val="475569"/>
                </a:solidFill>
                <a:latin typeface="Segoe UI"/>
              </a:defRPr>
            </a:pPr>
            <a:r>
              <a:t>Subcellular Architecture: The Chloroplast</a:t>
            </a:r>
          </a:p>
        </p:txBody>
      </p:sp>
      <p:sp>
        <p:nvSpPr>
          <p:cNvPr id="5" name="S011 labeled_diagram" descr="Subcellular Architecture: The Chloroplast. teach C009 in a manageable chunk"/>
          <p:cNvSpPr/>
          <p:nvPr/>
        </p:nvSpPr>
        <p:spPr>
          <a:xfrm>
            <a:off x="4937760" y="2377440"/>
            <a:ext cx="2377440" cy="2377440"/>
          </a:xfrm>
          <a:prstGeom prst="roundRect">
            <a:avLst/>
          </a:prstGeom>
          <a:solidFill>
            <a:srgbClr val="E0F2FE"/>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F172A"/>
                </a:solidFill>
                <a:latin typeface="Segoe UI"/>
              </a:defRPr>
            </a:pPr>
            <a:r>
              <a:t>Subcellular Architecture: The Chloroplast</a:t>
            </a:r>
          </a:p>
        </p:txBody>
      </p:sp>
      <p:sp>
        <p:nvSpPr>
          <p:cNvPr id="6" name="S011 labeled_diagram" descr="Subcellular Architecture: The Chloroplast. teach C009 in a manageable chunk"/>
          <p:cNvSpPr/>
          <p:nvPr/>
        </p:nvSpPr>
        <p:spPr>
          <a:xfrm>
            <a:off x="731520" y="210312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1 labeled_diagram" descr="Subcellular Architecture: The Chloroplast. teach C009 in a manageable chunk"/>
          <p:cNvSpPr txBox="1"/>
          <p:nvPr/>
        </p:nvSpPr>
        <p:spPr>
          <a:xfrm>
            <a:off x="914400" y="2176272"/>
            <a:ext cx="2743200" cy="1097280"/>
          </a:xfrm>
          <a:prstGeom prst="rect">
            <a:avLst/>
          </a:prstGeom>
          <a:noFill/>
        </p:spPr>
        <p:txBody>
          <a:bodyPr wrap="square">
            <a:spAutoFit/>
          </a:bodyPr>
          <a:lstStyle/>
          <a:p>
            <a:pPr>
              <a:defRPr sz="1300" b="1">
                <a:solidFill>
                  <a:srgbClr val="0284C7"/>
                </a:solidFill>
                <a:latin typeface="Segoe UI"/>
              </a:defRPr>
            </a:pPr>
            <a:r>
              <a:t>Thylakoid Membrane System</a:t>
            </a:r>
          </a:p>
          <a:p>
            <a:pPr>
              <a:spcBef>
                <a:spcPts val="400"/>
              </a:spcBef>
              <a:defRPr sz="1200" b="0">
                <a:solidFill>
                  <a:srgbClr val="0F172A"/>
                </a:solidFill>
                <a:latin typeface="Segoe UI"/>
              </a:defRPr>
            </a:pPr>
            <a:r>
              <a:t>Site of the light-dependent reactions</a:t>
            </a:r>
          </a:p>
        </p:txBody>
      </p:sp>
      <p:cxnSp>
        <p:nvCxnSpPr>
          <p:cNvPr id="8" name="S011 labeled_diagram" descr="Subcellular Architecture: The Chloroplast. teach C009 in a manageable chunk"/>
          <p:cNvCxnSpPr/>
          <p:nvPr/>
        </p:nvCxnSpPr>
        <p:spPr>
          <a:xfrm>
            <a:off x="3840480" y="2715768"/>
            <a:ext cx="1097280" cy="850392"/>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9" name="S011 labeled_diagram" descr="Subcellular Architecture: The Chloroplast. teach C009 in a manageable chunk"/>
          <p:cNvSpPr/>
          <p:nvPr/>
        </p:nvSpPr>
        <p:spPr>
          <a:xfrm>
            <a:off x="731520" y="352044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11 labeled_diagram" descr="Subcellular Architecture: The Chloroplast. teach C009 in a manageable chunk"/>
          <p:cNvSpPr txBox="1"/>
          <p:nvPr/>
        </p:nvSpPr>
        <p:spPr>
          <a:xfrm>
            <a:off x="914400" y="3593592"/>
            <a:ext cx="2743200" cy="1097280"/>
          </a:xfrm>
          <a:prstGeom prst="rect">
            <a:avLst/>
          </a:prstGeom>
          <a:noFill/>
        </p:spPr>
        <p:txBody>
          <a:bodyPr wrap="square">
            <a:spAutoFit/>
          </a:bodyPr>
          <a:lstStyle/>
          <a:p>
            <a:pPr>
              <a:defRPr sz="1300" b="1">
                <a:solidFill>
                  <a:srgbClr val="0284C7"/>
                </a:solidFill>
                <a:latin typeface="Segoe UI"/>
              </a:defRPr>
            </a:pPr>
            <a:r>
              <a:t>Thylakoid Lumen</a:t>
            </a:r>
          </a:p>
          <a:p>
            <a:pPr>
              <a:spcBef>
                <a:spcPts val="400"/>
              </a:spcBef>
              <a:defRPr sz="1200" b="0">
                <a:solidFill>
                  <a:srgbClr val="0F172A"/>
                </a:solidFill>
                <a:latin typeface="Segoe UI"/>
              </a:defRPr>
            </a:pPr>
            <a:r>
              <a:t>The acidified interior compartment across which a transmembrane proton motive force (ΔμH^₊) is established.</a:t>
            </a:r>
          </a:p>
        </p:txBody>
      </p:sp>
      <p:cxnSp>
        <p:nvCxnSpPr>
          <p:cNvPr id="11" name="S011 labeled_diagram" descr="Subcellular Architecture: The Chloroplast. teach C009 in a manageable chunk"/>
          <p:cNvCxnSpPr/>
          <p:nvPr/>
        </p:nvCxnSpPr>
        <p:spPr>
          <a:xfrm flipV="1">
            <a:off x="3840480" y="3566160"/>
            <a:ext cx="1097280" cy="566928"/>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12" name="S011 labeled_diagram" descr="Subcellular Architecture: The Chloroplast. teach C009 in a manageable chunk"/>
          <p:cNvSpPr/>
          <p:nvPr/>
        </p:nvSpPr>
        <p:spPr>
          <a:xfrm>
            <a:off x="8351215" y="2103120"/>
            <a:ext cx="3108960" cy="1234440"/>
          </a:xfrm>
          <a:prstGeom prst="roundRect">
            <a:avLst/>
          </a:prstGeom>
          <a:solidFill>
            <a:srgbClr val="FFFFFF"/>
          </a:solidFill>
          <a:ln w="1905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11 labeled_diagram" descr="Subcellular Architecture: The Chloroplast. teach C009 in a manageable chunk"/>
          <p:cNvSpPr txBox="1"/>
          <p:nvPr/>
        </p:nvSpPr>
        <p:spPr>
          <a:xfrm>
            <a:off x="8534095" y="2176272"/>
            <a:ext cx="2743200" cy="1097280"/>
          </a:xfrm>
          <a:prstGeom prst="rect">
            <a:avLst/>
          </a:prstGeom>
          <a:noFill/>
        </p:spPr>
        <p:txBody>
          <a:bodyPr wrap="square">
            <a:spAutoFit/>
          </a:bodyPr>
          <a:lstStyle/>
          <a:p>
            <a:pPr>
              <a:defRPr sz="1300" b="1">
                <a:solidFill>
                  <a:srgbClr val="0284C7"/>
                </a:solidFill>
                <a:latin typeface="Segoe UI"/>
              </a:defRPr>
            </a:pPr>
            <a:r>
              <a:t>Stroma</a:t>
            </a:r>
          </a:p>
          <a:p>
            <a:pPr>
              <a:spcBef>
                <a:spcPts val="400"/>
              </a:spcBef>
              <a:defRPr sz="1200" b="0">
                <a:solidFill>
                  <a:srgbClr val="0F172A"/>
                </a:solidFill>
                <a:latin typeface="Segoe UI"/>
              </a:defRPr>
            </a:pPr>
            <a:r>
              <a:t>The semi-fluid matrix surrounding thylakoids</a:t>
            </a:r>
          </a:p>
        </p:txBody>
      </p:sp>
      <p:cxnSp>
        <p:nvCxnSpPr>
          <p:cNvPr id="14" name="S011 labeled_diagram" descr="Subcellular Architecture: The Chloroplast. teach C009 in a manageable chunk"/>
          <p:cNvCxnSpPr/>
          <p:nvPr/>
        </p:nvCxnSpPr>
        <p:spPr>
          <a:xfrm flipH="1">
            <a:off x="7315200" y="2715768"/>
            <a:ext cx="1036015" cy="850392"/>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par>
                    <p:cTn id="6" fill="hold">
                      <p:stCondLst>
                        <p:cond delay="0"/>
                      </p:stCondLst>
                      <p:childTnLst>
                        <p:par>
                          <p:cTn id="7" fill="hold">
                            <p:stCondLst>
                              <p:cond delay="0"/>
                            </p:stCondLst>
                            <p:childTnLst>
                              <p:animEffect transition="in" filter="fade">
                                <p:cBhvr>
                                  <p:cTn id="8" dur="400"/>
                                  <p:tgtEl>
                                    <p:spTgt spid="6"/>
                                  </p:tgtEl>
                                </p:cBhvr>
                              </p:animEffect>
                            </p:childTnLst>
                          </p:cTn>
                        </p:par>
                      </p:childTnLst>
                    </p:cTn>
                  </p:par>
                  <p:par>
                    <p:cTn id="9" fill="hold">
                      <p:stCondLst>
                        <p:cond delay="0"/>
                      </p:stCondLst>
                      <p:childTnLst>
                        <p:par>
                          <p:cTn id="10" fill="hold">
                            <p:stCondLst>
                              <p:cond delay="0"/>
                            </p:stCondLst>
                            <p:childTnLst>
                              <p:animEffect transition="in" filter="fade">
                                <p:cBhvr>
                                  <p:cTn id="11" dur="400"/>
                                  <p:tgtEl>
                                    <p:spTgt spid="9"/>
                                  </p:tgtEl>
                                </p:cBhvr>
                              </p:animEffect>
                            </p:childTnLst>
                          </p:cTn>
                        </p:par>
                      </p:childTnLst>
                    </p:cTn>
                  </p:par>
                  <p:par>
                    <p:cTn id="12" fill="hold">
                      <p:stCondLst>
                        <p:cond delay="0"/>
                      </p:stCondLst>
                      <p:childTnLst>
                        <p:par>
                          <p:cTn id="13" fill="hold">
                            <p:stCondLst>
                              <p:cond delay="0"/>
                            </p:stCondLst>
                            <p:childTnLst>
                              <p:animEffect transition="in" filter="fade">
                                <p:cBhvr>
                                  <p:cTn id="14" dur="4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P spid="6" grpId="0" build="asOne"/>
      <p:bldP spid="9" grpId="0" build="asOne"/>
      <p:bldP spid="12" grpId="0" build="asOne"/>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2 retrieval" descr="Recall: The Overall Chemical Reaction and Thermodynamic Balance. retrieve C007, C008, C009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2 retrieval" descr="Recall: The Overall Chemical Reaction and Thermodynamic Balance. retrieve C007, C008, C009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12 retrieval" descr="Recall: The Overall Chemical Reaction and Thermodynamic Balance. retrieve C007, C008, C009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The Overall Chemical Reaction and Thermodynamic Balance</a:t>
            </a:r>
          </a:p>
          <a:p>
            <a:pPr>
              <a:spcBef>
                <a:spcPts val="400"/>
              </a:spcBef>
              <a:defRPr sz="1400">
                <a:solidFill>
                  <a:srgbClr val="475569"/>
                </a:solidFill>
                <a:latin typeface="Segoe UI"/>
              </a:defRPr>
            </a:pPr>
            <a:r>
              <a:t>The Overall Chemical Reaction and Thermodynamic Balance</a:t>
            </a:r>
          </a:p>
        </p:txBody>
      </p:sp>
      <p:sp>
        <p:nvSpPr>
          <p:cNvPr id="5" name="S012 retrieval" descr="Recall: The Overall Chemical Reaction and Thermodynamic Balance. retrieve C007, C008, C009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2 retrieval" descr="Recall: The Overall Chemical Reaction and Thermodynamic Balance. retrieve C007, C008, C009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2 retrieval" descr="Recall: The Overall Chemical Reaction and Thermodynamic Balance. retrieve C007, C008, C009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The Overall Chemical Reaction and Thermodynamic Balance?</a:t>
            </a:r>
          </a:p>
        </p:txBody>
      </p:sp>
      <p:sp>
        <p:nvSpPr>
          <p:cNvPr id="8" name="S012 retrieval" descr="Recall: The Overall Chemical Reaction and Thermodynamic Balance. retrieve C007, C008, C009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3 worked_calculation" descr="Worked Example. teach C011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3 worked_calculation" descr="Worked Example. teach C011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WORKED CALCULATION</a:t>
            </a:r>
          </a:p>
        </p:txBody>
      </p:sp>
      <p:sp>
        <p:nvSpPr>
          <p:cNvPr id="4" name="S013 worked_calculation" descr="Worked Example. teach C011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Worked Example</a:t>
            </a:r>
          </a:p>
          <a:p>
            <a:pPr>
              <a:spcBef>
                <a:spcPts val="400"/>
              </a:spcBef>
              <a:defRPr sz="1400">
                <a:solidFill>
                  <a:srgbClr val="475569"/>
                </a:solidFill>
                <a:latin typeface="Segoe UI"/>
              </a:defRPr>
            </a:pPr>
            <a:r>
              <a:t>Worked Calculation: Photochemical Quantum Yield and Efficiency</a:t>
            </a:r>
          </a:p>
        </p:txBody>
      </p:sp>
      <p:sp>
        <p:nvSpPr>
          <p:cNvPr id="5" name="S013 worked_calculation" descr="Worked Example. teach C011 in a manageable chunk"/>
          <p:cNvSpPr/>
          <p:nvPr/>
        </p:nvSpPr>
        <p:spPr>
          <a:xfrm>
            <a:off x="731520" y="1828800"/>
            <a:ext cx="146304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GIVENS</a:t>
            </a:r>
          </a:p>
        </p:txBody>
      </p:sp>
      <p:sp>
        <p:nvSpPr>
          <p:cNvPr id="6" name="S013 worked_calculation" descr="Worked Example. teach C011 in a manageable chunk"/>
          <p:cNvSpPr txBox="1"/>
          <p:nvPr/>
        </p:nvSpPr>
        <p:spPr>
          <a:xfrm>
            <a:off x="2377440" y="1792224"/>
            <a:ext cx="9082735" cy="411480"/>
          </a:xfrm>
          <a:prstGeom prst="rect">
            <a:avLst/>
          </a:prstGeom>
          <a:noFill/>
        </p:spPr>
        <p:txBody>
          <a:bodyPr wrap="square">
            <a:spAutoFit/>
          </a:bodyPr>
          <a:lstStyle/>
          <a:p>
            <a:pPr>
              <a:defRPr sz="1300" b="0">
                <a:solidFill>
                  <a:srgbClr val="475569"/>
                </a:solidFill>
                <a:latin typeface="Segoe UI"/>
              </a:defRPr>
            </a:pPr>
            <a:r>
              <a:t>chromatic red light at a wavelength of λ = 680 nm</a:t>
            </a:r>
          </a:p>
        </p:txBody>
      </p:sp>
      <p:sp>
        <p:nvSpPr>
          <p:cNvPr id="7" name="S013 worked_calculation" descr="Worked Example. teach C011 in a manageable chunk"/>
          <p:cNvSpPr txBox="1"/>
          <p:nvPr/>
        </p:nvSpPr>
        <p:spPr>
          <a:xfrm>
            <a:off x="731520" y="2286000"/>
            <a:ext cx="10728655" cy="822960"/>
          </a:xfrm>
          <a:prstGeom prst="rect">
            <a:avLst/>
          </a:prstGeom>
          <a:noFill/>
        </p:spPr>
        <p:txBody>
          <a:bodyPr wrap="square">
            <a:spAutoFit/>
          </a:bodyPr>
          <a:lstStyle/>
          <a:p>
            <a:pPr>
              <a:defRPr sz="1500" b="1">
                <a:solidFill>
                  <a:srgbClr val="0F172A"/>
                </a:solidFill>
                <a:latin typeface="Segoe UI"/>
              </a:defRPr>
            </a:pPr>
            <a:r>
              <a:t>A researcher illuminates a suspension of Chlorella vulgaris with monochromatic red light at a wavelength of λ = 680 nm. The molar photon flux absorbed is 8.0 mol of photons. Determine the theoretical moles of glucose produced if the experimental quantum requirement is 8 photons per molecule of O₂ evolved.</a:t>
            </a:r>
          </a:p>
        </p:txBody>
      </p:sp>
      <p:sp>
        <p:nvSpPr>
          <p:cNvPr id="8" name="S013 worked_calculation" descr="Worked Example. teach C011 in a manageable chunk"/>
          <p:cNvSpPr/>
          <p:nvPr/>
        </p:nvSpPr>
        <p:spPr>
          <a:xfrm>
            <a:off x="731520" y="3154680"/>
            <a:ext cx="3393338"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13 worked_calculation" descr="Worked Example. teach C011 in a manageable chunk"/>
          <p:cNvSpPr txBox="1"/>
          <p:nvPr/>
        </p:nvSpPr>
        <p:spPr>
          <a:xfrm>
            <a:off x="914400" y="3291840"/>
            <a:ext cx="3027578" cy="2011680"/>
          </a:xfrm>
          <a:prstGeom prst="rect">
            <a:avLst/>
          </a:prstGeom>
          <a:noFill/>
        </p:spPr>
        <p:txBody>
          <a:bodyPr wrap="square">
            <a:spAutoFit/>
          </a:bodyPr>
          <a:lstStyle/>
          <a:p>
            <a:pPr>
              <a:defRPr sz="1200" b="1">
                <a:solidFill>
                  <a:srgbClr val="0284C7"/>
                </a:solidFill>
                <a:latin typeface="Segoe UI"/>
              </a:defRPr>
            </a:pPr>
            <a:r>
              <a:t>STEP 1</a:t>
            </a:r>
          </a:p>
          <a:p>
            <a:pPr>
              <a:spcBef>
                <a:spcPts val="600"/>
              </a:spcBef>
              <a:defRPr sz="1300" b="0">
                <a:solidFill>
                  <a:srgbClr val="0F172A"/>
                </a:solidFill>
                <a:latin typeface="Segoe UI"/>
              </a:defRPr>
            </a:pPr>
            <a:r>
              <a:t>Step 1: Determine the ratio of oxygen evolution to photon absorption: Moles of O₂ = 8.0 mol photons/8 photons/molecule = 1.0 mol O₂</a:t>
            </a:r>
          </a:p>
        </p:txBody>
      </p:sp>
      <p:sp>
        <p:nvSpPr>
          <p:cNvPr id="10" name="S013 worked_calculation" descr="Worked Example. teach C011 in a manageable chunk"/>
          <p:cNvSpPr/>
          <p:nvPr/>
        </p:nvSpPr>
        <p:spPr>
          <a:xfrm>
            <a:off x="4399178" y="3154680"/>
            <a:ext cx="3393338"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013 worked_calculation" descr="Worked Example. teach C011 in a manageable chunk"/>
          <p:cNvSpPr txBox="1"/>
          <p:nvPr/>
        </p:nvSpPr>
        <p:spPr>
          <a:xfrm>
            <a:off x="4582058" y="3291840"/>
            <a:ext cx="3027578" cy="2011680"/>
          </a:xfrm>
          <a:prstGeom prst="rect">
            <a:avLst/>
          </a:prstGeom>
          <a:noFill/>
        </p:spPr>
        <p:txBody>
          <a:bodyPr wrap="square">
            <a:spAutoFit/>
          </a:bodyPr>
          <a:lstStyle/>
          <a:p>
            <a:pPr>
              <a:defRPr sz="1200" b="1">
                <a:solidFill>
                  <a:srgbClr val="0284C7"/>
                </a:solidFill>
                <a:latin typeface="Segoe UI"/>
              </a:defRPr>
            </a:pPr>
            <a:r>
              <a:t>STEP 2</a:t>
            </a:r>
          </a:p>
          <a:p>
            <a:pPr>
              <a:spcBef>
                <a:spcPts val="600"/>
              </a:spcBef>
              <a:defRPr sz="1300" b="0">
                <a:solidFill>
                  <a:srgbClr val="0F172A"/>
                </a:solidFill>
                <a:latin typeface="Segoe UI"/>
              </a:defRPr>
            </a:pPr>
            <a:r>
              <a:t>Step 2: Relate oxygen evolution to glucose synthesis using the stoichiometric equation: 6 mol O₂ evolved corresponds to 1 mol C₆H₁₂O₆ synthesized.</a:t>
            </a:r>
          </a:p>
        </p:txBody>
      </p:sp>
      <p:sp>
        <p:nvSpPr>
          <p:cNvPr id="12" name="S013 worked_calculation" descr="Worked Example. teach C011 in a manageable chunk"/>
          <p:cNvSpPr/>
          <p:nvPr/>
        </p:nvSpPr>
        <p:spPr>
          <a:xfrm>
            <a:off x="8066836" y="3154680"/>
            <a:ext cx="3393338" cy="228600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13 worked_calculation" descr="Worked Example. teach C011 in a manageable chunk"/>
          <p:cNvSpPr txBox="1"/>
          <p:nvPr/>
        </p:nvSpPr>
        <p:spPr>
          <a:xfrm>
            <a:off x="8249716" y="3291840"/>
            <a:ext cx="3027578" cy="2011680"/>
          </a:xfrm>
          <a:prstGeom prst="rect">
            <a:avLst/>
          </a:prstGeom>
          <a:noFill/>
        </p:spPr>
        <p:txBody>
          <a:bodyPr wrap="square">
            <a:spAutoFit/>
          </a:bodyPr>
          <a:lstStyle/>
          <a:p>
            <a:pPr>
              <a:defRPr sz="1200" b="1">
                <a:solidFill>
                  <a:srgbClr val="0284C7"/>
                </a:solidFill>
                <a:latin typeface="Segoe UI"/>
              </a:defRPr>
            </a:pPr>
            <a:r>
              <a:t>STEP 3</a:t>
            </a:r>
          </a:p>
          <a:p>
            <a:pPr>
              <a:spcBef>
                <a:spcPts val="600"/>
              </a:spcBef>
              <a:defRPr sz="1300" b="0">
                <a:solidFill>
                  <a:srgbClr val="0F172A"/>
                </a:solidFill>
                <a:latin typeface="Segoe UI"/>
              </a:defRPr>
            </a:pPr>
            <a:r>
              <a:t>Step 3: Compute the theoretical glucose yield: Moles of Glucose = 1.0 mol O₂/6 ≈ 0.167 mol of Glucose (approx. 30.0 grams).</a:t>
            </a:r>
          </a:p>
        </p:txBody>
      </p:sp>
      <p:sp>
        <p:nvSpPr>
          <p:cNvPr id="14" name="S013 worked_calculation" descr="Worked Example. teach C011 in a manageable chunk"/>
          <p:cNvSpPr txBox="1"/>
          <p:nvPr/>
        </p:nvSpPr>
        <p:spPr>
          <a:xfrm>
            <a:off x="731520" y="5989320"/>
            <a:ext cx="10728655" cy="457200"/>
          </a:xfrm>
          <a:prstGeom prst="rect">
            <a:avLst/>
          </a:prstGeom>
          <a:noFill/>
        </p:spPr>
        <p:txBody>
          <a:bodyPr wrap="square">
            <a:spAutoFit/>
          </a:bodyPr>
          <a:lstStyle/>
          <a:p>
            <a:pPr>
              <a:defRPr sz="1200" b="1">
                <a:solidFill>
                  <a:srgbClr val="10B981"/>
                </a:solidFill>
                <a:latin typeface="Segoe UI"/>
              </a:defRPr>
            </a:pPr>
            <a:r>
              <a:t>✔ Verify: check units, boundary conditions, and result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8"/>
                                  </p:tgtEl>
                                </p:cBhvr>
                              </p:animEffect>
                            </p:childTnLst>
                          </p:cTn>
                        </p:par>
                      </p:childTnLst>
                    </p:cTn>
                  </p:par>
                  <p:par>
                    <p:cTn id="6" fill="hold">
                      <p:stCondLst>
                        <p:cond delay="0"/>
                      </p:stCondLst>
                      <p:childTnLst>
                        <p:par>
                          <p:cTn id="7" fill="hold">
                            <p:stCondLst>
                              <p:cond delay="0"/>
                            </p:stCondLst>
                            <p:childTnLst>
                              <p:animEffect transition="in" filter="fade">
                                <p:cBhvr>
                                  <p:cTn id="8" dur="400"/>
                                  <p:tgtEl>
                                    <p:spTgt spid="10"/>
                                  </p:tgtEl>
                                </p:cBhvr>
                              </p:animEffect>
                            </p:childTnLst>
                          </p:cTn>
                        </p:par>
                      </p:childTnLst>
                    </p:cTn>
                  </p:par>
                  <p:par>
                    <p:cTn id="9" fill="hold">
                      <p:stCondLst>
                        <p:cond delay="0"/>
                      </p:stCondLst>
                      <p:childTnLst>
                        <p:par>
                          <p:cTn id="10" fill="hold">
                            <p:stCondLst>
                              <p:cond delay="0"/>
                            </p:stCondLst>
                            <p:childTnLst>
                              <p:animEffect transition="in" filter="fade">
                                <p:cBhvr>
                                  <p:cTn id="11" dur="40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asOne"/>
      <p:bldP spid="10" grpId="0" build="asOne"/>
      <p:bldP spid="12" grpId="0" build="asOne"/>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4 retrieval" descr="Check: Worked Calculation: Photochemical Quantum Yield and Efficiency. Assess: Determine the theoretical moles of glucose produced if the experimental quantum"/>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4 retrieval" descr="Check: Worked Calculation: Photochemical Quantum Yield and Efficiency. Assess: Determine the theoretical moles of glucose produced if the experimental quantum"/>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14 retrieval" descr="Check: Worked Calculation: Photochemical Quantum Yield and Efficiency. Assess: Determine the theoretical moles of glucose produced if the experimental quantum"/>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Worked Calculation: Photochemical Quantum Yield and Efficiency</a:t>
            </a:r>
          </a:p>
          <a:p>
            <a:pPr>
              <a:spcBef>
                <a:spcPts val="400"/>
              </a:spcBef>
              <a:defRPr sz="1400">
                <a:solidFill>
                  <a:srgbClr val="475569"/>
                </a:solidFill>
                <a:latin typeface="Segoe UI"/>
              </a:defRPr>
            </a:pPr>
            <a:r>
              <a:t>Check: Worked Calculation: Photochemical Quantum Yield and Efficiency</a:t>
            </a:r>
          </a:p>
        </p:txBody>
      </p:sp>
      <p:sp>
        <p:nvSpPr>
          <p:cNvPr id="5" name="S014 retrieval" descr="Check: Worked Calculation: Photochemical Quantum Yield and Efficiency. Assess: Determine the theoretical moles of glucose produced if the experimental quantum"/>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4 retrieval" descr="Check: Worked Calculation: Photochemical Quantum Yield and Efficiency. Assess: Determine the theoretical moles of glucose produced if the experimental quantum"/>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4 retrieval" descr="Check: Worked Calculation: Photochemical Quantum Yield and Efficiency. Assess: Determine the theoretical moles of glucose produced if the experimental quantum"/>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Determine the theoretical moles of glucose produced if the experimental quantum requirement is 8 photons per molecule of O₂ evolved.</a:t>
            </a:r>
          </a:p>
        </p:txBody>
      </p:sp>
      <p:sp>
        <p:nvSpPr>
          <p:cNvPr id="8" name="S014 retrieval" descr="Check: Worked Calculation: Photochemical Quantum Yield and Efficiency. Assess: Determine the theoretical moles of glucose produced if the experimental quantum"/>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5 retrieval" descr="Worked Calculation: Photochemical Quantum Yield and Efficiency. Reveal locked answer for Q06"/>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5 retrieval" descr="Worked Calculation: Photochemical Quantum Yield and Efficiency. Reveal locked answer for Q06"/>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15 retrieval" descr="Worked Calculation: Photochemical Quantum Yield and Efficiency. Reveal locked answer for Q06"/>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Worked Calculation: Photochemical Quantum Yield and Efficiency</a:t>
            </a:r>
          </a:p>
          <a:p>
            <a:pPr>
              <a:spcBef>
                <a:spcPts val="400"/>
              </a:spcBef>
              <a:defRPr sz="1400">
                <a:solidFill>
                  <a:srgbClr val="475569"/>
                </a:solidFill>
                <a:latin typeface="Segoe UI"/>
              </a:defRPr>
            </a:pPr>
            <a:r>
              <a:t>Answer &amp; Explanation</a:t>
            </a:r>
          </a:p>
        </p:txBody>
      </p:sp>
      <p:sp>
        <p:nvSpPr>
          <p:cNvPr id="5" name="S015 retrieval" descr="Worked Calculation: Photochemical Quantum Yield and Efficiency. Reveal locked answer for Q06"/>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5 retrieval" descr="Worked Calculation: Photochemical Quantum Yield and Efficiency. Reveal locked answer for Q06"/>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5 retrieval" descr="Worked Calculation: Photochemical Quantum Yield and Efficiency. Reveal locked answer for Q06"/>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Determine the theoretical moles of glucose produced if the experimental quantum requirement is 8 photons per molecule of O₂ evolved.</a:t>
            </a:r>
          </a:p>
        </p:txBody>
      </p:sp>
      <p:sp>
        <p:nvSpPr>
          <p:cNvPr id="8" name="S015 retrieval" descr="Worked Calculation: Photochemical Quantum Yield and Efficiency. Reveal locked answer for Q06"/>
          <p:cNvSpPr txBox="1"/>
          <p:nvPr/>
        </p:nvSpPr>
        <p:spPr>
          <a:xfrm>
            <a:off x="731520" y="3840480"/>
            <a:ext cx="10728655" cy="1463040"/>
          </a:xfrm>
          <a:prstGeom prst="rect">
            <a:avLst/>
          </a:prstGeom>
          <a:noFill/>
        </p:spPr>
        <p:txBody>
          <a:bodyPr wrap="square">
            <a:spAutoFit/>
          </a:bodyPr>
          <a:lstStyle/>
          <a:p>
            <a:pPr>
              <a:defRPr sz="1600" b="0">
                <a:solidFill>
                  <a:srgbClr val="0F172A"/>
                </a:solidFill>
                <a:latin typeface="Segoe UI"/>
              </a:defRPr>
            </a:pPr>
            <a:r>
              <a:t>Step 2: Relate oxygen evolution to glucose synthesis using the stoichiometric equation: 6 mol O₂ evolved corresponds to 1 mol C₆H₁₂O₆ synthesized. Step 3: Compute the theoretical glucose yield: Moles of Glucose = 1.0 mol O₂/6 ≈ 0.167 mol of Glucose (approx. 30.0 grams).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6 retrieval" descr="Recall: Worked Calculation: Photochemical Quantum Yield and Efficiency. retrieve C013, C014, C015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6 retrieval" descr="Recall: Worked Calculation: Photochemical Quantum Yield and Efficiency. retrieve C013, C014, C015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16 retrieval" descr="Recall: Worked Calculation: Photochemical Quantum Yield and Efficiency. retrieve C013, C014, C015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Worked Calculation: Photochemical Quantum Yield and Efficiency</a:t>
            </a:r>
          </a:p>
          <a:p>
            <a:pPr>
              <a:spcBef>
                <a:spcPts val="400"/>
              </a:spcBef>
              <a:defRPr sz="1400">
                <a:solidFill>
                  <a:srgbClr val="475569"/>
                </a:solidFill>
                <a:latin typeface="Segoe UI"/>
              </a:defRPr>
            </a:pPr>
            <a:r>
              <a:t>Worked Calculation: Photochemical Quantum Yield and Efficiency</a:t>
            </a:r>
          </a:p>
        </p:txBody>
      </p:sp>
      <p:sp>
        <p:nvSpPr>
          <p:cNvPr id="5" name="S016 retrieval" descr="Recall: Worked Calculation: Photochemical Quantum Yield and Efficiency. retrieve C013, C014, C015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6 retrieval" descr="Recall: Worked Calculation: Photochemical Quantum Yield and Efficiency. retrieve C013, C014, C015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6 retrieval" descr="Recall: Worked Calculation: Photochemical Quantum Yield and Efficiency. retrieve C013, C014, C015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Worked Calculation: Photochemical Quantum Yield and Efficiency?</a:t>
            </a:r>
          </a:p>
        </p:txBody>
      </p:sp>
      <p:sp>
        <p:nvSpPr>
          <p:cNvPr id="8" name="S016 retrieval" descr="Recall: Worked Calculation: Photochemical Quantum Yield and Efficiency. retrieve C013, C014, C015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7 contrast" descr="Common Misconception: The Dark Reactions and Plant Respiration. teach C017 in a manageable chun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7 contrast" descr="Common Misconception: The Dark Reactions and Plant Respiration. teach C017 in a manageable chun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MISCONCEPTION &amp; TRAP</a:t>
            </a:r>
          </a:p>
        </p:txBody>
      </p:sp>
      <p:sp>
        <p:nvSpPr>
          <p:cNvPr id="4" name="S017 contrast" descr="Common Misconception: The Dark Reactions and Plant Respiration. teach C017 in a manageable chun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Common Misconception: The Dark Reactions and Plant Respiration</a:t>
            </a:r>
          </a:p>
          <a:p>
            <a:pPr>
              <a:spcBef>
                <a:spcPts val="400"/>
              </a:spcBef>
              <a:defRPr sz="1400">
                <a:solidFill>
                  <a:srgbClr val="475569"/>
                </a:solidFill>
                <a:latin typeface="Segoe UI"/>
              </a:defRPr>
            </a:pPr>
            <a:r>
              <a:t>Common Misconception: The Dark Reactions and Plant Respiration</a:t>
            </a:r>
          </a:p>
        </p:txBody>
      </p:sp>
      <p:sp>
        <p:nvSpPr>
          <p:cNvPr id="5" name="S017 contrast" descr="Common Misconception: The Dark Reactions and Plant Respiration. teach C017 in a manageable chunk"/>
          <p:cNvSpPr/>
          <p:nvPr/>
        </p:nvSpPr>
        <p:spPr>
          <a:xfrm>
            <a:off x="731520" y="1828800"/>
            <a:ext cx="5181447" cy="4297680"/>
          </a:xfrm>
          <a:prstGeom prst="roundRect">
            <a:avLst/>
          </a:prstGeom>
          <a:solidFill>
            <a:srgbClr val="FFF1F2"/>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17 contrast" descr="Common Misconception: The Dark Reactions and Plant Respiration. teach C017 in a manageable chunk"/>
          <p:cNvSpPr txBox="1"/>
          <p:nvPr/>
        </p:nvSpPr>
        <p:spPr>
          <a:xfrm>
            <a:off x="1097280" y="2103120"/>
            <a:ext cx="4449927" cy="3749040"/>
          </a:xfrm>
          <a:prstGeom prst="rect">
            <a:avLst/>
          </a:prstGeom>
          <a:noFill/>
        </p:spPr>
        <p:txBody>
          <a:bodyPr wrap="square">
            <a:spAutoFit/>
          </a:bodyPr>
          <a:lstStyle/>
          <a:p>
            <a:pPr>
              <a:defRPr b="1" sz="1300">
                <a:solidFill>
                  <a:srgbClr val="E11D48"/>
                </a:solidFill>
              </a:defRPr>
            </a:pPr>
            <a:r>
              <a:t>✖  COMMON MISTAKE (TEMPTING ERROR)</a:t>
            </a:r>
          </a:p>
          <a:p>
            <a:pPr>
              <a:spcBef>
                <a:spcPts val="1200"/>
              </a:spcBef>
              <a:defRPr sz="1900" b="1">
                <a:solidFill>
                  <a:srgbClr val="E11D48"/>
                </a:solidFill>
                <a:latin typeface="Segoe UI"/>
              </a:defRPr>
            </a:pPr>
            <a:r>
              <a:t>Plants perform photosynthesis during the day and cellular respiration only at night; furthermore, the 'dark reactions' (Calvin cycle) occur only in total darkness.</a:t>
            </a:r>
          </a:p>
          <a:p>
            <a:pPr>
              <a:spcBef>
                <a:spcPts val="1400"/>
              </a:spcBef>
              <a:defRPr sz="1500">
                <a:solidFill>
                  <a:srgbClr val="0F172A"/>
                </a:solidFill>
              </a:defRPr>
            </a:pPr>
            <a:r>
              <a:t>Why it is flawed:</a:t>
            </a:r>
            <a:br/>
            <a:r>
              <a:t>Respiration is required continuously (24/7) to sustain baseline metabolic homeostasis and ATP production in all living plant cells.</a:t>
            </a:r>
          </a:p>
        </p:txBody>
      </p:sp>
      <p:sp>
        <p:nvSpPr>
          <p:cNvPr id="7" name="S017 contrast" descr="Common Misconception: The Dark Reactions and Plant Respiration. teach C017 in a manageable chunk"/>
          <p:cNvSpPr/>
          <p:nvPr/>
        </p:nvSpPr>
        <p:spPr>
          <a:xfrm>
            <a:off x="6278727" y="1828800"/>
            <a:ext cx="5181447" cy="429768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17 contrast" descr="Common Misconception: The Dark Reactions and Plant Respiration. teach C017 in a manageable chunk"/>
          <p:cNvSpPr txBox="1"/>
          <p:nvPr/>
        </p:nvSpPr>
        <p:spPr>
          <a:xfrm>
            <a:off x="6644487" y="2103120"/>
            <a:ext cx="4449927" cy="3749040"/>
          </a:xfrm>
          <a:prstGeom prst="rect">
            <a:avLst/>
          </a:prstGeom>
          <a:noFill/>
        </p:spPr>
        <p:txBody>
          <a:bodyPr wrap="square">
            <a:spAutoFit/>
          </a:bodyPr>
          <a:lstStyle/>
          <a:p>
            <a:pPr>
              <a:defRPr b="1" sz="1300">
                <a:solidFill>
                  <a:srgbClr val="10B981"/>
                </a:solidFill>
              </a:defRPr>
            </a:pPr>
            <a:r>
              <a:t>✔  CORRECT REASONING &amp; TRUTH</a:t>
            </a:r>
          </a:p>
          <a:p>
            <a:pPr>
              <a:spcBef>
                <a:spcPts val="1200"/>
              </a:spcBef>
              <a:defRPr sz="1900" b="1">
                <a:solidFill>
                  <a:srgbClr val="10B981"/>
                </a:solidFill>
                <a:latin typeface="Segoe UI"/>
              </a:defRPr>
            </a:pPr>
            <a:r>
              <a:t>Cellular respiration occurs around the clock in all living plant tissues. The Calvin cycle is 'light-independent' only in the sense that it does not directly absorb photons, but it relies continuously on ATP and NADPH generated by light reactions and is deactivated in extended darkness.</a:t>
            </a:r>
          </a:p>
          <a:p>
            <a:pPr>
              <a:spcBef>
                <a:spcPts val="1400"/>
              </a:spcBef>
              <a:defRPr sz="1500">
                <a:solidFill>
                  <a:srgbClr val="0F172A"/>
                </a:solidFill>
              </a:defRPr>
            </a:pPr>
            <a:r>
              <a:t>Why this is sound:</a:t>
            </a:r>
            <a:br/>
            <a:r>
              <a:t>Cellular respiration occurs around the clock in all living plant tissues. The Calvin cycle is 'light-independent' only in the sense that it does not directly absorb photons, but it relies continuously on ATP and NADPH generated by light reactions and is deactivated in extended darkness.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sOne"/>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8 retrieval" descr="Recall: Common Misconception: The Dark Reactions and Plant Respiration. retrieve C016, C017, C018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8 retrieval" descr="Recall: Common Misconception: The Dark Reactions and Plant Respiration. retrieve C016, C017, C018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18 retrieval" descr="Recall: Common Misconception: The Dark Reactions and Plant Respiration. retrieve C016, C017, C018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Common Misconception: The Dark Reactions and Plant Respiration</a:t>
            </a:r>
          </a:p>
          <a:p>
            <a:pPr>
              <a:spcBef>
                <a:spcPts val="400"/>
              </a:spcBef>
              <a:defRPr sz="1400">
                <a:solidFill>
                  <a:srgbClr val="475569"/>
                </a:solidFill>
                <a:latin typeface="Segoe UI"/>
              </a:defRPr>
            </a:pPr>
            <a:r>
              <a:t>Common Misconception: The Dark Reactions and Plant Respiration</a:t>
            </a:r>
          </a:p>
        </p:txBody>
      </p:sp>
      <p:sp>
        <p:nvSpPr>
          <p:cNvPr id="5" name="S018 retrieval" descr="Recall: Common Misconception: The Dark Reactions and Plant Respiration. retrieve C016, C017, C018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8 retrieval" descr="Recall: Common Misconception: The Dark Reactions and Plant Respiration. retrieve C016, C017, C018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8 retrieval" descr="Recall: Common Misconception: The Dark Reactions and Plant Respiration. retrieve C016, C017, C018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Common Misconception: The Dark Reactions and Plant Respiration?</a:t>
            </a:r>
          </a:p>
        </p:txBody>
      </p:sp>
      <p:sp>
        <p:nvSpPr>
          <p:cNvPr id="8" name="S018 retrieval" descr="Recall: Common Misconception: The Dark Reactions and Plant Respiration. retrieve C016, C017, C018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19 retrieval" descr="Recall: Correct Reasoning — The Dark Reactions and Plant Respiration. retrieve C019, C020, C021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19 retrieval" descr="Recall: Correct Reasoning — The Dark Reactions and Plant Respiration. retrieve C019, C020, C021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19 retrieval" descr="Recall: Correct Reasoning — The Dark Reactions and Plant Respiration. retrieve C019, C020, C021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Correct Reasoning — The Dark Reactions and Plant Respiration</a:t>
            </a:r>
          </a:p>
          <a:p>
            <a:pPr>
              <a:spcBef>
                <a:spcPts val="400"/>
              </a:spcBef>
              <a:defRPr sz="1400">
                <a:solidFill>
                  <a:srgbClr val="475569"/>
                </a:solidFill>
                <a:latin typeface="Segoe UI"/>
              </a:defRPr>
            </a:pPr>
            <a:r>
              <a:t>Formative Assessment: Checks for Understanding</a:t>
            </a:r>
          </a:p>
        </p:txBody>
      </p:sp>
      <p:sp>
        <p:nvSpPr>
          <p:cNvPr id="5" name="S019 retrieval" descr="Recall: Correct Reasoning — The Dark Reactions and Plant Respiration. retrieve C019, C020, C021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19 retrieval" descr="Recall: Correct Reasoning — The Dark Reactions and Plant Respiration. retrieve C019, C020, C021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19 retrieval" descr="Recall: Correct Reasoning — The Dark Reactions and Plant Respiration. retrieve C019, C020, C021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Correct Reasoning — The Dark Reactions and Plant Respiration?</a:t>
            </a:r>
          </a:p>
        </p:txBody>
      </p:sp>
      <p:sp>
        <p:nvSpPr>
          <p:cNvPr id="8" name="S019 retrieval" descr="Recall: Correct Reasoning — The Dark Reactions and Plant Respiration. retrieve C019, C020, C021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0 mcq" descr="Check: Formative Assessment: Checks for Understanding. Assess: If the thylakoid membrane becomes permeable to protons due to a chemical ionopho"/>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0 mcq" descr="Check: Formative Assessment: Checks for Understanding. Assess: If the thylakoid membrane becomes permeable to protons due to a chemical ionopho"/>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0 mcq" descr="Check: Formative Assessment: Checks for Understanding. Assess: If the thylakoid membrane becomes permeable to protons due to a chemical ionopho"/>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Formative Assessment: Checks for Understanding</a:t>
            </a:r>
          </a:p>
          <a:p>
            <a:pPr>
              <a:spcBef>
                <a:spcPts val="400"/>
              </a:spcBef>
              <a:defRPr sz="1400">
                <a:solidFill>
                  <a:srgbClr val="475569"/>
                </a:solidFill>
                <a:latin typeface="Segoe UI"/>
              </a:defRPr>
            </a:pPr>
            <a:r>
              <a:t>Check: Formative Assessment: Checks for Understanding</a:t>
            </a:r>
          </a:p>
        </p:txBody>
      </p:sp>
      <p:sp>
        <p:nvSpPr>
          <p:cNvPr id="5" name="S020 mcq" descr="Check: Formative Assessment: Checks for Understanding. Assess: If the thylakoid membrane becomes permeable to protons due to a chemical ionopho"/>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SOURCE QUESTION</a:t>
            </a:r>
          </a:p>
        </p:txBody>
      </p:sp>
      <p:sp>
        <p:nvSpPr>
          <p:cNvPr id="6" name="S020 mcq" descr="Check: Formative Assessment: Checks for Understanding. Assess: If the thylakoid membrane becomes permeable to protons due to a chemical ionopho"/>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0 mcq" descr="Check: Formative Assessment: Checks for Understanding. Assess: If the thylakoid membrane becomes permeable to protons due to a chemical ionopho"/>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If the thylakoid membrane becomes permeable to protons due to a chemical ionophore, what is the immediate biochemical consequence?</a:t>
            </a:r>
          </a:p>
        </p:txBody>
      </p:sp>
      <p:sp>
        <p:nvSpPr>
          <p:cNvPr id="8" name="S020 mcq" descr="Check: Formative Assessment: Checks for Understanding. Assess: If the thylakoid membrane becomes permeable to protons due to a chemical ionopho"/>
          <p:cNvSpPr/>
          <p:nvPr/>
        </p:nvSpPr>
        <p:spPr>
          <a:xfrm>
            <a:off x="731520" y="3310128"/>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20 mcq" descr="Check: Formative Assessment: Checks for Understanding. Assess: If the thylakoid membrane becomes permeable to protons due to a chemical ionopho"/>
          <p:cNvSpPr txBox="1"/>
          <p:nvPr/>
        </p:nvSpPr>
        <p:spPr>
          <a:xfrm>
            <a:off x="960120" y="3383280"/>
            <a:ext cx="4769967" cy="630936"/>
          </a:xfrm>
          <a:prstGeom prst="rect">
            <a:avLst/>
          </a:prstGeom>
          <a:noFill/>
        </p:spPr>
        <p:txBody>
          <a:bodyPr wrap="square">
            <a:spAutoFit/>
          </a:bodyPr>
          <a:lstStyle/>
          <a:p>
            <a:pPr>
              <a:defRPr sz="1300" b="0">
                <a:solidFill>
                  <a:srgbClr val="0F172A"/>
                </a:solidFill>
                <a:latin typeface="Segoe UI"/>
              </a:defRPr>
            </a:pPr>
            <a:r>
              <a:t>A) Photolysis of water ceases immediately</a:t>
            </a:r>
          </a:p>
        </p:txBody>
      </p:sp>
      <p:sp>
        <p:nvSpPr>
          <p:cNvPr id="10" name="S020 mcq" descr="Check: Formative Assessment: Checks for Understanding. Assess: If the thylakoid membrane becomes permeable to protons due to a chemical ionopho"/>
          <p:cNvSpPr/>
          <p:nvPr/>
        </p:nvSpPr>
        <p:spPr>
          <a:xfrm>
            <a:off x="6233007" y="3310128"/>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020 mcq" descr="Check: Formative Assessment: Checks for Understanding. Assess: If the thylakoid membrane becomes permeable to protons due to a chemical ionopho"/>
          <p:cNvSpPr txBox="1"/>
          <p:nvPr/>
        </p:nvSpPr>
        <p:spPr>
          <a:xfrm>
            <a:off x="6461607" y="3383280"/>
            <a:ext cx="4769967" cy="630936"/>
          </a:xfrm>
          <a:prstGeom prst="rect">
            <a:avLst/>
          </a:prstGeom>
          <a:noFill/>
        </p:spPr>
        <p:txBody>
          <a:bodyPr wrap="square">
            <a:spAutoFit/>
          </a:bodyPr>
          <a:lstStyle/>
          <a:p>
            <a:pPr>
              <a:defRPr sz="1300" b="0">
                <a:solidFill>
                  <a:srgbClr val="0F172A"/>
                </a:solidFill>
                <a:latin typeface="Segoe UI"/>
              </a:defRPr>
            </a:pPr>
            <a:r>
              <a:t>B) Photophosphorylation of ADP to ATP stops, while electron transport may continue</a:t>
            </a:r>
          </a:p>
        </p:txBody>
      </p:sp>
      <p:sp>
        <p:nvSpPr>
          <p:cNvPr id="12" name="S020 mcq" descr="Check: Formative Assessment: Checks for Understanding. Assess: If the thylakoid membrane becomes permeable to protons due to a chemical ionopho"/>
          <p:cNvSpPr/>
          <p:nvPr/>
        </p:nvSpPr>
        <p:spPr>
          <a:xfrm>
            <a:off x="731520" y="4197096"/>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20 mcq" descr="Check: Formative Assessment: Checks for Understanding. Assess: If the thylakoid membrane becomes permeable to protons due to a chemical ionopho"/>
          <p:cNvSpPr txBox="1"/>
          <p:nvPr/>
        </p:nvSpPr>
        <p:spPr>
          <a:xfrm>
            <a:off x="960120" y="4270248"/>
            <a:ext cx="4769967" cy="630936"/>
          </a:xfrm>
          <a:prstGeom prst="rect">
            <a:avLst/>
          </a:prstGeom>
          <a:noFill/>
        </p:spPr>
        <p:txBody>
          <a:bodyPr wrap="square">
            <a:spAutoFit/>
          </a:bodyPr>
          <a:lstStyle/>
          <a:p>
            <a:pPr>
              <a:defRPr sz="1300" b="0">
                <a:solidFill>
                  <a:srgbClr val="0F172A"/>
                </a:solidFill>
                <a:latin typeface="Segoe UI"/>
              </a:defRPr>
            </a:pPr>
            <a:r>
              <a:t>C) Carbon dioxide fixation in the stroma accelerates dramatically</a:t>
            </a:r>
          </a:p>
        </p:txBody>
      </p:sp>
      <p:sp>
        <p:nvSpPr>
          <p:cNvPr id="14" name="S020 mcq" descr="Check: Formative Assessment: Checks for Understanding. Assess: If the thylakoid membrane becomes permeable to protons due to a chemical ionopho"/>
          <p:cNvSpPr/>
          <p:nvPr/>
        </p:nvSpPr>
        <p:spPr>
          <a:xfrm>
            <a:off x="6233007" y="4197096"/>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20 mcq" descr="Check: Formative Assessment: Checks for Understanding. Assess: If the thylakoid membrane becomes permeable to protons due to a chemical ionopho"/>
          <p:cNvSpPr txBox="1"/>
          <p:nvPr/>
        </p:nvSpPr>
        <p:spPr>
          <a:xfrm>
            <a:off x="6461607" y="4270248"/>
            <a:ext cx="4769967" cy="630936"/>
          </a:xfrm>
          <a:prstGeom prst="rect">
            <a:avLst/>
          </a:prstGeom>
          <a:noFill/>
        </p:spPr>
        <p:txBody>
          <a:bodyPr wrap="square">
            <a:spAutoFit/>
          </a:bodyPr>
          <a:lstStyle/>
          <a:p>
            <a:pPr>
              <a:defRPr sz="1300" b="0">
                <a:solidFill>
                  <a:srgbClr val="0F172A"/>
                </a:solidFill>
                <a:latin typeface="Segoe UI"/>
              </a:defRPr>
            </a:pPr>
            <a:r>
              <a:t>D) Chlorophyll pigments cease photon absorption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1 mcq" descr="Formative Assessment: Checks for Understanding. Reveal locked answer for Q0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1 mcq" descr="Formative Assessment: Checks for Understanding. Reveal locked answer for Q01"/>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21 mcq" descr="Formative Assessment: Checks for Understanding. Reveal locked answer for Q01"/>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Formative Assessment: Checks for Understanding</a:t>
            </a:r>
          </a:p>
          <a:p>
            <a:pPr>
              <a:spcBef>
                <a:spcPts val="400"/>
              </a:spcBef>
              <a:defRPr sz="1400">
                <a:solidFill>
                  <a:srgbClr val="475569"/>
                </a:solidFill>
                <a:latin typeface="Segoe UI"/>
              </a:defRPr>
            </a:pPr>
            <a:r>
              <a:t>Answer &amp; Explanation</a:t>
            </a:r>
          </a:p>
        </p:txBody>
      </p:sp>
      <p:sp>
        <p:nvSpPr>
          <p:cNvPr id="5" name="S021 mcq" descr="Formative Assessment: Checks for Understanding. Reveal locked answer for Q01"/>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SOURCE QUESTION</a:t>
            </a:r>
          </a:p>
        </p:txBody>
      </p:sp>
      <p:sp>
        <p:nvSpPr>
          <p:cNvPr id="6" name="S021 mcq" descr="Formative Assessment: Checks for Understanding. Reveal locked answer for Q01"/>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1 mcq" descr="Formative Assessment: Checks for Understanding. Reveal locked answer for Q01"/>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If the thylakoid membrane becomes permeable to protons due to a chemical ionophore, what is the immediate biochemical consequence?</a:t>
            </a:r>
          </a:p>
        </p:txBody>
      </p:sp>
      <p:sp>
        <p:nvSpPr>
          <p:cNvPr id="8" name="S021 mcq" descr="Formative Assessment: Checks for Understanding. Reveal locked answer for Q01"/>
          <p:cNvSpPr/>
          <p:nvPr/>
        </p:nvSpPr>
        <p:spPr>
          <a:xfrm>
            <a:off x="731520" y="3310128"/>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21 mcq" descr="Formative Assessment: Checks for Understanding. Reveal locked answer for Q01"/>
          <p:cNvSpPr txBox="1"/>
          <p:nvPr/>
        </p:nvSpPr>
        <p:spPr>
          <a:xfrm>
            <a:off x="960120" y="3383280"/>
            <a:ext cx="4769967" cy="630936"/>
          </a:xfrm>
          <a:prstGeom prst="rect">
            <a:avLst/>
          </a:prstGeom>
          <a:noFill/>
        </p:spPr>
        <p:txBody>
          <a:bodyPr wrap="square">
            <a:spAutoFit/>
          </a:bodyPr>
          <a:lstStyle/>
          <a:p>
            <a:pPr>
              <a:defRPr sz="1300" b="0">
                <a:solidFill>
                  <a:srgbClr val="0F172A"/>
                </a:solidFill>
                <a:latin typeface="Segoe UI"/>
              </a:defRPr>
            </a:pPr>
            <a:r>
              <a:t>A) Photolysis of water ceases immediately</a:t>
            </a:r>
          </a:p>
        </p:txBody>
      </p:sp>
      <p:sp>
        <p:nvSpPr>
          <p:cNvPr id="10" name="S021 mcq" descr="Formative Assessment: Checks for Understanding. Reveal locked answer for Q01"/>
          <p:cNvSpPr/>
          <p:nvPr/>
        </p:nvSpPr>
        <p:spPr>
          <a:xfrm>
            <a:off x="6233007" y="3310128"/>
            <a:ext cx="5227167" cy="777240"/>
          </a:xfrm>
          <a:prstGeom prst="roundRect">
            <a:avLst/>
          </a:prstGeom>
          <a:solidFill>
            <a:srgbClr val="ECFDF5"/>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021 mcq" descr="Formative Assessment: Checks for Understanding. Reveal locked answer for Q01"/>
          <p:cNvSpPr txBox="1"/>
          <p:nvPr/>
        </p:nvSpPr>
        <p:spPr>
          <a:xfrm>
            <a:off x="6461607" y="3383280"/>
            <a:ext cx="4769967" cy="630936"/>
          </a:xfrm>
          <a:prstGeom prst="rect">
            <a:avLst/>
          </a:prstGeom>
          <a:noFill/>
        </p:spPr>
        <p:txBody>
          <a:bodyPr wrap="square">
            <a:spAutoFit/>
          </a:bodyPr>
          <a:lstStyle/>
          <a:p>
            <a:pPr>
              <a:defRPr sz="1300" b="1">
                <a:solidFill>
                  <a:srgbClr val="10B981"/>
                </a:solidFill>
                <a:latin typeface="Segoe UI"/>
              </a:defRPr>
            </a:pPr>
            <a:r>
              <a:t>✔ B) Photophosphorylation of ADP to ATP stops, while electron transport may continue</a:t>
            </a:r>
          </a:p>
        </p:txBody>
      </p:sp>
      <p:sp>
        <p:nvSpPr>
          <p:cNvPr id="12" name="S021 mcq" descr="Formative Assessment: Checks for Understanding. Reveal locked answer for Q01"/>
          <p:cNvSpPr/>
          <p:nvPr/>
        </p:nvSpPr>
        <p:spPr>
          <a:xfrm>
            <a:off x="731520" y="4197096"/>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21 mcq" descr="Formative Assessment: Checks for Understanding. Reveal locked answer for Q01"/>
          <p:cNvSpPr txBox="1"/>
          <p:nvPr/>
        </p:nvSpPr>
        <p:spPr>
          <a:xfrm>
            <a:off x="960120" y="4270248"/>
            <a:ext cx="4769967" cy="630936"/>
          </a:xfrm>
          <a:prstGeom prst="rect">
            <a:avLst/>
          </a:prstGeom>
          <a:noFill/>
        </p:spPr>
        <p:txBody>
          <a:bodyPr wrap="square">
            <a:spAutoFit/>
          </a:bodyPr>
          <a:lstStyle/>
          <a:p>
            <a:pPr>
              <a:defRPr sz="1300" b="0">
                <a:solidFill>
                  <a:srgbClr val="0F172A"/>
                </a:solidFill>
                <a:latin typeface="Segoe UI"/>
              </a:defRPr>
            </a:pPr>
            <a:r>
              <a:t>C) Carbon dioxide fixation in the stroma accelerates dramatically</a:t>
            </a:r>
          </a:p>
        </p:txBody>
      </p:sp>
      <p:sp>
        <p:nvSpPr>
          <p:cNvPr id="14" name="S021 mcq" descr="Formative Assessment: Checks for Understanding. Reveal locked answer for Q01"/>
          <p:cNvSpPr/>
          <p:nvPr/>
        </p:nvSpPr>
        <p:spPr>
          <a:xfrm>
            <a:off x="6233007" y="4197096"/>
            <a:ext cx="5227167" cy="777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021 mcq" descr="Formative Assessment: Checks for Understanding. Reveal locked answer for Q01"/>
          <p:cNvSpPr txBox="1"/>
          <p:nvPr/>
        </p:nvSpPr>
        <p:spPr>
          <a:xfrm>
            <a:off x="6461607" y="4270248"/>
            <a:ext cx="4769967" cy="630936"/>
          </a:xfrm>
          <a:prstGeom prst="rect">
            <a:avLst/>
          </a:prstGeom>
          <a:noFill/>
        </p:spPr>
        <p:txBody>
          <a:bodyPr wrap="square">
            <a:spAutoFit/>
          </a:bodyPr>
          <a:lstStyle/>
          <a:p>
            <a:pPr>
              <a:defRPr sz="1300" b="0">
                <a:solidFill>
                  <a:srgbClr val="0F172A"/>
                </a:solidFill>
                <a:latin typeface="Segoe UI"/>
              </a:defRPr>
            </a:pPr>
            <a:r>
              <a:t>D) Chlorophyll pigments cease photon absorption</a:t>
            </a:r>
          </a:p>
        </p:txBody>
      </p:sp>
      <p:sp>
        <p:nvSpPr>
          <p:cNvPr id="16" name="S021 mcq" descr="Formative Assessment: Checks for Understanding. Reveal locked answer for Q01"/>
          <p:cNvSpPr txBox="1"/>
          <p:nvPr/>
        </p:nvSpPr>
        <p:spPr>
          <a:xfrm>
            <a:off x="731520" y="5175504"/>
            <a:ext cx="10728655" cy="1371600"/>
          </a:xfrm>
          <a:prstGeom prst="rect">
            <a:avLst/>
          </a:prstGeom>
          <a:noFill/>
        </p:spPr>
        <p:txBody>
          <a:bodyPr wrap="square">
            <a:spAutoFit/>
          </a:bodyPr>
          <a:lstStyle/>
          <a:p>
            <a:pPr>
              <a:defRPr sz="1300" b="0">
                <a:solidFill>
                  <a:srgbClr val="475569"/>
                </a:solidFill>
                <a:latin typeface="Segoe UI"/>
              </a:defRPr>
            </a:pPr>
            <a:r>
              <a:t>The thylakoid lumen holds the proton motive force built by electron transport. A proton-permeable membrane collapses that gradient, so ATP synthase cannot phosphorylate ADP to ATP, while electron flow itself may continue.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500"/>
                                  <p:tgtEl>
                                    <p:spTgt spid="1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asOne"/>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2 practice_problem" descr="Practice Problem 1. model reasoning for C024"/>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2 practice_problem" descr="Practice Problem 1. model reasoning for C024"/>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PRACTICE</a:t>
            </a:r>
          </a:p>
        </p:txBody>
      </p:sp>
      <p:sp>
        <p:nvSpPr>
          <p:cNvPr id="4" name="S022 practice_problem" descr="Practice Problem 1. model reasoning for C024"/>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Practice Problem 1</a:t>
            </a:r>
          </a:p>
          <a:p>
            <a:pPr>
              <a:spcBef>
                <a:spcPts val="400"/>
              </a:spcBef>
              <a:defRPr sz="1400">
                <a:solidFill>
                  <a:srgbClr val="475569"/>
                </a:solidFill>
                <a:latin typeface="Segoe UI"/>
              </a:defRPr>
            </a:pPr>
            <a:r>
              <a:t>Independent Practice and Exam-Style Problems</a:t>
            </a:r>
          </a:p>
        </p:txBody>
      </p:sp>
      <p:sp>
        <p:nvSpPr>
          <p:cNvPr id="5" name="S022 practice_problem" descr="Practice Problem 1. model reasoning for C024"/>
          <p:cNvSpPr/>
          <p:nvPr/>
        </p:nvSpPr>
        <p:spPr>
          <a:xfrm>
            <a:off x="731520" y="1783080"/>
            <a:ext cx="2194560" cy="310896"/>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7706"/>
                </a:solidFill>
                <a:latin typeface="Segoe UI"/>
              </a:defRPr>
            </a:pPr>
            <a:r>
              <a:t>SOURCE PROBLEM</a:t>
            </a:r>
          </a:p>
        </p:txBody>
      </p:sp>
      <p:sp>
        <p:nvSpPr>
          <p:cNvPr id="6" name="S022 practice_problem" descr="Practice Problem 1. model reasoning for C024"/>
          <p:cNvSpPr/>
          <p:nvPr/>
        </p:nvSpPr>
        <p:spPr>
          <a:xfrm>
            <a:off x="731520" y="2194560"/>
            <a:ext cx="10728655" cy="1737360"/>
          </a:xfrm>
          <a:prstGeom prst="roundRect">
            <a:avLst/>
          </a:prstGeom>
          <a:solidFill>
            <a:srgbClr val="FFFFFF"/>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2 practice_problem" descr="Practice Problem 1. model reasoning for C024"/>
          <p:cNvSpPr txBox="1"/>
          <p:nvPr/>
        </p:nvSpPr>
        <p:spPr>
          <a:xfrm>
            <a:off x="1097280" y="2377440"/>
            <a:ext cx="9997135" cy="1417320"/>
          </a:xfrm>
          <a:prstGeom prst="rect">
            <a:avLst/>
          </a:prstGeom>
          <a:noFill/>
        </p:spPr>
        <p:txBody>
          <a:bodyPr wrap="square">
            <a:spAutoFit/>
          </a:bodyPr>
          <a:lstStyle/>
          <a:p>
            <a:pPr>
              <a:defRPr sz="1500" b="0">
                <a:solidFill>
                  <a:srgbClr val="0F172A"/>
                </a:solidFill>
                <a:latin typeface="Segoe UI"/>
              </a:defRPr>
            </a:pPr>
            <a:r>
              <a:t>Practice Problem 1: Trace the path of an electron extracted from water photolysis in Photosystem II until its terminal reduction of NADP+ to NADPH.</a:t>
            </a:r>
          </a:p>
        </p:txBody>
      </p:sp>
      <p:sp>
        <p:nvSpPr>
          <p:cNvPr id="8" name="S022 practice_problem" descr="Practice Problem 1. model reasoning for C024"/>
          <p:cNvSpPr txBox="1"/>
          <p:nvPr/>
        </p:nvSpPr>
        <p:spPr>
          <a:xfrm>
            <a:off x="731520" y="4069079"/>
            <a:ext cx="10728655" cy="457200"/>
          </a:xfrm>
          <a:prstGeom prst="rect">
            <a:avLst/>
          </a:prstGeom>
          <a:noFill/>
        </p:spPr>
        <p:txBody>
          <a:bodyPr wrap="square">
            <a:spAutoFit/>
          </a:bodyPr>
          <a:lstStyle/>
          <a:p>
            <a:pPr>
              <a:defRPr sz="1200" b="0">
                <a:solidFill>
                  <a:srgbClr val="475569"/>
                </a:solidFill>
                <a:latin typeface="Segoe UI"/>
              </a:defRPr>
            </a:pPr>
            <a:r>
              <a:t>Number each transfer step; cite the source mechanism.</a:t>
            </a:r>
          </a:p>
        </p:txBody>
      </p:sp>
      <p:sp>
        <p:nvSpPr>
          <p:cNvPr id="9" name="S022 practice_problem" descr="Practice Problem 1. model reasoning for C024"/>
          <p:cNvSpPr txBox="1"/>
          <p:nvPr/>
        </p:nvSpPr>
        <p:spPr>
          <a:xfrm>
            <a:off x="731520" y="6217920"/>
            <a:ext cx="10728655" cy="365760"/>
          </a:xfrm>
          <a:prstGeom prst="rect">
            <a:avLst/>
          </a:prstGeom>
          <a:noFill/>
        </p:spPr>
        <p:txBody>
          <a:bodyPr wrap="square">
            <a:spAutoFit/>
          </a:bodyPr>
          <a:lstStyle/>
          <a:p>
            <a:pPr>
              <a:defRPr sz="1200" b="1">
                <a:solidFill>
                  <a:srgbClr val="0284C7"/>
                </a:solidFill>
                <a:latin typeface="Segoe UI"/>
              </a:defRPr>
            </a:pPr>
            <a:r>
              <a:t>Guided: complete the missing step, then verify.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3 retrieval" descr="Recall: Formative Assessment: Checks for Understanding. retrieve C022, C023, C024 before moving on"/>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3 retrieval" descr="Recall: Formative Assessment: Checks for Understanding. retrieve C022, C023, C024 before moving on"/>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3 retrieval" descr="Recall: Formative Assessment: Checks for Understanding. retrieve C022, C023, C024 before moving on"/>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Recall: Formative Assessment: Checks for Understanding</a:t>
            </a:r>
          </a:p>
          <a:p>
            <a:pPr>
              <a:spcBef>
                <a:spcPts val="400"/>
              </a:spcBef>
              <a:defRPr sz="1400">
                <a:solidFill>
                  <a:srgbClr val="475569"/>
                </a:solidFill>
                <a:latin typeface="Segoe UI"/>
              </a:defRPr>
            </a:pPr>
            <a:r>
              <a:t>Formative Assessment: Checks for Understanding</a:t>
            </a:r>
          </a:p>
        </p:txBody>
      </p:sp>
      <p:sp>
        <p:nvSpPr>
          <p:cNvPr id="5" name="S023 retrieval" descr="Recall: Formative Assessment: Checks for Understanding. retrieve C022, C023, C024 before moving on"/>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23 retrieval" descr="Recall: Formative Assessment: Checks for Understanding. retrieve C022, C023, C024 before moving on"/>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3 retrieval" descr="Recall: Formative Assessment: Checks for Understanding. retrieve C022, C023, C024 before moving on"/>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Without looking back: what do you remember about Formative Assessment: Checks for Understanding?</a:t>
            </a:r>
          </a:p>
        </p:txBody>
      </p:sp>
      <p:sp>
        <p:nvSpPr>
          <p:cNvPr id="8" name="S023 retrieval" descr="Recall: Formative Assessment: Checks for Understanding. retrieve C022, C023, C024 before moving on"/>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4 practice_problem" descr="Practice Problem 2. model reasoning for C025"/>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4 practice_problem" descr="Practice Problem 2. model reasoning for C025"/>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PRACTICE</a:t>
            </a:r>
          </a:p>
        </p:txBody>
      </p:sp>
      <p:sp>
        <p:nvSpPr>
          <p:cNvPr id="4" name="S024 practice_problem" descr="Practice Problem 2. model reasoning for C025"/>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Practice Problem 2</a:t>
            </a:r>
          </a:p>
          <a:p>
            <a:pPr>
              <a:spcBef>
                <a:spcPts val="400"/>
              </a:spcBef>
              <a:defRPr sz="1400">
                <a:solidFill>
                  <a:srgbClr val="475569"/>
                </a:solidFill>
                <a:latin typeface="Segoe UI"/>
              </a:defRPr>
            </a:pPr>
            <a:r>
              <a:t>Independent Practice and Exam-Style Problems</a:t>
            </a:r>
          </a:p>
        </p:txBody>
      </p:sp>
      <p:sp>
        <p:nvSpPr>
          <p:cNvPr id="5" name="S024 practice_problem" descr="Practice Problem 2. model reasoning for C025"/>
          <p:cNvSpPr/>
          <p:nvPr/>
        </p:nvSpPr>
        <p:spPr>
          <a:xfrm>
            <a:off x="731520" y="1783080"/>
            <a:ext cx="2194560" cy="310896"/>
          </a:xfrm>
          <a:prstGeom prst="round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97706"/>
                </a:solidFill>
                <a:latin typeface="Segoe UI"/>
              </a:defRPr>
            </a:pPr>
            <a:r>
              <a:t>SOURCE PROBLEM</a:t>
            </a:r>
          </a:p>
        </p:txBody>
      </p:sp>
      <p:sp>
        <p:nvSpPr>
          <p:cNvPr id="6" name="S024 practice_problem" descr="Practice Problem 2. model reasoning for C025"/>
          <p:cNvSpPr/>
          <p:nvPr/>
        </p:nvSpPr>
        <p:spPr>
          <a:xfrm>
            <a:off x="731520" y="2194560"/>
            <a:ext cx="10728655" cy="1737360"/>
          </a:xfrm>
          <a:prstGeom prst="roundRect">
            <a:avLst/>
          </a:prstGeom>
          <a:solidFill>
            <a:srgbClr val="FFFFFF"/>
          </a:solidFill>
          <a:ln w="19050">
            <a:solidFill>
              <a:srgbClr val="FCD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4 practice_problem" descr="Practice Problem 2. model reasoning for C025"/>
          <p:cNvSpPr txBox="1"/>
          <p:nvPr/>
        </p:nvSpPr>
        <p:spPr>
          <a:xfrm>
            <a:off x="1097280" y="2377440"/>
            <a:ext cx="9997135" cy="1417320"/>
          </a:xfrm>
          <a:prstGeom prst="rect">
            <a:avLst/>
          </a:prstGeom>
          <a:noFill/>
        </p:spPr>
        <p:txBody>
          <a:bodyPr wrap="square">
            <a:spAutoFit/>
          </a:bodyPr>
          <a:lstStyle/>
          <a:p>
            <a:pPr>
              <a:defRPr sz="1500" b="0">
                <a:solidFill>
                  <a:srgbClr val="0F172A"/>
                </a:solidFill>
                <a:latin typeface="Segoe UI"/>
              </a:defRPr>
            </a:pPr>
            <a:r>
              <a:t>Practice Problem 2: Contrast the physiological advantages and energetic costs of the C3 photosynthetic pathway with the C4 dicarboxylic acid pathway in arid environments.</a:t>
            </a:r>
          </a:p>
        </p:txBody>
      </p:sp>
      <p:sp>
        <p:nvSpPr>
          <p:cNvPr id="8" name="S024 practice_problem" descr="Practice Problem 2. model reasoning for C025"/>
          <p:cNvSpPr/>
          <p:nvPr/>
        </p:nvSpPr>
        <p:spPr>
          <a:xfrm>
            <a:off x="731520" y="4069079"/>
            <a:ext cx="5181447" cy="1371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024 practice_problem" descr="Practice Problem 2. model reasoning for C025"/>
          <p:cNvSpPr txBox="1"/>
          <p:nvPr/>
        </p:nvSpPr>
        <p:spPr>
          <a:xfrm>
            <a:off x="1005840" y="4206239"/>
            <a:ext cx="4632807" cy="1097280"/>
          </a:xfrm>
          <a:prstGeom prst="rect">
            <a:avLst/>
          </a:prstGeom>
          <a:noFill/>
        </p:spPr>
        <p:txBody>
          <a:bodyPr wrap="square">
            <a:spAutoFit/>
          </a:bodyPr>
          <a:lstStyle/>
          <a:p>
            <a:pPr>
              <a:defRPr sz="1500" b="1">
                <a:solidFill>
                  <a:srgbClr val="0284C7"/>
                </a:solidFill>
                <a:latin typeface="Segoe UI"/>
              </a:defRPr>
            </a:pPr>
            <a:r>
              <a:t>C3</a:t>
            </a:r>
          </a:p>
          <a:p>
            <a:pPr>
              <a:spcBef>
                <a:spcPts val="800"/>
              </a:spcBef>
              <a:defRPr sz="1300" b="0">
                <a:solidFill>
                  <a:srgbClr val="0F172A"/>
                </a:solidFill>
                <a:latin typeface="Segoe UI"/>
              </a:defRPr>
            </a:pPr>
            <a:r>
              <a:t>— class response —</a:t>
            </a:r>
          </a:p>
        </p:txBody>
      </p:sp>
      <p:sp>
        <p:nvSpPr>
          <p:cNvPr id="10" name="S024 practice_problem" descr="Practice Problem 2. model reasoning for C025"/>
          <p:cNvSpPr/>
          <p:nvPr/>
        </p:nvSpPr>
        <p:spPr>
          <a:xfrm>
            <a:off x="6278727" y="4069079"/>
            <a:ext cx="5181447" cy="1371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024 practice_problem" descr="Practice Problem 2. model reasoning for C025"/>
          <p:cNvSpPr txBox="1"/>
          <p:nvPr/>
        </p:nvSpPr>
        <p:spPr>
          <a:xfrm>
            <a:off x="6553047" y="4206239"/>
            <a:ext cx="4632807" cy="1097280"/>
          </a:xfrm>
          <a:prstGeom prst="rect">
            <a:avLst/>
          </a:prstGeom>
          <a:noFill/>
        </p:spPr>
        <p:txBody>
          <a:bodyPr wrap="square">
            <a:spAutoFit/>
          </a:bodyPr>
          <a:lstStyle/>
          <a:p>
            <a:pPr>
              <a:defRPr sz="1500" b="1">
                <a:solidFill>
                  <a:srgbClr val="0284C7"/>
                </a:solidFill>
                <a:latin typeface="Segoe UI"/>
              </a:defRPr>
            </a:pPr>
            <a:r>
              <a:t>C4</a:t>
            </a:r>
          </a:p>
          <a:p>
            <a:pPr>
              <a:spcBef>
                <a:spcPts val="800"/>
              </a:spcBef>
              <a:defRPr sz="1300" b="0">
                <a:solidFill>
                  <a:srgbClr val="0F172A"/>
                </a:solidFill>
                <a:latin typeface="Segoe UI"/>
              </a:defRPr>
            </a:pPr>
            <a:r>
              <a:t>— class response —</a:t>
            </a:r>
          </a:p>
        </p:txBody>
      </p:sp>
      <p:sp>
        <p:nvSpPr>
          <p:cNvPr id="12" name="S024 practice_problem" descr="Practice Problem 2. model reasoning for C025"/>
          <p:cNvSpPr txBox="1"/>
          <p:nvPr/>
        </p:nvSpPr>
        <p:spPr>
          <a:xfrm>
            <a:off x="731520" y="5486399"/>
            <a:ext cx="10728655" cy="365760"/>
          </a:xfrm>
          <a:prstGeom prst="rect">
            <a:avLst/>
          </a:prstGeom>
          <a:noFill/>
        </p:spPr>
        <p:txBody>
          <a:bodyPr wrap="square">
            <a:spAutoFit/>
          </a:bodyPr>
          <a:lstStyle/>
          <a:p>
            <a:pPr>
              <a:defRPr sz="1100" b="0">
                <a:solidFill>
                  <a:srgbClr val="94A3B8"/>
                </a:solidFill>
                <a:latin typeface="Segoe UI"/>
              </a:defRPr>
            </a:pPr>
            <a:r>
              <a:t>Complete each cell from the lesson; no invented facts.</a:t>
            </a:r>
          </a:p>
        </p:txBody>
      </p:sp>
      <p:sp>
        <p:nvSpPr>
          <p:cNvPr id="13" name="S024 practice_problem" descr="Practice Problem 2. model reasoning for C025"/>
          <p:cNvSpPr txBox="1"/>
          <p:nvPr/>
        </p:nvSpPr>
        <p:spPr>
          <a:xfrm>
            <a:off x="731520" y="6217920"/>
            <a:ext cx="10728655" cy="365760"/>
          </a:xfrm>
          <a:prstGeom prst="rect">
            <a:avLst/>
          </a:prstGeom>
          <a:noFill/>
        </p:spPr>
        <p:txBody>
          <a:bodyPr wrap="square">
            <a:spAutoFit/>
          </a:bodyPr>
          <a:lstStyle/>
          <a:p>
            <a:pPr>
              <a:defRPr sz="1200" b="1">
                <a:solidFill>
                  <a:srgbClr val="0284C7"/>
                </a:solidFill>
                <a:latin typeface="Segoe UI"/>
              </a:defRPr>
            </a:pPr>
            <a:r>
              <a:t>Guided: complete the missing step, then verify.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5 data_table" descr="Quantitative Experimental Data: Action Spectrum vs Absorption Spectrum. coordinate explanation + visual for C026"/>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5 data_table" descr="Quantitative Experimental Data: Action Spectrum vs Absorption Spectrum. coordinate explanation + visual for C026"/>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DATA TABLE</a:t>
            </a:r>
          </a:p>
        </p:txBody>
      </p:sp>
      <p:sp>
        <p:nvSpPr>
          <p:cNvPr id="4" name="S025 data_table" descr="Quantitative Experimental Data: Action Spectrum vs Absorption Spectrum. coordinate explanation + visual for C026"/>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Quantitative Experimental Data: Action Spectrum vs Absorption Spectrum</a:t>
            </a:r>
          </a:p>
          <a:p>
            <a:pPr>
              <a:spcBef>
                <a:spcPts val="400"/>
              </a:spcBef>
              <a:defRPr sz="1400">
                <a:solidFill>
                  <a:srgbClr val="475569"/>
                </a:solidFill>
                <a:latin typeface="Segoe UI"/>
              </a:defRPr>
            </a:pPr>
            <a:r>
              <a:t>Quantitative Experimental Data: Action Spectrum vs Absorption Spectrum</a:t>
            </a:r>
          </a:p>
        </p:txBody>
      </p:sp>
      <p:graphicFrame>
        <p:nvGraphicFramePr>
          <p:cNvPr id="5" name="Table 4"/>
          <p:cNvGraphicFramePr>
            <a:graphicFrameLocks noGrp="1"/>
          </p:cNvGraphicFramePr>
          <p:nvPr/>
        </p:nvGraphicFramePr>
        <p:xfrm>
          <a:off x="731520" y="1920240"/>
          <a:ext cx="10728655" cy="4114800"/>
        </p:xfrm>
        <a:graphic>
          <a:graphicData uri="http://schemas.openxmlformats.org/drawingml/2006/table">
            <a:tbl>
              <a:tblPr firstRow="1" bandRow="1">
                <a:tableStyleId>{5C22544A-7EE6-4342-B048-85BDC9FD1C3A}</a:tableStyleId>
              </a:tblPr>
              <a:tblGrid>
                <a:gridCol w="2682163"/>
                <a:gridCol w="2682163"/>
                <a:gridCol w="2682163"/>
                <a:gridCol w="2682166"/>
              </a:tblGrid>
              <a:tr h="1028700">
                <a:tc>
                  <a:txBody>
                    <a:bodyPr/>
                    <a:lstStyle/>
                    <a:p>
                      <a:pPr algn="ctr">
                        <a:defRPr sz="1500" b="1">
                          <a:solidFill>
                            <a:srgbClr val="FFFFFF"/>
                          </a:solidFill>
                          <a:latin typeface="Segoe UI"/>
                        </a:defRPr>
                      </a:pPr>
                      <a:r>
                        <a:t>Pigment Component</a:t>
                      </a:r>
                    </a:p>
                  </a:txBody>
                  <a:tcPr>
                    <a:solidFill>
                      <a:srgbClr val="0284C7"/>
                    </a:solidFill>
                  </a:tcPr>
                </a:tc>
                <a:tc>
                  <a:txBody>
                    <a:bodyPr/>
                    <a:lstStyle/>
                    <a:p>
                      <a:pPr algn="ctr">
                        <a:defRPr sz="1500" b="1">
                          <a:solidFill>
                            <a:srgbClr val="FFFFFF"/>
                          </a:solidFill>
                          <a:latin typeface="Segoe UI"/>
                        </a:defRPr>
                      </a:pPr>
                      <a:r>
                        <a:t>Peak Absorption Blue (nm)</a:t>
                      </a:r>
                    </a:p>
                  </a:txBody>
                  <a:tcPr>
                    <a:solidFill>
                      <a:srgbClr val="0284C7"/>
                    </a:solidFill>
                  </a:tcPr>
                </a:tc>
                <a:tc>
                  <a:txBody>
                    <a:bodyPr/>
                    <a:lstStyle/>
                    <a:p>
                      <a:pPr algn="ctr">
                        <a:defRPr sz="1500" b="1">
                          <a:solidFill>
                            <a:srgbClr val="FFFFFF"/>
                          </a:solidFill>
                          <a:latin typeface="Segoe UI"/>
                        </a:defRPr>
                      </a:pPr>
                      <a:r>
                        <a:t>Peak Absorption Red (nm)</a:t>
                      </a:r>
                    </a:p>
                  </a:txBody>
                  <a:tcPr>
                    <a:solidFill>
                      <a:srgbClr val="0284C7"/>
                    </a:solidFill>
                  </a:tcPr>
                </a:tc>
                <a:tc>
                  <a:txBody>
                    <a:bodyPr/>
                    <a:lstStyle/>
                    <a:p>
                      <a:pPr algn="ctr">
                        <a:defRPr sz="1500" b="1">
                          <a:solidFill>
                            <a:srgbClr val="FFFFFF"/>
                          </a:solidFill>
                          <a:latin typeface="Segoe UI"/>
                        </a:defRPr>
                      </a:pPr>
                      <a:r>
                        <a:t>Relative Abundance (%)</a:t>
                      </a:r>
                    </a:p>
                  </a:txBody>
                  <a:tcPr>
                    <a:solidFill>
                      <a:srgbClr val="0284C7"/>
                    </a:solidFill>
                  </a:tcPr>
                </a:tc>
              </a:tr>
              <a:tr h="1028700">
                <a:tc>
                  <a:txBody>
                    <a:bodyPr/>
                    <a:lstStyle/>
                    <a:p>
                      <a:pPr>
                        <a:defRPr sz="1400">
                          <a:solidFill>
                            <a:srgbClr val="0F172A"/>
                          </a:solidFill>
                          <a:latin typeface="Segoe UI"/>
                        </a:defRPr>
                      </a:pPr>
                      <a:r>
                        <a:t>Chlorophyll a</a:t>
                      </a:r>
                    </a:p>
                  </a:txBody>
                  <a:tcPr>
                    <a:solidFill>
                      <a:srgbClr val="F8FAFC"/>
                    </a:solidFill>
                  </a:tcPr>
                </a:tc>
                <a:tc>
                  <a:txBody>
                    <a:bodyPr/>
                    <a:lstStyle/>
                    <a:p>
                      <a:pPr>
                        <a:defRPr sz="1400">
                          <a:solidFill>
                            <a:srgbClr val="0F172A"/>
                          </a:solidFill>
                          <a:latin typeface="Segoe UI"/>
                        </a:defRPr>
                      </a:pPr>
                      <a:r>
                        <a:t>430</a:t>
                      </a:r>
                    </a:p>
                  </a:txBody>
                  <a:tcPr>
                    <a:solidFill>
                      <a:srgbClr val="F8FAFC"/>
                    </a:solidFill>
                  </a:tcPr>
                </a:tc>
                <a:tc>
                  <a:txBody>
                    <a:bodyPr/>
                    <a:lstStyle/>
                    <a:p>
                      <a:pPr>
                        <a:defRPr sz="1400">
                          <a:solidFill>
                            <a:srgbClr val="0F172A"/>
                          </a:solidFill>
                          <a:latin typeface="Segoe UI"/>
                        </a:defRPr>
                      </a:pPr>
                      <a:r>
                        <a:t>662</a:t>
                      </a:r>
                    </a:p>
                  </a:txBody>
                  <a:tcPr>
                    <a:solidFill>
                      <a:srgbClr val="F8FAFC"/>
                    </a:solidFill>
                  </a:tcPr>
                </a:tc>
                <a:tc>
                  <a:txBody>
                    <a:bodyPr/>
                    <a:lstStyle/>
                    <a:p>
                      <a:pPr>
                        <a:defRPr sz="1400">
                          <a:solidFill>
                            <a:srgbClr val="0F172A"/>
                          </a:solidFill>
                          <a:latin typeface="Segoe UI"/>
                        </a:defRPr>
                      </a:pPr>
                      <a:r>
                        <a:t>65</a:t>
                      </a:r>
                    </a:p>
                  </a:txBody>
                  <a:tcPr>
                    <a:solidFill>
                      <a:srgbClr val="F8FAFC"/>
                    </a:solidFill>
                  </a:tcPr>
                </a:tc>
              </a:tr>
              <a:tr h="1028700">
                <a:tc>
                  <a:txBody>
                    <a:bodyPr/>
                    <a:lstStyle/>
                    <a:p>
                      <a:pPr>
                        <a:defRPr sz="1400">
                          <a:solidFill>
                            <a:srgbClr val="0F172A"/>
                          </a:solidFill>
                          <a:latin typeface="Segoe UI"/>
                        </a:defRPr>
                      </a:pPr>
                      <a:r>
                        <a:t>Chlorophyll b</a:t>
                      </a:r>
                    </a:p>
                  </a:txBody>
                  <a:tcPr>
                    <a:solidFill>
                      <a:srgbClr val="FFFFFF"/>
                    </a:solidFill>
                  </a:tcPr>
                </a:tc>
                <a:tc>
                  <a:txBody>
                    <a:bodyPr/>
                    <a:lstStyle/>
                    <a:p>
                      <a:pPr>
                        <a:defRPr sz="1400">
                          <a:solidFill>
                            <a:srgbClr val="0F172A"/>
                          </a:solidFill>
                          <a:latin typeface="Segoe UI"/>
                        </a:defRPr>
                      </a:pPr>
                      <a:r>
                        <a:t>453</a:t>
                      </a:r>
                    </a:p>
                  </a:txBody>
                  <a:tcPr>
                    <a:solidFill>
                      <a:srgbClr val="FFFFFF"/>
                    </a:solidFill>
                  </a:tcPr>
                </a:tc>
                <a:tc>
                  <a:txBody>
                    <a:bodyPr/>
                    <a:lstStyle/>
                    <a:p>
                      <a:pPr>
                        <a:defRPr sz="1400">
                          <a:solidFill>
                            <a:srgbClr val="0F172A"/>
                          </a:solidFill>
                          <a:latin typeface="Segoe UI"/>
                        </a:defRPr>
                      </a:pPr>
                      <a:r>
                        <a:t>642</a:t>
                      </a:r>
                    </a:p>
                  </a:txBody>
                  <a:tcPr>
                    <a:solidFill>
                      <a:srgbClr val="FFFFFF"/>
                    </a:solidFill>
                  </a:tcPr>
                </a:tc>
                <a:tc>
                  <a:txBody>
                    <a:bodyPr/>
                    <a:lstStyle/>
                    <a:p>
                      <a:pPr>
                        <a:defRPr sz="1400">
                          <a:solidFill>
                            <a:srgbClr val="0F172A"/>
                          </a:solidFill>
                          <a:latin typeface="Segoe UI"/>
                        </a:defRPr>
                      </a:pPr>
                      <a:r>
                        <a:t>25</a:t>
                      </a:r>
                    </a:p>
                  </a:txBody>
                  <a:tcPr>
                    <a:solidFill>
                      <a:srgbClr val="FFFFFF"/>
                    </a:solidFill>
                  </a:tcPr>
                </a:tc>
              </a:tr>
              <a:tr h="1028700">
                <a:tc>
                  <a:txBody>
                    <a:bodyPr/>
                    <a:lstStyle/>
                    <a:p>
                      <a:pPr>
                        <a:defRPr sz="1400">
                          <a:solidFill>
                            <a:srgbClr val="0F172A"/>
                          </a:solidFill>
                          <a:latin typeface="Segoe UI"/>
                        </a:defRPr>
                      </a:pPr>
                      <a:r>
                        <a:t>Carotenoids (Lutein &amp; β-Carotene)</a:t>
                      </a:r>
                    </a:p>
                  </a:txBody>
                  <a:tcPr>
                    <a:solidFill>
                      <a:srgbClr val="F8FAFC"/>
                    </a:solidFill>
                  </a:tcPr>
                </a:tc>
                <a:tc>
                  <a:txBody>
                    <a:bodyPr/>
                    <a:lstStyle/>
                    <a:p>
                      <a:pPr>
                        <a:defRPr sz="1400">
                          <a:solidFill>
                            <a:srgbClr val="0F172A"/>
                          </a:solidFill>
                          <a:latin typeface="Segoe UI"/>
                        </a:defRPr>
                      </a:pPr>
                      <a:r>
                        <a:t>445</a:t>
                      </a:r>
                    </a:p>
                  </a:txBody>
                  <a:tcPr>
                    <a:solidFill>
                      <a:srgbClr val="F8FAFC"/>
                    </a:solidFill>
                  </a:tcPr>
                </a:tc>
                <a:tc>
                  <a:txBody>
                    <a:bodyPr/>
                    <a:lstStyle/>
                    <a:p>
                      <a:pPr>
                        <a:defRPr sz="1400">
                          <a:solidFill>
                            <a:srgbClr val="0F172A"/>
                          </a:solidFill>
                          <a:latin typeface="Segoe UI"/>
                        </a:defRPr>
                      </a:pPr>
                      <a:r>
                        <a:t>None</a:t>
                      </a:r>
                    </a:p>
                  </a:txBody>
                  <a:tcPr>
                    <a:solidFill>
                      <a:srgbClr val="F8FAFC"/>
                    </a:solidFill>
                  </a:tcPr>
                </a:tc>
                <a:tc>
                  <a:txBody>
                    <a:bodyPr/>
                    <a:lstStyle/>
                    <a:p>
                      <a:pPr>
                        <a:defRPr sz="1400">
                          <a:solidFill>
                            <a:srgbClr val="0F172A"/>
                          </a:solidFill>
                          <a:latin typeface="Segoe UI"/>
                        </a:defRPr>
                      </a:pPr>
                      <a:r>
                        <a:t>10</a:t>
                      </a:r>
                    </a:p>
                  </a:txBody>
                  <a:tcP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6 retrieval" descr="Revisit: Introduction and Big Picture. revisit the earliest important idea in a new context"/>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6 retrieval" descr="Revisit: Introduction and Big Picture. revisit the earliest important idea in a new context"/>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6 retrieval" descr="Revisit: Introduction and Big Picture. revisit the earliest important idea in a new context"/>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Revisit: Introduction and Big Picture</a:t>
            </a:r>
          </a:p>
          <a:p>
            <a:pPr>
              <a:spcBef>
                <a:spcPts val="400"/>
              </a:spcBef>
              <a:defRPr sz="1400">
                <a:solidFill>
                  <a:srgbClr val="475569"/>
                </a:solidFill>
                <a:latin typeface="Segoe UI"/>
              </a:defRPr>
            </a:pPr>
            <a:r>
              <a:t>Introduction and Big Picture</a:t>
            </a:r>
          </a:p>
        </p:txBody>
      </p:sp>
      <p:sp>
        <p:nvSpPr>
          <p:cNvPr id="5" name="S026 retrieval" descr="Revisit: Introduction and Big Picture. revisit the earliest important idea in a new context"/>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26 retrieval" descr="Revisit: Introduction and Big Picture. revisit the earliest important idea in a new context"/>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6 retrieval" descr="Revisit: Introduction and Big Picture. revisit the earliest important idea in a new context"/>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Come back to Introduction and Big Picture now: state it again in your own words.</a:t>
            </a:r>
          </a:p>
        </p:txBody>
      </p:sp>
      <p:sp>
        <p:nvSpPr>
          <p:cNvPr id="8" name="S026 retrieval" descr="Revisit: Introduction and Big Picture. revisit the earliest important idea in a new context"/>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7 big_picture" descr="Key Takeaways. consolidate golden rules"/>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7 big_picture" descr="Key Takeaways. consolidate golden rules"/>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SYNTHESIS</a:t>
            </a:r>
          </a:p>
        </p:txBody>
      </p:sp>
      <p:sp>
        <p:nvSpPr>
          <p:cNvPr id="4" name="S027 big_picture" descr="Key Takeaways. consolidate golden rules"/>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Key Takeaways</a:t>
            </a:r>
          </a:p>
          <a:p>
            <a:pPr>
              <a:spcBef>
                <a:spcPts val="400"/>
              </a:spcBef>
              <a:defRPr sz="1400">
                <a:solidFill>
                  <a:srgbClr val="475569"/>
                </a:solidFill>
                <a:latin typeface="Segoe UI"/>
              </a:defRPr>
            </a:pPr>
            <a:r>
              <a:t>Chapter 4: Photosynthesis and the Transformation of Energy</a:t>
            </a:r>
          </a:p>
        </p:txBody>
      </p:sp>
      <p:sp>
        <p:nvSpPr>
          <p:cNvPr id="5" name="S027 big_picture" descr="Key Takeaways. consolidate golden rules"/>
          <p:cNvSpPr/>
          <p:nvPr/>
        </p:nvSpPr>
        <p:spPr>
          <a:xfrm>
            <a:off x="5212080" y="3291840"/>
            <a:ext cx="1828800" cy="100584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Segoe UI"/>
              </a:defRPr>
            </a:pPr>
            <a:r>
              <a:t>Chapter 4: Photosynthesis and the Transformation of Energy</a:t>
            </a:r>
          </a:p>
        </p:txBody>
      </p:sp>
      <p:sp>
        <p:nvSpPr>
          <p:cNvPr id="6" name="S027 big_picture" descr="Key Takeaways. consolidate golden rules"/>
          <p:cNvSpPr/>
          <p:nvPr/>
        </p:nvSpPr>
        <p:spPr>
          <a:xfrm>
            <a:off x="914400" y="2103120"/>
            <a:ext cx="2926080" cy="1188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7 big_picture" descr="Key Takeaways. consolidate golden rules"/>
          <p:cNvSpPr txBox="1"/>
          <p:nvPr/>
        </p:nvSpPr>
        <p:spPr>
          <a:xfrm>
            <a:off x="1143000" y="2212848"/>
            <a:ext cx="2468880" cy="1005840"/>
          </a:xfrm>
          <a:prstGeom prst="rect">
            <a:avLst/>
          </a:prstGeom>
          <a:noFill/>
        </p:spPr>
        <p:txBody>
          <a:bodyPr wrap="square">
            <a:spAutoFit/>
          </a:bodyPr>
          <a:lstStyle/>
          <a:p>
            <a:pPr>
              <a:defRPr sz="1300" b="0">
                <a:solidFill>
                  <a:srgbClr val="0F172A"/>
                </a:solidFill>
                <a:latin typeface="Segoe UI"/>
              </a:defRPr>
            </a:pPr>
            <a:r>
              <a:t>Definition: Photosynthesis is the anabolic, endergonic biochemical process b</a:t>
            </a:r>
          </a:p>
        </p:txBody>
      </p:sp>
      <p:cxnSp>
        <p:nvCxnSpPr>
          <p:cNvPr id="8" name="S027 big_picture" descr="Key Takeaways. consolidate golden rules"/>
          <p:cNvCxnSpPr/>
          <p:nvPr/>
        </p:nvCxnSpPr>
        <p:spPr>
          <a:xfrm>
            <a:off x="2377440" y="2697480"/>
            <a:ext cx="3749040" cy="1097280"/>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9" name="S027 big_picture" descr="Key Takeaways. consolidate golden rules"/>
          <p:cNvSpPr/>
          <p:nvPr/>
        </p:nvSpPr>
        <p:spPr>
          <a:xfrm>
            <a:off x="8321040" y="2103120"/>
            <a:ext cx="2926080" cy="1188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027 big_picture" descr="Key Takeaways. consolidate golden rules"/>
          <p:cNvSpPr txBox="1"/>
          <p:nvPr/>
        </p:nvSpPr>
        <p:spPr>
          <a:xfrm>
            <a:off x="8549640" y="2212848"/>
            <a:ext cx="2468880" cy="1005840"/>
          </a:xfrm>
          <a:prstGeom prst="rect">
            <a:avLst/>
          </a:prstGeom>
          <a:noFill/>
        </p:spPr>
        <p:txBody>
          <a:bodyPr wrap="square">
            <a:spAutoFit/>
          </a:bodyPr>
          <a:lstStyle/>
          <a:p>
            <a:pPr>
              <a:defRPr sz="1300" b="0">
                <a:solidFill>
                  <a:srgbClr val="0F172A"/>
                </a:solidFill>
                <a:latin typeface="Segoe UI"/>
              </a:defRPr>
            </a:pPr>
            <a:r>
              <a:t>6CO₂ + 6H₂O + light energy → text</a:t>
            </a:r>
          </a:p>
        </p:txBody>
      </p:sp>
      <p:cxnSp>
        <p:nvCxnSpPr>
          <p:cNvPr id="11" name="S027 big_picture" descr="Key Takeaways. consolidate golden rules"/>
          <p:cNvCxnSpPr/>
          <p:nvPr/>
        </p:nvCxnSpPr>
        <p:spPr>
          <a:xfrm flipH="1">
            <a:off x="6126480" y="2697480"/>
            <a:ext cx="3657600" cy="1097280"/>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12" name="S027 big_picture" descr="Key Takeaways. consolidate golden rules"/>
          <p:cNvSpPr/>
          <p:nvPr/>
        </p:nvSpPr>
        <p:spPr>
          <a:xfrm>
            <a:off x="914400" y="4754880"/>
            <a:ext cx="2926080" cy="1188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027 big_picture" descr="Key Takeaways. consolidate golden rules"/>
          <p:cNvSpPr txBox="1"/>
          <p:nvPr/>
        </p:nvSpPr>
        <p:spPr>
          <a:xfrm>
            <a:off x="1143000" y="4864608"/>
            <a:ext cx="2468880" cy="1005840"/>
          </a:xfrm>
          <a:prstGeom prst="rect">
            <a:avLst/>
          </a:prstGeom>
          <a:noFill/>
        </p:spPr>
        <p:txBody>
          <a:bodyPr wrap="square">
            <a:spAutoFit/>
          </a:bodyPr>
          <a:lstStyle/>
          <a:p>
            <a:pPr>
              <a:defRPr sz="1300" b="0">
                <a:solidFill>
                  <a:srgbClr val="0F172A"/>
                </a:solidFill>
                <a:latin typeface="Segoe UI"/>
              </a:defRPr>
            </a:pPr>
            <a:r>
              <a:t>A researcher illuminates a suspension of Chlorella vulgaris with monochromatic</a:t>
            </a:r>
          </a:p>
        </p:txBody>
      </p:sp>
      <p:cxnSp>
        <p:nvCxnSpPr>
          <p:cNvPr id="14" name="S027 big_picture" descr="Key Takeaways. consolidate golden rules"/>
          <p:cNvCxnSpPr/>
          <p:nvPr/>
        </p:nvCxnSpPr>
        <p:spPr>
          <a:xfrm flipV="1">
            <a:off x="2377440" y="3794760"/>
            <a:ext cx="3749040" cy="1554480"/>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
        <p:nvSpPr>
          <p:cNvPr id="15" name="S027 big_picture" descr="Key Takeaways. consolidate golden rules"/>
          <p:cNvSpPr/>
          <p:nvPr/>
        </p:nvSpPr>
        <p:spPr>
          <a:xfrm>
            <a:off x="8321040" y="4754880"/>
            <a:ext cx="2926080" cy="11887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027 big_picture" descr="Key Takeaways. consolidate golden rules"/>
          <p:cNvSpPr txBox="1"/>
          <p:nvPr/>
        </p:nvSpPr>
        <p:spPr>
          <a:xfrm>
            <a:off x="8549640" y="4864608"/>
            <a:ext cx="2468880" cy="1005840"/>
          </a:xfrm>
          <a:prstGeom prst="rect">
            <a:avLst/>
          </a:prstGeom>
          <a:noFill/>
        </p:spPr>
        <p:txBody>
          <a:bodyPr wrap="square">
            <a:spAutoFit/>
          </a:bodyPr>
          <a:lstStyle/>
          <a:p>
            <a:pPr>
              <a:defRPr sz="1300" b="0">
                <a:solidFill>
                  <a:srgbClr val="0F172A"/>
                </a:solidFill>
                <a:latin typeface="Segoe UI"/>
              </a:defRPr>
            </a:pPr>
            <a:r>
              <a:t>Step 1: Determine the ratio of oxygen evolution to photon absorption: textMo</a:t>
            </a:r>
          </a:p>
        </p:txBody>
      </p:sp>
      <p:cxnSp>
        <p:nvCxnSpPr>
          <p:cNvPr id="17" name="S027 big_picture" descr="Key Takeaways. consolidate golden rules"/>
          <p:cNvCxnSpPr/>
          <p:nvPr/>
        </p:nvCxnSpPr>
        <p:spPr>
          <a:xfrm flipH="1" flipV="1">
            <a:off x="6126480" y="3794760"/>
            <a:ext cx="3657600" cy="1554480"/>
          </a:xfrm>
          <a:prstGeom prst="line">
            <a:avLst/>
          </a:prstGeom>
          <a:ln w="25400">
            <a:solidFill>
              <a:srgbClr val="0284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animEffect transition="in" filter="fade">
                                <p:cBhvr>
                                  <p:cTn id="5" dur="400"/>
                                  <p:tgtEl>
                                    <p:spTgt spid="5"/>
                                  </p:tgtEl>
                                </p:cBhvr>
                              </p:animEffect>
                            </p:childTnLst>
                          </p:cTn>
                        </p:par>
                      </p:childTnLst>
                    </p:cTn>
                  </p:par>
                  <p:par>
                    <p:cTn id="6" fill="hold">
                      <p:stCondLst>
                        <p:cond delay="0"/>
                      </p:stCondLst>
                      <p:childTnLst>
                        <p:par>
                          <p:cTn id="7" fill="hold">
                            <p:stCondLst>
                              <p:cond delay="0"/>
                            </p:stCondLst>
                            <p:childTnLst>
                              <p:animEffect transition="in" filter="fade">
                                <p:cBhvr>
                                  <p:cTn id="8" dur="400"/>
                                  <p:tgtEl>
                                    <p:spTgt spid="6"/>
                                  </p:tgtEl>
                                </p:cBhvr>
                              </p:animEffect>
                            </p:childTnLst>
                          </p:cTn>
                        </p:par>
                      </p:childTnLst>
                    </p:cTn>
                  </p:par>
                  <p:par>
                    <p:cTn id="9" fill="hold">
                      <p:stCondLst>
                        <p:cond delay="0"/>
                      </p:stCondLst>
                      <p:childTnLst>
                        <p:par>
                          <p:cTn id="10" fill="hold">
                            <p:stCondLst>
                              <p:cond delay="0"/>
                            </p:stCondLst>
                            <p:childTnLst>
                              <p:animEffect transition="in" filter="fade">
                                <p:cBhvr>
                                  <p:cTn id="11" dur="400"/>
                                  <p:tgtEl>
                                    <p:spTgt spid="9"/>
                                  </p:tgtEl>
                                </p:cBhvr>
                              </p:animEffect>
                            </p:childTnLst>
                          </p:cTn>
                        </p:par>
                      </p:childTnLst>
                    </p:cTn>
                  </p:par>
                  <p:par>
                    <p:cTn id="12" fill="hold">
                      <p:stCondLst>
                        <p:cond delay="0"/>
                      </p:stCondLst>
                      <p:childTnLst>
                        <p:par>
                          <p:cTn id="13" fill="hold">
                            <p:stCondLst>
                              <p:cond delay="0"/>
                            </p:stCondLst>
                            <p:childTnLst>
                              <p:animEffect transition="in" filter="fade">
                                <p:cBhvr>
                                  <p:cTn id="14" dur="400"/>
                                  <p:tgtEl>
                                    <p:spTgt spid="12"/>
                                  </p:tgtEl>
                                </p:cBhvr>
                              </p:animEffect>
                            </p:childTnLst>
                          </p:cTn>
                        </p:par>
                      </p:childTnLst>
                    </p:cTn>
                  </p:par>
                  <p:par>
                    <p:cTn id="15" fill="hold">
                      <p:stCondLst>
                        <p:cond delay="0"/>
                      </p:stCondLst>
                      <p:childTnLst>
                        <p:par>
                          <p:cTn id="16" fill="hold">
                            <p:stCondLst>
                              <p:cond delay="0"/>
                            </p:stCondLst>
                            <p:childTnLst>
                              <p:animEffect transition="in" filter="fade">
                                <p:cBhvr>
                                  <p:cTn id="17" dur="400"/>
                                  <p:tgtEl>
                                    <p:spTgt spid="1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sOne"/>
      <p:bldP spid="6" grpId="0" build="asOne"/>
      <p:bldP spid="9" grpId="0" build="asOne"/>
      <p:bldP spid="12" grpId="0" build="asOne"/>
      <p:bldP spid="15" grpId="0" build="asOne"/>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8 retrieval" descr="Check: Quantitative Experimental Data: Action Spectrum vs Absorption Spectrum. Assess: Interpret the data in Quantitative Experimental Data: Action Spectrum vs Absorpt"/>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8 retrieval" descr="Check: Quantitative Experimental Data: Action Spectrum vs Absorption Spectrum. Assess: Interpret the data in Quantitative Experimental Data: Action Spectrum vs Absorpt"/>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QUESTION</a:t>
            </a:r>
          </a:p>
        </p:txBody>
      </p:sp>
      <p:sp>
        <p:nvSpPr>
          <p:cNvPr id="4" name="S028 retrieval" descr="Check: Quantitative Experimental Data: Action Spectrum vs Absorption Spectrum. Assess: Interpret the data in Quantitative Experimental Data: Action Spectrum vs Absorpt"/>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Check: Quantitative Experimental Data: Action Spectrum vs Absorption Spectrum</a:t>
            </a:r>
          </a:p>
          <a:p>
            <a:pPr>
              <a:spcBef>
                <a:spcPts val="400"/>
              </a:spcBef>
              <a:defRPr sz="1400">
                <a:solidFill>
                  <a:srgbClr val="475569"/>
                </a:solidFill>
                <a:latin typeface="Segoe UI"/>
              </a:defRPr>
            </a:pPr>
            <a:r>
              <a:t>Check: Quantitative Experimental Data: Action Spectrum vs Absorption Spectrum</a:t>
            </a:r>
          </a:p>
        </p:txBody>
      </p:sp>
      <p:sp>
        <p:nvSpPr>
          <p:cNvPr id="5" name="S028 retrieval" descr="Check: Quantitative Experimental Data: Action Spectrum vs Absorption Spectrum. Assess: Interpret the data in Quantitative Experimental Data: Action Spectrum vs Absorpt"/>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28 retrieval" descr="Check: Quantitative Experimental Data: Action Spectrum vs Absorption Spectrum. Assess: Interpret the data in Quantitative Experimental Data: Action Spectrum vs Absorpt"/>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8 retrieval" descr="Check: Quantitative Experimental Data: Action Spectrum vs Absorption Spectrum. Assess: Interpret the data in Quantitative Experimental Data: Action Spectrum vs Absorpt"/>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Interpret the data in Quantitative Experimental Data: Action Spectrum vs Absorption Spectrum.</a:t>
            </a:r>
          </a:p>
        </p:txBody>
      </p:sp>
      <p:sp>
        <p:nvSpPr>
          <p:cNvPr id="8" name="S028 retrieval" descr="Check: Quantitative Experimental Data: Action Spectrum vs Absorption Spectrum. Assess: Interpret the data in Quantitative Experimental Data: Action Spectrum vs Absorpt"/>
          <p:cNvSpPr txBox="1"/>
          <p:nvPr/>
        </p:nvSpPr>
        <p:spPr>
          <a:xfrm>
            <a:off x="731520" y="3840480"/>
            <a:ext cx="10728655" cy="1463040"/>
          </a:xfrm>
          <a:prstGeom prst="rect">
            <a:avLst/>
          </a:prstGeom>
          <a:noFill/>
        </p:spPr>
        <p:txBody>
          <a:bodyPr wrap="square">
            <a:spAutoFit/>
          </a:bodyPr>
          <a:lstStyle/>
          <a:p>
            <a:pPr>
              <a:defRPr sz="1600" b="1">
                <a:solidFill>
                  <a:srgbClr val="0284C7"/>
                </a:solidFill>
                <a:latin typeface="Segoe UI"/>
              </a:defRPr>
            </a:pPr>
            <a:r>
              <a:t>Quiet thinking time: 30 seconds. Write before we reveal.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29 retrieval" descr="Headers — Quantitative Experimental Data: Action Spectrum vs Absorption Spectrum. Reveal locked answer for Q05"/>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29 retrieval" descr="Headers — Quantitative Experimental Data: Action Spectrum vs Absorption Spectrum. Reveal locked answer for Q05"/>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ANSWER &amp; SOLUTION</a:t>
            </a:r>
          </a:p>
        </p:txBody>
      </p:sp>
      <p:sp>
        <p:nvSpPr>
          <p:cNvPr id="4" name="S029 retrieval" descr="Headers — Quantitative Experimental Data: Action Spectrum vs Absorption Spectrum. Reveal locked answer for Q05"/>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Headers — Quantitative Experimental Data: Action Spectrum vs Absorption Spectrum</a:t>
            </a:r>
          </a:p>
          <a:p>
            <a:pPr>
              <a:spcBef>
                <a:spcPts val="400"/>
              </a:spcBef>
              <a:defRPr sz="1400">
                <a:solidFill>
                  <a:srgbClr val="475569"/>
                </a:solidFill>
                <a:latin typeface="Segoe UI"/>
              </a:defRPr>
            </a:pPr>
            <a:r>
              <a:t>Answer &amp; Explanation</a:t>
            </a:r>
          </a:p>
        </p:txBody>
      </p:sp>
      <p:sp>
        <p:nvSpPr>
          <p:cNvPr id="5" name="S029 retrieval" descr="Headers — Quantitative Experimental Data: Action Spectrum vs Absorption Spectrum. Reveal locked answer for Q05"/>
          <p:cNvSpPr/>
          <p:nvPr/>
        </p:nvSpPr>
        <p:spPr>
          <a:xfrm>
            <a:off x="731520" y="1783080"/>
            <a:ext cx="2011680" cy="310896"/>
          </a:xfrm>
          <a:prstGeom prst="roundRect">
            <a:avLst/>
          </a:prstGeom>
          <a:solidFill>
            <a:srgbClr val="E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284C7"/>
                </a:solidFill>
                <a:latin typeface="Segoe UI"/>
              </a:defRPr>
            </a:pPr>
            <a:r>
              <a:t>RETRIEVAL CHECK</a:t>
            </a:r>
          </a:p>
        </p:txBody>
      </p:sp>
      <p:sp>
        <p:nvSpPr>
          <p:cNvPr id="6" name="S029 retrieval" descr="Headers — Quantitative Experimental Data: Action Spectrum vs Absorption Spectrum. Reveal locked answer for Q05"/>
          <p:cNvSpPr/>
          <p:nvPr/>
        </p:nvSpPr>
        <p:spPr>
          <a:xfrm>
            <a:off x="731520" y="2148840"/>
            <a:ext cx="10728655" cy="1051560"/>
          </a:xfrm>
          <a:prstGeom prst="roundRect">
            <a:avLst/>
          </a:prstGeom>
          <a:solidFill>
            <a:srgbClr val="FFFFFF"/>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029 retrieval" descr="Headers — Quantitative Experimental Data: Action Spectrum vs Absorption Spectrum. Reveal locked answer for Q05"/>
          <p:cNvSpPr txBox="1"/>
          <p:nvPr/>
        </p:nvSpPr>
        <p:spPr>
          <a:xfrm>
            <a:off x="1097280" y="2286000"/>
            <a:ext cx="9997135" cy="868680"/>
          </a:xfrm>
          <a:prstGeom prst="rect">
            <a:avLst/>
          </a:prstGeom>
          <a:noFill/>
        </p:spPr>
        <p:txBody>
          <a:bodyPr wrap="square">
            <a:spAutoFit/>
          </a:bodyPr>
          <a:lstStyle/>
          <a:p>
            <a:pPr>
              <a:defRPr sz="1700" b="1">
                <a:solidFill>
                  <a:srgbClr val="0F172A"/>
                </a:solidFill>
                <a:latin typeface="Segoe UI"/>
              </a:defRPr>
            </a:pPr>
            <a:r>
              <a:t>Interpret the data in Quantitative Experimental Data: Action Spectrum vs Absorption Spectrum.</a:t>
            </a:r>
          </a:p>
        </p:txBody>
      </p:sp>
      <p:sp>
        <p:nvSpPr>
          <p:cNvPr id="8" name="S029 retrieval" descr="Headers — Quantitative Experimental Data: Action Spectrum vs Absorption Spectrum. Reveal locked answer for Q05"/>
          <p:cNvSpPr txBox="1"/>
          <p:nvPr/>
        </p:nvSpPr>
        <p:spPr>
          <a:xfrm>
            <a:off x="731520" y="3840480"/>
            <a:ext cx="10728655" cy="1463040"/>
          </a:xfrm>
          <a:prstGeom prst="rect">
            <a:avLst/>
          </a:prstGeom>
          <a:noFill/>
        </p:spPr>
        <p:txBody>
          <a:bodyPr wrap="square">
            <a:spAutoFit/>
          </a:bodyPr>
          <a:lstStyle/>
          <a:p>
            <a:pPr>
              <a:defRPr sz="1600" b="0">
                <a:solidFill>
                  <a:srgbClr val="0F172A"/>
                </a:solidFill>
                <a:latin typeface="Segoe UI"/>
              </a:defRPr>
            </a:pPr>
            <a:r>
              <a:t>Headers: Pigment Component, Peak Absorption Blue (nm), Peak Absorption Red (nm), Relative Abundance (%) Rows: Chlorophyll a, 430, 662, 65 Chlorophyll b, 453, 642, 25 Carotenoids (Lutein &amp; β-Carotene), 445, None, 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030 exit" descr="Exit Ticket. Rapid formative exit check"/>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030 exit" descr="Exit Ticket. Rapid formative exit check"/>
          <p:cNvSpPr/>
          <p:nvPr/>
        </p:nvSpPr>
        <p:spPr>
          <a:xfrm>
            <a:off x="731520" y="548640"/>
            <a:ext cx="2286000" cy="292608"/>
          </a:xfrm>
          <a:prstGeom prst="roundRect">
            <a:avLst/>
          </a:prstGeom>
          <a:solidFill>
            <a:srgbClr val="E0F2FE"/>
          </a:solidFill>
          <a:ln w="12700">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284C7"/>
                </a:solidFill>
                <a:latin typeface="Segoe UI"/>
              </a:defRPr>
            </a:pPr>
            <a:r>
              <a:t>REFLECTION</a:t>
            </a:r>
          </a:p>
        </p:txBody>
      </p:sp>
      <p:sp>
        <p:nvSpPr>
          <p:cNvPr id="4" name="S030 exit" descr="Exit Ticket. Rapid formative exit check"/>
          <p:cNvSpPr txBox="1"/>
          <p:nvPr/>
        </p:nvSpPr>
        <p:spPr>
          <a:xfrm>
            <a:off x="731520" y="896112"/>
            <a:ext cx="10728655" cy="594360"/>
          </a:xfrm>
          <a:prstGeom prst="rect">
            <a:avLst/>
          </a:prstGeom>
          <a:noFill/>
        </p:spPr>
        <p:txBody>
          <a:bodyPr wrap="square" lIns="0" tIns="0" rIns="0" bIns="0">
            <a:spAutoFit/>
          </a:bodyPr>
          <a:lstStyle/>
          <a:p>
            <a:pPr>
              <a:defRPr sz="2800" b="1">
                <a:solidFill>
                  <a:srgbClr val="0F172A"/>
                </a:solidFill>
                <a:latin typeface="Segoe UI"/>
              </a:defRPr>
            </a:pPr>
            <a:r>
              <a:t>Exit Ticket</a:t>
            </a:r>
          </a:p>
          <a:p>
            <a:pPr>
              <a:spcBef>
                <a:spcPts val="400"/>
              </a:spcBef>
              <a:defRPr sz="1400">
                <a:solidFill>
                  <a:srgbClr val="475569"/>
                </a:solidFill>
                <a:latin typeface="Segoe UI"/>
              </a:defRPr>
            </a:pPr>
            <a:r>
              <a:t>Exit Ticket</a:t>
            </a:r>
          </a:p>
        </p:txBody>
      </p:sp>
      <p:sp>
        <p:nvSpPr>
          <p:cNvPr id="5" name="S030 exit" descr="Exit Ticket. Rapid formative exit check"/>
          <p:cNvSpPr/>
          <p:nvPr/>
        </p:nvSpPr>
        <p:spPr>
          <a:xfrm>
            <a:off x="731520" y="2011680"/>
            <a:ext cx="5181447"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030 exit" descr="Exit Ticket. Rapid formative exit check"/>
          <p:cNvSpPr txBox="1"/>
          <p:nvPr/>
        </p:nvSpPr>
        <p:spPr>
          <a:xfrm>
            <a:off x="1097280" y="2377440"/>
            <a:ext cx="4449927" cy="3200400"/>
          </a:xfrm>
          <a:prstGeom prst="rect">
            <a:avLst/>
          </a:prstGeom>
          <a:noFill/>
        </p:spPr>
        <p:txBody>
          <a:bodyPr wrap="square">
            <a:spAutoFit/>
          </a:bodyPr>
          <a:lstStyle/>
          <a:p>
            <a:pPr>
              <a:defRPr sz="1800" b="1">
                <a:solidFill>
                  <a:srgbClr val="0F172A"/>
                </a:solidFill>
                <a:latin typeface="Segoe UI"/>
              </a:defRPr>
            </a:pPr>
            <a:r>
              <a:t>Most important concept from today?</a:t>
            </a:r>
          </a:p>
        </p:txBody>
      </p:sp>
      <p:sp>
        <p:nvSpPr>
          <p:cNvPr id="7" name="S030 exit" descr="Exit Ticket. Rapid formative exit check"/>
          <p:cNvSpPr/>
          <p:nvPr/>
        </p:nvSpPr>
        <p:spPr>
          <a:xfrm>
            <a:off x="6278727" y="2011680"/>
            <a:ext cx="5181447" cy="39319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030 exit" descr="Exit Ticket. Rapid formative exit check"/>
          <p:cNvSpPr txBox="1"/>
          <p:nvPr/>
        </p:nvSpPr>
        <p:spPr>
          <a:xfrm>
            <a:off x="6644487" y="2377440"/>
            <a:ext cx="4449927" cy="3200400"/>
          </a:xfrm>
          <a:prstGeom prst="rect">
            <a:avLst/>
          </a:prstGeom>
          <a:noFill/>
        </p:spPr>
        <p:txBody>
          <a:bodyPr wrap="square">
            <a:spAutoFit/>
          </a:bodyPr>
          <a:lstStyle/>
          <a:p>
            <a:pPr>
              <a:defRPr sz="1800" b="1">
                <a:solidFill>
                  <a:srgbClr val="0F172A"/>
                </a:solidFill>
                <a:latin typeface="Segoe UI"/>
              </a:defRPr>
            </a:pPr>
            <a:r>
              <a:t>One question you still have?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