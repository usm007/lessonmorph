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Explain conceptual content in Chapter 4: Photosynthesis and the Transformation of Energy.; Compare conceptual content in Chapter 4: Photosynthesis and the Transformation of Energy.</a:t>
            </a:r>
          </a:p>
          <a:p/>
          <a:p>
            <a:r>
              <a:t>ASK STUDENTS (ORAL CHECK):</a:t>
            </a:r>
          </a:p>
          <a:p>
            <a:r>
              <a:t>ask students to predict before revealing anything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Explain conceptual content in Chapter 4: Photosynthesis and the Transformation of Energy.; Compare conceptual content in Chapter 4: Photosynthesis and the Transformation of Energy.</a:t>
            </a:r>
          </a:p>
          <a:p/>
          <a:p>
            <a:r>
              <a:t>ASK STUDENTS (ORAL CHECK):</a:t>
            </a:r>
          </a:p>
          <a:p>
            <a:r>
              <a:t>elicit prior knowledge; cold-call one summary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Explain conceptual content in Chapter 4: Photosynthesis and the Transformation of Energy.; Compare conceptual content in Chapter 4: Photosynthesis and the Transformation of Energy.</a:t>
            </a:r>
          </a:p>
          <a:p/>
          <a:p>
            <a:r>
              <a:t>ASK STUDENTS (ORAL CHECK):</a:t>
            </a:r>
          </a:p>
          <a:p>
            <a:r>
              <a:t>read objectives aloud; ask which looks hardest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concept: Chapter 4: Photosynthesis and the Transformation of Energy</a:t>
            </a:r>
          </a:p>
          <a:p/>
          <a:p>
            <a:r>
              <a:t>ASK STUDENTS (ORAL CHECK):</a:t>
            </a:r>
          </a:p>
          <a:p>
            <a:r>
              <a:t>explain, then pause; ask 'why does this step follow?'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definition: Chapter 4: Photosynthesis and the Transformation of Energy</a:t>
            </a:r>
          </a:p>
          <a:p/>
          <a:p>
            <a:r>
              <a:t>ASK STUDENTS (ORAL CHECK):</a:t>
            </a:r>
          </a:p>
          <a:p>
            <a:r>
              <a:t>explain, then pause; ask 'why does this step follow?'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If the thylakoid membrane becomes permeable to protons due to a chemical ionophore, what is the immediate biochemical consequence?</a:t>
            </a:r>
          </a:p>
          <a:p/>
          <a:p>
            <a:r>
              <a:t>ASK STUDENTS (ORAL CHECK):</a:t>
            </a:r>
          </a:p>
          <a:p>
            <a:r>
              <a:t>Think time first; who can explain their reasoning?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Explain why each distractor fails.</a:t>
            </a:r>
          </a:p>
          <a:p/>
          <a:p>
            <a:r>
              <a:t>EMPHASIS / KEY POINT:</a:t>
            </a:r>
          </a:p>
          <a:p>
            <a:r>
              <a:t>Learning goal: If the thylakoid membrane becomes permeable to protons due to a chemical ionophore, what is the immediate biochemical consequence?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derivation: Chapter 4: Photosynthesis and the Transformation of Energy</a:t>
            </a:r>
          </a:p>
          <a:p/>
          <a:p>
            <a:r>
              <a:t>ASK STUDENTS (ORAL CHECK):</a:t>
            </a:r>
          </a:p>
          <a:p>
            <a:r>
              <a:t>explain, then pause; ask 'why does this step follow?'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mechanism: Chapter 4: Photosynthesis and the Transformation of Energy</a:t>
            </a:r>
          </a:p>
          <a:p/>
          <a:p>
            <a:r>
              <a:t>ASK STUDENTS (ORAL CHECK):</a:t>
            </a:r>
          </a:p>
          <a:p>
            <a:r>
              <a:t>explain, then pause; ask 'why does this step follow?'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8. Independent Practice and Exam-Style Problems</a:t>
            </a:r>
          </a:p>
          <a:p/>
          <a:p>
            <a:r>
              <a:t>ASK STUDENTS (ORAL CHECK):</a:t>
            </a:r>
          </a:p>
          <a:p>
            <a:r>
              <a:t>Think time first; who can explain their reasoning?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Explain why each distractor fails.</a:t>
            </a:r>
          </a:p>
          <a:p/>
          <a:p>
            <a:r>
              <a:t>EMPHASIS / KEY POINT:</a:t>
            </a:r>
          </a:p>
          <a:p>
            <a:r>
              <a:t>Learning goal: 8. Independent Practice and Exam-Style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calculation: Chapter 4: Photosynthesis and the Transformation of Energy</a:t>
            </a:r>
          </a:p>
          <a:p/>
          <a:p>
            <a:r>
              <a:t>ASK STUDENTS (ORAL CHECK):</a:t>
            </a:r>
          </a:p>
          <a:p>
            <a:r>
              <a:t>explain, then pause; ask 'why does this step follow?' — worked reasoning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Calculate (O03): 6CO₂ + 6H₂O + light energy → C₆H₁₂O₆ +</a:t>
            </a:r>
          </a:p>
          <a:p/>
          <a:p>
            <a:r>
              <a:t>ASK STUDENTS (ORAL CHECK):</a:t>
            </a:r>
          </a:p>
          <a:p>
            <a:r>
              <a:t>Think time first; who can explain their reasoning?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Explain why each distractor fails.</a:t>
            </a:r>
          </a:p>
          <a:p/>
          <a:p>
            <a:r>
              <a:t>EMPHASIS / KEY POINT:</a:t>
            </a:r>
          </a:p>
          <a:p>
            <a:r>
              <a:t>Learning goal: Calculate (O03): 6CO₂ + 6H₂O + light energy → C₆H₁₂O₆ 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misconception: Chapter 4: Photosynthesis and the Transformation of Energy</a:t>
            </a:r>
          </a:p>
          <a:p/>
          <a:p>
            <a:r>
              <a:t>ASK STUDENTS (ORAL CHECK):</a:t>
            </a:r>
          </a:p>
          <a:p>
            <a:r>
              <a:t>explain, then pause; ask 'why does this step follow?'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True or False: Definition: Photosynthesis is the anabolic, endergonic biochemical process by which ph</a:t>
            </a:r>
          </a:p>
          <a:p/>
          <a:p>
            <a:r>
              <a:t>ASK STUDENTS (ORAL CHECK):</a:t>
            </a:r>
          </a:p>
          <a:p>
            <a:r>
              <a:t>Think time first; who can explain their reasoning?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Explain why each distractor fails.</a:t>
            </a:r>
          </a:p>
          <a:p/>
          <a:p>
            <a:r>
              <a:t>EMPHASIS / KEY POINT:</a:t>
            </a:r>
          </a:p>
          <a:p>
            <a:r>
              <a:t>Learning goal: True or False: Definition: Photosynthesis is the anabolic, endergonic biochemical process by which 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retrieve Respiration is required continuously (24/7) to sustain baseline metabolic homeos; Cellular respiration occurs around the clock in all living plant tissues. The Ca from memory</a:t>
            </a:r>
          </a:p>
          <a:p/>
          <a:p>
            <a:r>
              <a:t>ASK STUDENTS (ORAL CHECK):</a:t>
            </a:r>
          </a:p>
          <a:p>
            <a:r>
              <a:t>hide the source slide; require recall, not recognition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experimental_data: Chapter 4: Photosynthesis and the Transformation of Energy</a:t>
            </a:r>
          </a:p>
          <a:p/>
          <a:p>
            <a:r>
              <a:t>ASK STUDENTS (ORAL CHECK):</a:t>
            </a:r>
          </a:p>
          <a:p>
            <a:r>
              <a:t>explain, then pause; ask 'why does this step follow?'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retrieve the data table; If the thylakoid membrane becomes permeable to protons due to a chemical ionopho from memory</a:t>
            </a:r>
          </a:p>
          <a:p/>
          <a:p>
            <a:r>
              <a:t>ASK STUDENTS (ORAL CHECK):</a:t>
            </a:r>
          </a:p>
          <a:p>
            <a:r>
              <a:t>hide the source slide; require recall, not recognition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process: apply the lesson</a:t>
            </a:r>
          </a:p>
          <a:p/>
          <a:p>
            <a:r>
              <a:t>ASK STUDENTS (ORAL CHECK):</a:t>
            </a:r>
          </a:p>
          <a:p>
            <a:r>
              <a:t>model the first step (I DO), let students attempt the next (WE DO) — Practice Problem 1: Trace the path of an electron extracted from water photolysis in Photosystem II until its terminal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comparison: apply the lesson</a:t>
            </a:r>
          </a:p>
          <a:p/>
          <a:p>
            <a:r>
              <a:t>ASK STUDENTS (ORAL CHECK):</a:t>
            </a:r>
          </a:p>
          <a:p>
            <a:r>
              <a:t>model the first step (I DO), let students attempt the next (WE DO) — Practice Problem 2: Contrast the physiological advantages and energetic costs of the C3 photosynthetic pathway with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retrieve Practice Problem 1: Trace the path of an electron extracted from water photolysi; Practice Problem 2: Contrast the physiological advantages and energetic costs of from memory</a:t>
            </a:r>
          </a:p>
          <a:p/>
          <a:p>
            <a:r>
              <a:t>ASK STUDENTS (ORAL CHECK):</a:t>
            </a:r>
          </a:p>
          <a:p>
            <a:r>
              <a:t>hide the source slide; require recall, not recognition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experimental_data: Chapter 4: Photosynthesis and the Transformation of Energy</a:t>
            </a:r>
          </a:p>
          <a:p/>
          <a:p>
            <a:r>
              <a:t>ASK STUDENTS (ORAL CHECK):</a:t>
            </a:r>
          </a:p>
          <a:p>
            <a:r>
              <a:t>pause before revealing each stage; ask what comes next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retrieve Introduction and Big Picture; Definition: Photosynthesis is the anabolic, endergonic biochemical process by wh from memory</a:t>
            </a:r>
          </a:p>
          <a:p/>
          <a:p>
            <a:r>
              <a:t>ASK STUDENTS (ORAL CHECK):</a:t>
            </a:r>
          </a:p>
          <a:p>
            <a:r>
              <a:t>revisit an earlier concept in a new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Explain conceptual content in Chapter 4: Photosynthesis and the Transformation of Energy.; Compare conceptual content in Chapter 4: Photosynthesis and the Transformation of Energy.</a:t>
            </a:r>
          </a:p>
          <a:p/>
          <a:p>
            <a:r>
              <a:t>ASK STUDENTS (ORAL CHECK):</a:t>
            </a:r>
          </a:p>
          <a:p>
            <a:r>
              <a:t>ask a student to teach back the golden rule — Chapter 4: Photosynthesis and the Transformation of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Identify (O05): Headers: Pigment Component, Peak Absorption Blue (nm), Peak Absorption Red (nm), Relative Abundance (%)</a:t>
            </a:r>
          </a:p>
          <a:p>
            <a:r>
              <a:t>Rows:</a:t>
            </a:r>
          </a:p>
          <a:p/>
          <a:p>
            <a:r>
              <a:t>ASK STUDENTS (ORAL CHECK):</a:t>
            </a:r>
          </a:p>
          <a:p>
            <a:r>
              <a:t>Think time first; who can explain their reasoning?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Explain why each distractor fails.</a:t>
            </a:r>
          </a:p>
          <a:p/>
          <a:p>
            <a:r>
              <a:t>EMPHASIS / KEY POINT:</a:t>
            </a:r>
          </a:p>
          <a:p>
            <a:r>
              <a:t>Learning goal: Identify (O05): Headers: Pigment Component, Peak Absorption Blue (nm), Peak Absorption Red (nm), Relative Abundance (%)</a:t>
            </a:r>
          </a:p>
          <a:p>
            <a:r>
              <a:t>Rows: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/ KEY POINT:</a:t>
            </a:r>
          </a:p>
          <a:p>
            <a:r>
              <a:t>Learning goal: surface one takeaway and one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1 title" descr="Chapter 4: Photosynthesis and the Transformation of Energy. create relevance and curiosity for the chapt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1 title" descr="Chapter 4: Photosynthesis and the Transformation of Energy. create relevance and curiosity for the chapter"/>
          <p:cNvSpPr/>
          <p:nvPr/>
        </p:nvSpPr>
        <p:spPr>
          <a:xfrm>
            <a:off x="1371600" y="1828800"/>
            <a:ext cx="25603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• BIOLOGY •</a:t>
            </a:r>
          </a:p>
        </p:txBody>
      </p:sp>
      <p:sp>
        <p:nvSpPr>
          <p:cNvPr id="4" name="S001 title" descr="Chapter 4: Photosynthesis and the Transformation of Energy. create relevance and curiosity for the chapter"/>
          <p:cNvSpPr txBox="1"/>
          <p:nvPr/>
        </p:nvSpPr>
        <p:spPr>
          <a:xfrm>
            <a:off x="1371600" y="237744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01 title" descr="Chapter 4: Photosynthesis and the Transformation of Energy. create relevance and curiosity for the chapter"/>
          <p:cNvSpPr/>
          <p:nvPr/>
        </p:nvSpPr>
        <p:spPr>
          <a:xfrm>
            <a:off x="1371600" y="5029200"/>
            <a:ext cx="41148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CLASSROOM-READY TEACHING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2 concept_card" descr="Chapter 4: Photosynthesis and the Transformation of Energy. activate prerequisites before new complexit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2 concept_card" descr="Chapter 4: Photosynthesis and the Transformation of Energy. activate prerequisites before new complexity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CONCEPT</a:t>
            </a:r>
          </a:p>
        </p:txBody>
      </p:sp>
      <p:sp>
        <p:nvSpPr>
          <p:cNvPr id="4" name="S002 concept_card" descr="Chapter 4: Photosynthesis and the Transformation of Energy. activate prerequisites before new complexity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02 concept_card" descr="Chapter 4: Photosynthesis and the Transformation of Energy. activate prerequisites before new complexity"/>
          <p:cNvSpPr/>
          <p:nvPr/>
        </p:nvSpPr>
        <p:spPr>
          <a:xfrm>
            <a:off x="731520" y="1920240"/>
            <a:ext cx="10728655" cy="18973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02 concept_card" descr="Chapter 4: Photosynthesis and the Transformation of Energy. activate prerequisites before new complexity"/>
          <p:cNvSpPr txBox="1"/>
          <p:nvPr/>
        </p:nvSpPr>
        <p:spPr>
          <a:xfrm>
            <a:off x="1371600" y="2029968"/>
            <a:ext cx="9814255" cy="167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200"/>
              </a:spcBef>
              <a:defRPr sz="1500" b="0">
                <a:solidFill>
                  <a:srgbClr val="0F172A"/>
                </a:solidFill>
                <a:latin typeface="Segoe UI"/>
              </a:defRPr>
            </a:pPr>
            <a:r>
              <a:t>Cell theory fundamentals</a:t>
            </a:r>
          </a:p>
        </p:txBody>
      </p:sp>
      <p:sp>
        <p:nvSpPr>
          <p:cNvPr id="7" name="S002 concept_card" descr="Chapter 4: Photosynthesis and the Transformation of Energy. activate prerequisites before new complexity"/>
          <p:cNvSpPr/>
          <p:nvPr/>
        </p:nvSpPr>
        <p:spPr>
          <a:xfrm>
            <a:off x="731520" y="4046220"/>
            <a:ext cx="10728655" cy="18973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02 concept_card" descr="Chapter 4: Photosynthesis and the Transformation of Energy. activate prerequisites before new complexity"/>
          <p:cNvSpPr txBox="1"/>
          <p:nvPr/>
        </p:nvSpPr>
        <p:spPr>
          <a:xfrm>
            <a:off x="1371600" y="4155948"/>
            <a:ext cx="9814255" cy="167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200"/>
              </a:spcBef>
              <a:defRPr sz="1500" b="0">
                <a:solidFill>
                  <a:srgbClr val="0F172A"/>
                </a:solidFill>
                <a:latin typeface="Segoe UI"/>
              </a:defRPr>
            </a:pPr>
            <a:r>
              <a:t>Basic energy conversion principles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sOne"/>
      <p:bldP spid="7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3 objectives" descr="Chapter 4: Photosynthesis and the Transformation of Energy. state observable outcomes (backward design)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3 objectives" descr="Chapter 4: Photosynthesis and the Transformation of Energy. state observable outcomes (backward design)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GOALS</a:t>
            </a:r>
          </a:p>
        </p:txBody>
      </p:sp>
      <p:sp>
        <p:nvSpPr>
          <p:cNvPr id="4" name="S003 objectives" descr="Chapter 4: Photosynthesis and the Transformation of Energy. state observable outcomes (backward design)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03 objectives" descr="Chapter 4: Photosynthesis and the Transformation of Energy. state observable outcomes (backward design)"/>
          <p:cNvSpPr/>
          <p:nvPr/>
        </p:nvSpPr>
        <p:spPr>
          <a:xfrm>
            <a:off x="731520" y="182880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03 objectives" descr="Chapter 4: Photosynthesis and the Transformation of Energy. state observable outcomes (backward design)"/>
          <p:cNvSpPr/>
          <p:nvPr/>
        </p:nvSpPr>
        <p:spPr>
          <a:xfrm>
            <a:off x="731520" y="1828800"/>
            <a:ext cx="822960" cy="914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S003 objectives" descr="Chapter 4: Photosynthesis and the Transformation of Energy. state observable outcomes (backward design)"/>
          <p:cNvSpPr txBox="1"/>
          <p:nvPr/>
        </p:nvSpPr>
        <p:spPr>
          <a:xfrm>
            <a:off x="1737360" y="1965960"/>
            <a:ext cx="9539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Explain conceptual content in Chapter 4: Photosynthesis and the Transformation of Energy.</a:t>
            </a:r>
          </a:p>
        </p:txBody>
      </p:sp>
      <p:sp>
        <p:nvSpPr>
          <p:cNvPr id="8" name="S003 objectives" descr="Chapter 4: Photosynthesis and the Transformation of Energy. state observable outcomes (backward design)"/>
          <p:cNvSpPr/>
          <p:nvPr/>
        </p:nvSpPr>
        <p:spPr>
          <a:xfrm>
            <a:off x="731520" y="2944368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03 objectives" descr="Chapter 4: Photosynthesis and the Transformation of Energy. state observable outcomes (backward design)"/>
          <p:cNvSpPr/>
          <p:nvPr/>
        </p:nvSpPr>
        <p:spPr>
          <a:xfrm>
            <a:off x="731520" y="2944368"/>
            <a:ext cx="822960" cy="914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S003 objectives" descr="Chapter 4: Photosynthesis and the Transformation of Energy. state observable outcomes (backward design)"/>
          <p:cNvSpPr txBox="1"/>
          <p:nvPr/>
        </p:nvSpPr>
        <p:spPr>
          <a:xfrm>
            <a:off x="1737360" y="3081528"/>
            <a:ext cx="9539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Compare conceptual content in Chapter 4: Photosynthesis and the Transformation of Energy.</a:t>
            </a:r>
          </a:p>
        </p:txBody>
      </p:sp>
      <p:sp>
        <p:nvSpPr>
          <p:cNvPr id="11" name="S003 objectives" descr="Chapter 4: Photosynthesis and the Transformation of Energy. state observable outcomes (backward design)"/>
          <p:cNvSpPr/>
          <p:nvPr/>
        </p:nvSpPr>
        <p:spPr>
          <a:xfrm>
            <a:off x="731520" y="4059936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03 objectives" descr="Chapter 4: Photosynthesis and the Transformation of Energy. state observable outcomes (backward design)"/>
          <p:cNvSpPr/>
          <p:nvPr/>
        </p:nvSpPr>
        <p:spPr>
          <a:xfrm>
            <a:off x="731520" y="4059936"/>
            <a:ext cx="822960" cy="914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S003 objectives" descr="Chapter 4: Photosynthesis and the Transformation of Energy. state observable outcomes (backward design)"/>
          <p:cNvSpPr txBox="1"/>
          <p:nvPr/>
        </p:nvSpPr>
        <p:spPr>
          <a:xfrm>
            <a:off x="1737360" y="4197096"/>
            <a:ext cx="9539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Calculate procedural content in Chapter 4: Photosynthesis and the Transformation of Energy.</a:t>
            </a:r>
          </a:p>
        </p:txBody>
      </p:sp>
      <p:sp>
        <p:nvSpPr>
          <p:cNvPr id="14" name="S003 objectives" descr="Chapter 4: Photosynthesis and the Transformation of Energy. state observable outcomes (backward design)"/>
          <p:cNvSpPr/>
          <p:nvPr/>
        </p:nvSpPr>
        <p:spPr>
          <a:xfrm>
            <a:off x="731520" y="5175504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03 objectives" descr="Chapter 4: Photosynthesis and the Transformation of Energy. state observable outcomes (backward design)"/>
          <p:cNvSpPr/>
          <p:nvPr/>
        </p:nvSpPr>
        <p:spPr>
          <a:xfrm>
            <a:off x="731520" y="5175504"/>
            <a:ext cx="822960" cy="914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S003 objectives" descr="Chapter 4: Photosynthesis and the Transformation of Energy. state observable outcomes (backward design)"/>
          <p:cNvSpPr txBox="1"/>
          <p:nvPr/>
        </p:nvSpPr>
        <p:spPr>
          <a:xfrm>
            <a:off x="1737360" y="5312664"/>
            <a:ext cx="9539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Solve procedural content in Chapter 4: Photosynthesis and the Transformation of Energy.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4 concept_card" descr="Introduction and Big Picture. teach C001 in a manageable chun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4 concept_card" descr="Introduction and Big Picture. teach C001 in a manageable chunk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CONCEPT</a:t>
            </a:r>
          </a:p>
        </p:txBody>
      </p:sp>
      <p:sp>
        <p:nvSpPr>
          <p:cNvPr id="4" name="S004 concept_card" descr="Introduction and Big Picture. teach C001 in a manageable chunk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Introduction and Big Picture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04 concept_card" descr="Introduction and Big Picture. teach C001 in a manageable chunk"/>
          <p:cNvSpPr/>
          <p:nvPr/>
        </p:nvSpPr>
        <p:spPr>
          <a:xfrm>
            <a:off x="731520" y="1920240"/>
            <a:ext cx="10728655" cy="18973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04 concept_card" descr="Introduction and Big Picture. teach C001 in a manageable chunk"/>
          <p:cNvSpPr txBox="1"/>
          <p:nvPr/>
        </p:nvSpPr>
        <p:spPr>
          <a:xfrm>
            <a:off x="1371600" y="2029968"/>
            <a:ext cx="9814255" cy="167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200"/>
              </a:spcBef>
              <a:defRPr sz="1500" b="0">
                <a:solidFill>
                  <a:srgbClr val="0F172A"/>
                </a:solidFill>
                <a:latin typeface="Segoe UI"/>
              </a:defRPr>
            </a:pPr>
            <a:r>
              <a:t>1. Introduction and Big Picture</a:t>
            </a:r>
          </a:p>
        </p:txBody>
      </p:sp>
      <p:sp>
        <p:nvSpPr>
          <p:cNvPr id="7" name="S004 concept_card" descr="Introduction and Big Picture. teach C001 in a manageable chunk"/>
          <p:cNvSpPr/>
          <p:nvPr/>
        </p:nvSpPr>
        <p:spPr>
          <a:xfrm>
            <a:off x="731520" y="4046220"/>
            <a:ext cx="10728655" cy="18973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04 concept_card" descr="Introduction and Big Picture. teach C001 in a manageable chunk"/>
          <p:cNvSpPr txBox="1"/>
          <p:nvPr/>
        </p:nvSpPr>
        <p:spPr>
          <a:xfrm>
            <a:off x="1371600" y="4155948"/>
            <a:ext cx="9814255" cy="167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200"/>
              </a:spcBef>
              <a:defRPr sz="1500" b="0">
                <a:solidFill>
                  <a:srgbClr val="0F172A"/>
                </a:solidFill>
                <a:latin typeface="Segoe UI"/>
              </a:defRPr>
            </a:pPr>
            <a:r>
              <a:t>All biological activity on Earth is ultimately driven by solar energy. Phototrophic organisms—including terrestrial green plants, cyanobacteria, and eukaryotic algae—possess the specialized machinery required to capture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sOne"/>
      <p:bldP spid="7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5 definition_focus" descr="Chapter 4: Photosynthesis and the Transformation of Energy. teach C002 in a manageable chun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5 definition_focus" descr="Chapter 4: Photosynthesis and the Transformation of Energy. teach C002 in a manageable chunk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DEFINITION</a:t>
            </a:r>
          </a:p>
        </p:txBody>
      </p:sp>
      <p:sp>
        <p:nvSpPr>
          <p:cNvPr id="4" name="S005 definition_focus" descr="Chapter 4: Photosynthesis and the Transformation of Energy. teach C002 in a manageable chunk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05 definition_focus" descr="Chapter 4: Photosynthesis and the Transformation of Energy. teach C002 in a manageable chunk"/>
          <p:cNvSpPr/>
          <p:nvPr/>
        </p:nvSpPr>
        <p:spPr>
          <a:xfrm>
            <a:off x="731520" y="1920240"/>
            <a:ext cx="10728655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6" name="S005 definition_focus" descr="Chapter 4: Photosynthesis and the Transformation of Energy. teach C002 in a manageable chunk"/>
          <p:cNvSpPr/>
          <p:nvPr/>
        </p:nvSpPr>
        <p:spPr>
          <a:xfrm>
            <a:off x="731520" y="2926080"/>
            <a:ext cx="10728655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05 definition_focus" descr="Chapter 4: Photosynthesis and the Transformation of Energy. teach C002 in a manageable chunk"/>
          <p:cNvSpPr txBox="1"/>
          <p:nvPr/>
        </p:nvSpPr>
        <p:spPr>
          <a:xfrm>
            <a:off x="1188720" y="3200400"/>
            <a:ext cx="981425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72A"/>
                </a:solidFill>
                <a:latin typeface="Segoe UI"/>
              </a:defRPr>
            </a:pPr>
            <a:r>
              <a:t>Definition: Photosynthesis is the anabolic, endergonic biochemical process by which photoautotrophic organisms synthesize high-energy hexose carbohydrates from inorganic carbon dioxide and water, using radiant solar energy captured by photosynthetic pigments, with molecular oxygen released as a metabolic byproduct.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sOne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6 mcq" descr="Check for Understanding. Assess: If the thylakoid membrane becomes permeable to protons due to a chemical ionoph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6 mcq" descr="Check for Understanding. Assess: If the thylakoid membrane becomes permeable to protons due to a chemical ionopho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06 mcq" descr="Check for Understanding. Assess: If the thylakoid membrane becomes permeable to protons due to a chemical ionopho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Check for Understanding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2. The Overall Chemical Reaction and Thermodynamic Balance</a:t>
            </a:r>
            <a:br/>
            <a:r>
              <a:t>The summary stoichiometric chemical equation for oxygenic photosynthesis is expressed as:</a:t>
            </a:r>
          </a:p>
        </p:txBody>
      </p:sp>
      <p:sp>
        <p:nvSpPr>
          <p:cNvPr id="5" name="S006 mcq" descr="Check for Understanding. Assess: If the thylakoid membrane becomes permeable to protons due to a chemical ionopho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SOURCE QUESTION</a:t>
            </a:r>
          </a:p>
        </p:txBody>
      </p:sp>
      <p:sp>
        <p:nvSpPr>
          <p:cNvPr id="6" name="S006 mcq" descr="Check for Understanding. Assess: If the thylakoid membrane becomes permeable to protons due to a chemical ionopho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06 mcq" descr="Check for Understanding. Assess: If the thylakoid membrane becomes permeable to protons due to a chemical ionopho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If the thylakoid membrane becomes permeable to protons due to a chemical ionophore, what is the immediate biochemical consequence?</a:t>
            </a:r>
          </a:p>
        </p:txBody>
      </p:sp>
      <p:sp>
        <p:nvSpPr>
          <p:cNvPr id="8" name="S006 mcq" descr="Check for Understanding. Assess: If the thylakoid membrane becomes permeable to protons due to a chemical ionopho"/>
          <p:cNvSpPr/>
          <p:nvPr/>
        </p:nvSpPr>
        <p:spPr>
          <a:xfrm>
            <a:off x="731520" y="3310128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06 mcq" descr="Check for Understanding. Assess: If the thylakoid membrane becomes permeable to protons due to a chemical ionopho"/>
          <p:cNvSpPr txBox="1"/>
          <p:nvPr/>
        </p:nvSpPr>
        <p:spPr>
          <a:xfrm>
            <a:off x="960120" y="3383280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A) Photolysis of water ceases immediately</a:t>
            </a:r>
          </a:p>
        </p:txBody>
      </p:sp>
      <p:sp>
        <p:nvSpPr>
          <p:cNvPr id="10" name="S006 mcq" descr="Check for Understanding. Assess: If the thylakoid membrane becomes permeable to protons due to a chemical ionopho"/>
          <p:cNvSpPr/>
          <p:nvPr/>
        </p:nvSpPr>
        <p:spPr>
          <a:xfrm>
            <a:off x="6233007" y="3310128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06 mcq" descr="Check for Understanding. Assess: If the thylakoid membrane becomes permeable to protons due to a chemical ionopho"/>
          <p:cNvSpPr txBox="1"/>
          <p:nvPr/>
        </p:nvSpPr>
        <p:spPr>
          <a:xfrm>
            <a:off x="6461607" y="3383280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B) Photophosphorylation of ADP to ATP stops, while electron transport may continue</a:t>
            </a:r>
          </a:p>
        </p:txBody>
      </p:sp>
      <p:sp>
        <p:nvSpPr>
          <p:cNvPr id="12" name="S006 mcq" descr="Check for Understanding. Assess: If the thylakoid membrane becomes permeable to protons due to a chemical ionopho"/>
          <p:cNvSpPr/>
          <p:nvPr/>
        </p:nvSpPr>
        <p:spPr>
          <a:xfrm>
            <a:off x="731520" y="4197096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06 mcq" descr="Check for Understanding. Assess: If the thylakoid membrane becomes permeable to protons due to a chemical ionopho"/>
          <p:cNvSpPr txBox="1"/>
          <p:nvPr/>
        </p:nvSpPr>
        <p:spPr>
          <a:xfrm>
            <a:off x="960120" y="4270248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C) Carbon dioxide fixation in the stroma accelerates dramatically</a:t>
            </a:r>
          </a:p>
        </p:txBody>
      </p:sp>
      <p:sp>
        <p:nvSpPr>
          <p:cNvPr id="14" name="S006 mcq" descr="Check for Understanding. Assess: If the thylakoid membrane becomes permeable to protons due to a chemical ionopho"/>
          <p:cNvSpPr/>
          <p:nvPr/>
        </p:nvSpPr>
        <p:spPr>
          <a:xfrm>
            <a:off x="6233007" y="4197096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06 mcq" descr="Check for Understanding. Assess: If the thylakoid membrane becomes permeable to protons due to a chemical ionopho"/>
          <p:cNvSpPr txBox="1"/>
          <p:nvPr/>
        </p:nvSpPr>
        <p:spPr>
          <a:xfrm>
            <a:off x="6461607" y="4270248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D) Chlorophyll pigments cease photon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7 mcq" descr="Answer &amp; Explanation. Reveal locked answer for Q0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7 mcq" descr="Answer &amp; Explanation. Reveal locked answer for Q01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ANSWER &amp; SOLUTION</a:t>
            </a:r>
          </a:p>
        </p:txBody>
      </p:sp>
      <p:sp>
        <p:nvSpPr>
          <p:cNvPr id="4" name="S007 mcq" descr="Answer &amp; Explanation. Reveal locked answer for Q01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Answer &amp; Explanation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Answer &amp; Explanation</a:t>
            </a:r>
          </a:p>
        </p:txBody>
      </p:sp>
      <p:sp>
        <p:nvSpPr>
          <p:cNvPr id="5" name="S007 mcq" descr="Answer &amp; Explanation. Reveal locked answer for Q01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SOURCE QUESTION</a:t>
            </a:r>
          </a:p>
        </p:txBody>
      </p:sp>
      <p:sp>
        <p:nvSpPr>
          <p:cNvPr id="6" name="S007 mcq" descr="Answer &amp; Explanation. Reveal locked answer for Q01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07 mcq" descr="Answer &amp; Explanation. Reveal locked answer for Q01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If the thylakoid membrane becomes permeable to protons due to a chemical ionophore, what is the immediate biochemical consequence?</a:t>
            </a:r>
          </a:p>
        </p:txBody>
      </p:sp>
      <p:sp>
        <p:nvSpPr>
          <p:cNvPr id="8" name="S007 mcq" descr="Answer &amp; Explanation. Reveal locked answer for Q01"/>
          <p:cNvSpPr/>
          <p:nvPr/>
        </p:nvSpPr>
        <p:spPr>
          <a:xfrm>
            <a:off x="731520" y="3310128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07 mcq" descr="Answer &amp; Explanation. Reveal locked answer for Q01"/>
          <p:cNvSpPr txBox="1"/>
          <p:nvPr/>
        </p:nvSpPr>
        <p:spPr>
          <a:xfrm>
            <a:off x="960120" y="3383280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A) Photolysis of water ceases immediately</a:t>
            </a:r>
          </a:p>
        </p:txBody>
      </p:sp>
      <p:sp>
        <p:nvSpPr>
          <p:cNvPr id="10" name="S007 mcq" descr="Answer &amp; Explanation. Reveal locked answer for Q01"/>
          <p:cNvSpPr/>
          <p:nvPr/>
        </p:nvSpPr>
        <p:spPr>
          <a:xfrm>
            <a:off x="6233007" y="3310128"/>
            <a:ext cx="5227167" cy="7772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07 mcq" descr="Answer &amp; Explanation. Reveal locked answer for Q01"/>
          <p:cNvSpPr txBox="1"/>
          <p:nvPr/>
        </p:nvSpPr>
        <p:spPr>
          <a:xfrm>
            <a:off x="6461607" y="3383280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✔ B) Photophosphorylation of ADP to ATP stops, while electron transport may continue</a:t>
            </a:r>
          </a:p>
        </p:txBody>
      </p:sp>
      <p:sp>
        <p:nvSpPr>
          <p:cNvPr id="12" name="S007 mcq" descr="Answer &amp; Explanation. Reveal locked answer for Q01"/>
          <p:cNvSpPr/>
          <p:nvPr/>
        </p:nvSpPr>
        <p:spPr>
          <a:xfrm>
            <a:off x="731520" y="4197096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07 mcq" descr="Answer &amp; Explanation. Reveal locked answer for Q01"/>
          <p:cNvSpPr txBox="1"/>
          <p:nvPr/>
        </p:nvSpPr>
        <p:spPr>
          <a:xfrm>
            <a:off x="960120" y="4270248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C) Carbon dioxide fixation in the stroma accelerates dramatically</a:t>
            </a:r>
          </a:p>
        </p:txBody>
      </p:sp>
      <p:sp>
        <p:nvSpPr>
          <p:cNvPr id="14" name="S007 mcq" descr="Answer &amp; Explanation. Reveal locked answer for Q01"/>
          <p:cNvSpPr/>
          <p:nvPr/>
        </p:nvSpPr>
        <p:spPr>
          <a:xfrm>
            <a:off x="6233007" y="4197096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07 mcq" descr="Answer &amp; Explanation. Reveal locked answer for Q01"/>
          <p:cNvSpPr txBox="1"/>
          <p:nvPr/>
        </p:nvSpPr>
        <p:spPr>
          <a:xfrm>
            <a:off x="6461607" y="4270248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D) Chlorophyll pigments cease photon absorption</a:t>
            </a:r>
          </a:p>
        </p:txBody>
      </p:sp>
      <p:sp>
        <p:nvSpPr>
          <p:cNvPr id="16" name="S007 mcq" descr="Answer &amp; Explanation. Reveal locked answer for Q01"/>
          <p:cNvSpPr txBox="1"/>
          <p:nvPr/>
        </p:nvSpPr>
        <p:spPr>
          <a:xfrm>
            <a:off x="731520" y="5175504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Segoe UI"/>
              </a:defRPr>
            </a:pPr>
            <a:r>
              <a:t>The thylakoid lumen holds the proton motive force built by electron transport. A proton-permeable membrane collapses that gradient, so ATP synthase cannot phosphorylate ADP to ATP, while electron flow itself may continue.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sOne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8 equation_focus" descr="Chapter 4: Photosynthesis and the Transformation of Energy. teach C004 in a manageable chun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8 equation_focus" descr="Chapter 4: Photosynthesis and the Transformation of Energy. teach C004 in a manageable chunk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EQUATION</a:t>
            </a:r>
          </a:p>
        </p:txBody>
      </p:sp>
      <p:sp>
        <p:nvSpPr>
          <p:cNvPr id="4" name="S008 equation_focus" descr="Chapter 4: Photosynthesis and the Transformation of Energy. teach C004 in a manageable chunk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08 equation_focus" descr="Chapter 4: Photosynthesis and the Transformation of Energy. teach C004 in a manageable chunk"/>
          <p:cNvSpPr/>
          <p:nvPr/>
        </p:nvSpPr>
        <p:spPr>
          <a:xfrm>
            <a:off x="731520" y="1920240"/>
            <a:ext cx="1072865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08 equation_focus" descr="Chapter 4: Photosynthesis and the Transformation of Energy. teach C004 in a manageable chunk"/>
          <p:cNvSpPr txBox="1"/>
          <p:nvPr/>
        </p:nvSpPr>
        <p:spPr>
          <a:xfrm>
            <a:off x="1097280" y="2148840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onsolas"/>
              </a:defRPr>
            </a:pPr>
            <a:r>
              <a:t>6 CO₂ + 6 H₂O + [light energy] → C₆H₁₂O₆ + 6 O₂</a:t>
            </a:r>
          </a:p>
        </p:txBody>
      </p:sp>
      <p:sp>
        <p:nvSpPr>
          <p:cNvPr id="7" name="S008 equation_focus" descr="Chapter 4: Photosynthesis and the Transformation of Energy. teach C004 in a manageable chunk"/>
          <p:cNvSpPr/>
          <p:nvPr/>
        </p:nvSpPr>
        <p:spPr>
          <a:xfrm>
            <a:off x="731520" y="3566160"/>
            <a:ext cx="5181447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08 equation_focus" descr="Chapter 4: Photosynthesis and the Transformation of Energy. teach C004 in a manageable chunk"/>
          <p:cNvSpPr txBox="1"/>
          <p:nvPr/>
        </p:nvSpPr>
        <p:spPr>
          <a:xfrm>
            <a:off x="960120" y="3675888"/>
            <a:ext cx="472424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6 CO₂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atmospheric carbon dioxide, entering via foliar stomatal pores</a:t>
            </a:r>
          </a:p>
        </p:txBody>
      </p:sp>
      <p:sp>
        <p:nvSpPr>
          <p:cNvPr id="9" name="S008 equation_focus" descr="Chapter 4: Photosynthesis and the Transformation of Energy. teach C004 in a manageable chunk"/>
          <p:cNvSpPr/>
          <p:nvPr/>
        </p:nvSpPr>
        <p:spPr>
          <a:xfrm>
            <a:off x="6278727" y="3566160"/>
            <a:ext cx="5181447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08 equation_focus" descr="Chapter 4: Photosynthesis and the Transformation of Energy. teach C004 in a manageable chunk"/>
          <p:cNvSpPr txBox="1"/>
          <p:nvPr/>
        </p:nvSpPr>
        <p:spPr>
          <a:xfrm>
            <a:off x="6507327" y="3675888"/>
            <a:ext cx="472424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6 H₂O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water absorbed from the rhizosphere through root xylem tissue</a:t>
            </a:r>
          </a:p>
        </p:txBody>
      </p:sp>
      <p:sp>
        <p:nvSpPr>
          <p:cNvPr id="11" name="S008 equation_focus" descr="Chapter 4: Photosynthesis and the Transformation of Energy. teach C004 in a manageable chunk"/>
          <p:cNvSpPr/>
          <p:nvPr/>
        </p:nvSpPr>
        <p:spPr>
          <a:xfrm>
            <a:off x="731520" y="4937760"/>
            <a:ext cx="5181447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08 equation_focus" descr="Chapter 4: Photosynthesis and the Transformation of Energy. teach C004 in a manageable chunk"/>
          <p:cNvSpPr txBox="1"/>
          <p:nvPr/>
        </p:nvSpPr>
        <p:spPr>
          <a:xfrm>
            <a:off x="960120" y="5047488"/>
            <a:ext cx="472424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C₆H₁₂O₆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glucose, the primary phosphorylated monosaccharide substrate</a:t>
            </a:r>
          </a:p>
        </p:txBody>
      </p:sp>
      <p:sp>
        <p:nvSpPr>
          <p:cNvPr id="13" name="S008 equation_focus" descr="Chapter 4: Photosynthesis and the Transformation of Energy. teach C004 in a manageable chunk"/>
          <p:cNvSpPr/>
          <p:nvPr/>
        </p:nvSpPr>
        <p:spPr>
          <a:xfrm>
            <a:off x="6278727" y="4937760"/>
            <a:ext cx="5181447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08 equation_focus" descr="Chapter 4: Photosynthesis and the Transformation of Energy. teach C004 in a manageable chunk"/>
          <p:cNvSpPr txBox="1"/>
          <p:nvPr/>
        </p:nvSpPr>
        <p:spPr>
          <a:xfrm>
            <a:off x="6507327" y="5047488"/>
            <a:ext cx="472424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6 O₂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molecular diatomic oxygen, released as a gaseous byproduct</a:t>
            </a:r>
          </a:p>
        </p:txBody>
      </p:sp>
      <p:sp>
        <p:nvSpPr>
          <p:cNvPr id="15" name="S008 equation_focus" descr="Chapter 4: Photosynthesis and the Transformation of Energy. teach C004 in a manageable chunk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Segoe UI"/>
              </a:defRPr>
            </a:pPr>
            <a:r>
              <a:t>6CO₂ + 6H₂O + light energy → C₆H₁₂O₆ + 6O₂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sOne"/>
      <p:bldP spid="7" grpId="0" build="asOne"/>
      <p:bldP spid="9" grpId="0" build="asOne"/>
      <p:bldP spid="11" grpId="0" build="asOne"/>
      <p:bldP spid="13" grpId="0" build="asOne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09 labeled_diagram" descr="Chapter 4: Photosynthesis and the Transformation of Energy. teach C006 in a manageable chun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09 labeled_diagram" descr="Chapter 4: Photosynthesis and the Transformation of Energy. teach C006 in a manageable chunk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LABELED DIAGRAM</a:t>
            </a:r>
          </a:p>
        </p:txBody>
      </p:sp>
      <p:sp>
        <p:nvSpPr>
          <p:cNvPr id="4" name="S009 labeled_diagram" descr="Chapter 4: Photosynthesis and the Transformation of Energy. teach C006 in a manageable chunk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09 labeled_diagram" descr="Chapter 4: Photosynthesis and the Transformation of Energy. teach C006 in a manageable chunk"/>
          <p:cNvSpPr/>
          <p:nvPr/>
        </p:nvSpPr>
        <p:spPr>
          <a:xfrm>
            <a:off x="4937760" y="2377440"/>
            <a:ext cx="2377440" cy="237744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6" name="S009 labeled_diagram" descr="Chapter 4: Photosynthesis and the Transformation of Energy. teach C006 in a manageable chunk"/>
          <p:cNvSpPr/>
          <p:nvPr/>
        </p:nvSpPr>
        <p:spPr>
          <a:xfrm>
            <a:off x="731520" y="2103120"/>
            <a:ext cx="3108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09 labeled_diagram" descr="Chapter 4: Photosynthesis and the Transformation of Energy. teach C006 in a manageable chunk"/>
          <p:cNvSpPr txBox="1"/>
          <p:nvPr/>
        </p:nvSpPr>
        <p:spPr>
          <a:xfrm>
            <a:off x="914400" y="2176272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Thylakoid Membrane System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Site of the light-dependent reactions</a:t>
            </a:r>
          </a:p>
        </p:txBody>
      </p:sp>
      <p:cxnSp>
        <p:nvCxnSpPr>
          <p:cNvPr id="8" name="S009 labeled_diagram" descr="Chapter 4: Photosynthesis and the Transformation of Energy. teach C006 in a manageable chunk"/>
          <p:cNvCxnSpPr/>
          <p:nvPr/>
        </p:nvCxnSpPr>
        <p:spPr>
          <a:xfrm>
            <a:off x="3840480" y="2715768"/>
            <a:ext cx="1097280" cy="850392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009 labeled_diagram" descr="Chapter 4: Photosynthesis and the Transformation of Energy. teach C006 in a manageable chunk"/>
          <p:cNvSpPr/>
          <p:nvPr/>
        </p:nvSpPr>
        <p:spPr>
          <a:xfrm>
            <a:off x="731520" y="3520440"/>
            <a:ext cx="3108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09 labeled_diagram" descr="Chapter 4: Photosynthesis and the Transformation of Energy. teach C006 in a manageable chunk"/>
          <p:cNvSpPr txBox="1"/>
          <p:nvPr/>
        </p:nvSpPr>
        <p:spPr>
          <a:xfrm>
            <a:off x="914400" y="3593592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Thylakoid Lumen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The acidified interior compartment across which a transmembrane proton motive force (ΔμH^₊) is established.</a:t>
            </a:r>
          </a:p>
        </p:txBody>
      </p:sp>
      <p:cxnSp>
        <p:nvCxnSpPr>
          <p:cNvPr id="11" name="S009 labeled_diagram" descr="Chapter 4: Photosynthesis and the Transformation of Energy. teach C006 in a manageable chunk"/>
          <p:cNvCxnSpPr/>
          <p:nvPr/>
        </p:nvCxnSpPr>
        <p:spPr>
          <a:xfrm flipV="1">
            <a:off x="3840480" y="3566160"/>
            <a:ext cx="1097280" cy="566928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009 labeled_diagram" descr="Chapter 4: Photosynthesis and the Transformation of Energy. teach C006 in a manageable chunk"/>
          <p:cNvSpPr/>
          <p:nvPr/>
        </p:nvSpPr>
        <p:spPr>
          <a:xfrm>
            <a:off x="8351215" y="2103120"/>
            <a:ext cx="3108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09 labeled_diagram" descr="Chapter 4: Photosynthesis and the Transformation of Energy. teach C006 in a manageable chunk"/>
          <p:cNvSpPr txBox="1"/>
          <p:nvPr/>
        </p:nvSpPr>
        <p:spPr>
          <a:xfrm>
            <a:off x="8534095" y="2176272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Stroma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The semi-fluid matrix surrounding thylakoids</a:t>
            </a:r>
          </a:p>
        </p:txBody>
      </p:sp>
      <p:cxnSp>
        <p:nvCxnSpPr>
          <p:cNvPr id="14" name="S009 labeled_diagram" descr="Chapter 4: Photosynthesis and the Transformation of Energy. teach C006 in a manageable chunk"/>
          <p:cNvCxnSpPr/>
          <p:nvPr/>
        </p:nvCxnSpPr>
        <p:spPr>
          <a:xfrm flipH="1">
            <a:off x="7315200" y="2715768"/>
            <a:ext cx="1036015" cy="850392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sOne"/>
      <p:bldP spid="6" grpId="0" build="asOne"/>
      <p:bldP spid="9" grpId="0" build="asOne"/>
      <p:bldP spid="12" grpId="0" build="asOne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0 retrieval" descr="Check for Understanding. Assess: 8. Independent Practice and Exam-Style Problem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0 retrieval" descr="Check for Understanding. Assess: 8. Independent Practice and Exam-Style Problems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10 retrieval" descr="Check for Understanding. Assess: 8. Independent Practice and Exam-Style Problems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Check for Understanding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Check for Understanding</a:t>
            </a:r>
          </a:p>
        </p:txBody>
      </p:sp>
      <p:sp>
        <p:nvSpPr>
          <p:cNvPr id="5" name="S010 retrieval" descr="Check for Understanding. Assess: 8. Independent Practice and Exam-Style Problems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SOURCE QUESTION</a:t>
            </a:r>
          </a:p>
        </p:txBody>
      </p:sp>
      <p:sp>
        <p:nvSpPr>
          <p:cNvPr id="6" name="S010 retrieval" descr="Check for Understanding. Assess: 8. Independent Practice and Exam-Style Problems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10 retrieval" descr="Check for Understanding. Assess: 8. Independent Practice and Exam-Style Problems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8. Independent Practice and Exam-Style Problems</a:t>
            </a:r>
          </a:p>
        </p:txBody>
      </p:sp>
      <p:sp>
        <p:nvSpPr>
          <p:cNvPr id="8" name="S010 retrieval" descr="Check for Understanding. Assess: 8. Independent Practice and Exam-Style Problems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Quiet thinking time: 30 seconds. Write before we reveal.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1 retrieval" descr="Answer &amp; Explanation. Reveal locked answer for Q0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1 retrieval" descr="Answer &amp; Explanation. Reveal locked answer for Q02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ANSWER &amp; SOLUTION</a:t>
            </a:r>
          </a:p>
        </p:txBody>
      </p:sp>
      <p:sp>
        <p:nvSpPr>
          <p:cNvPr id="4" name="S011 retrieval" descr="Answer &amp; Explanation. Reveal locked answer for Q02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Answer &amp; Explanation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Answer &amp; Explanation</a:t>
            </a:r>
          </a:p>
        </p:txBody>
      </p:sp>
      <p:sp>
        <p:nvSpPr>
          <p:cNvPr id="5" name="S011 retrieval" descr="Answer &amp; Explanation. Reveal locked answer for Q02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SOURCE QUESTION</a:t>
            </a:r>
          </a:p>
        </p:txBody>
      </p:sp>
      <p:sp>
        <p:nvSpPr>
          <p:cNvPr id="6" name="S011 retrieval" descr="Answer &amp; Explanation. Reveal locked answer for Q02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11 retrieval" descr="Answer &amp; Explanation. Reveal locked answer for Q02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8. Independent Practice and Exam-Style Problems</a:t>
            </a:r>
          </a:p>
        </p:txBody>
      </p:sp>
      <p:sp>
        <p:nvSpPr>
          <p:cNvPr id="8" name="S011 retrieval" descr="Answer &amp; Explanation. Reveal locked answer for Q02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72A"/>
                </a:solidFill>
                <a:latin typeface="Segoe UI"/>
              </a:defRPr>
            </a:pPr>
            <a:r>
              <a:t>8. Independent Practice and Exam-Style Problems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2 worked_calculation" descr="Worked Example. teach C007 in a manageable chun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2 worked_calculation" descr="Worked Example. teach C007 in a manageable chunk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WORKED CALCULATION</a:t>
            </a:r>
          </a:p>
        </p:txBody>
      </p:sp>
      <p:sp>
        <p:nvSpPr>
          <p:cNvPr id="4" name="S012 worked_calculation" descr="Worked Example. teach C007 in a manageable chunk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Worked Example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12 worked_calculation" descr="Worked Example. teach C007 in a manageable chunk"/>
          <p:cNvSpPr/>
          <p:nvPr/>
        </p:nvSpPr>
        <p:spPr>
          <a:xfrm>
            <a:off x="731520" y="1828800"/>
            <a:ext cx="146304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GIVENS</a:t>
            </a:r>
          </a:p>
        </p:txBody>
      </p:sp>
      <p:sp>
        <p:nvSpPr>
          <p:cNvPr id="6" name="S012 worked_calculation" descr="Worked Example. teach C007 in a manageable chunk"/>
          <p:cNvSpPr txBox="1"/>
          <p:nvPr/>
        </p:nvSpPr>
        <p:spPr>
          <a:xfrm>
            <a:off x="2377440" y="1792224"/>
            <a:ext cx="9082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Segoe UI"/>
              </a:defRPr>
            </a:pPr>
            <a:r>
              <a:t>chromatic red light at a wavelength of λ = 680 nm</a:t>
            </a:r>
          </a:p>
        </p:txBody>
      </p:sp>
      <p:sp>
        <p:nvSpPr>
          <p:cNvPr id="7" name="S012 worked_calculation" descr="Worked Example. teach C007 in a manageable chunk"/>
          <p:cNvSpPr txBox="1"/>
          <p:nvPr/>
        </p:nvSpPr>
        <p:spPr>
          <a:xfrm>
            <a:off x="731520" y="22860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4. Worked Calculation: Photochemical Quantum Yield and Efficiency</a:t>
            </a:r>
            <a:br/>
            <a:r>
              <a:t>A researcher illuminates a suspension of Chlorella vulgaris with monochromatic red light at a wavelength of λ = 680 nm. The molar photon flux absorbed is 8.0 mol of photons.</a:t>
            </a:r>
            <a:br/>
            <a:r>
              <a:t>Determine the theoretical moles of glucose produced if the experimental quantum </a:t>
            </a:r>
          </a:p>
        </p:txBody>
      </p:sp>
      <p:sp>
        <p:nvSpPr>
          <p:cNvPr id="8" name="S012 worked_calculation" descr="Worked Example. teach C007 in a manageable chunk"/>
          <p:cNvSpPr/>
          <p:nvPr/>
        </p:nvSpPr>
        <p:spPr>
          <a:xfrm>
            <a:off x="731520" y="3154680"/>
            <a:ext cx="339333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12 worked_calculation" descr="Worked Example. teach C007 in a manageable chunk"/>
          <p:cNvSpPr txBox="1"/>
          <p:nvPr/>
        </p:nvSpPr>
        <p:spPr>
          <a:xfrm>
            <a:off x="914400" y="3291840"/>
            <a:ext cx="302757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Step 1: Determine the ratio of oxygen evolution to photon absorption:</a:t>
            </a:r>
            <a:br/>
            <a:r>
              <a:t>Moles of O₂ = 8.0 mol photons/8 photons/molecule = 1.0 mol O₂</a:t>
            </a:r>
          </a:p>
        </p:txBody>
      </p:sp>
      <p:sp>
        <p:nvSpPr>
          <p:cNvPr id="10" name="S012 worked_calculation" descr="Worked Example. teach C007 in a manageable chunk"/>
          <p:cNvSpPr/>
          <p:nvPr/>
        </p:nvSpPr>
        <p:spPr>
          <a:xfrm>
            <a:off x="4399178" y="3154680"/>
            <a:ext cx="339333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12 worked_calculation" descr="Worked Example. teach C007 in a manageable chunk"/>
          <p:cNvSpPr txBox="1"/>
          <p:nvPr/>
        </p:nvSpPr>
        <p:spPr>
          <a:xfrm>
            <a:off x="4582058" y="3291840"/>
            <a:ext cx="302757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Step 2: Relate oxygen evolution to glucose synthesis using the stoichiometric equation:</a:t>
            </a:r>
            <a:br/>
            <a:r>
              <a:t>6 mol O₂ evolved corresponds to 1 mol C₆H₁₂O₆ synthesized.</a:t>
            </a:r>
          </a:p>
        </p:txBody>
      </p:sp>
      <p:sp>
        <p:nvSpPr>
          <p:cNvPr id="12" name="S012 worked_calculation" descr="Worked Example. teach C007 in a manageable chunk"/>
          <p:cNvSpPr/>
          <p:nvPr/>
        </p:nvSpPr>
        <p:spPr>
          <a:xfrm>
            <a:off x="8066836" y="3154680"/>
            <a:ext cx="3393338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12 worked_calculation" descr="Worked Example. teach C007 in a manageable chunk"/>
          <p:cNvSpPr txBox="1"/>
          <p:nvPr/>
        </p:nvSpPr>
        <p:spPr>
          <a:xfrm>
            <a:off x="8249716" y="3291840"/>
            <a:ext cx="302757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Step 3: Compute the theoretical glucose yield:</a:t>
            </a:r>
            <a:br/>
            <a:r>
              <a:t>Moles of Glucose = 1.0 mol O₂/6 ≈ 0.167 mol of Glucose (approx. 30.0 grams).</a:t>
            </a:r>
          </a:p>
        </p:txBody>
      </p:sp>
      <p:sp>
        <p:nvSpPr>
          <p:cNvPr id="14" name="S012 worked_calculation" descr="Worked Example. teach C007 in a manageable chunk"/>
          <p:cNvSpPr txBox="1"/>
          <p:nvPr/>
        </p:nvSpPr>
        <p:spPr>
          <a:xfrm>
            <a:off x="731520" y="59893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✔ Verify: check units, boundary conditions, and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sOne"/>
      <p:bldP spid="10" grpId="0" build="asOne"/>
      <p:bldP spid="12" grpId="0" build="asOne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3 retrieval" descr="Check for Understanding. Assess: Calculate (O03): 6CO₂ + 6H₂O + light energy → C₆H₁₂O₆ +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3 retrieval" descr="Check for Understanding. Assess: Calculate (O03): 6CO₂ + 6H₂O + light energy → C₆H₁₂O₆ +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13 retrieval" descr="Check for Understanding. Assess: Calculate (O03): 6CO₂ + 6H₂O + light energy → C₆H₁₂O₆ +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Check for Understanding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Check for Understanding</a:t>
            </a:r>
          </a:p>
        </p:txBody>
      </p:sp>
      <p:sp>
        <p:nvSpPr>
          <p:cNvPr id="5" name="S013 retrieval" descr="Check for Understanding. Assess: Calculate (O03): 6CO₂ + 6H₂O + light energy → C₆H₁₂O₆ +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13 retrieval" descr="Check for Understanding. Assess: Calculate (O03): 6CO₂ + 6H₂O + light energy → C₆H₁₂O₆ +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13 retrieval" descr="Check for Understanding. Assess: Calculate (O03): 6CO₂ + 6H₂O + light energy → C₆H₁₂O₆ +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Calculate (O03): 6CO₂ + 6H₂O + light energy → C₆H₁₂O₆ +</a:t>
            </a:r>
          </a:p>
        </p:txBody>
      </p:sp>
      <p:sp>
        <p:nvSpPr>
          <p:cNvPr id="8" name="S013 retrieval" descr="Check for Understanding. Assess: Calculate (O03): 6CO₂ + 6H₂O + light energy → C₆H₁₂O₆ +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Quiet thinking time: 30 seconds. Write before we reveal.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4 retrieval" descr="Answer &amp; Explanation. Reveal locked answer for Q0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4 retrieval" descr="Answer &amp; Explanation. Reveal locked answer for Q04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ANSWER &amp; SOLUTION</a:t>
            </a:r>
          </a:p>
        </p:txBody>
      </p:sp>
      <p:sp>
        <p:nvSpPr>
          <p:cNvPr id="4" name="S014 retrieval" descr="Answer &amp; Explanation. Reveal locked answer for Q04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Answer &amp; Explanation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Answer &amp; Explanation</a:t>
            </a:r>
          </a:p>
        </p:txBody>
      </p:sp>
      <p:sp>
        <p:nvSpPr>
          <p:cNvPr id="5" name="S014 retrieval" descr="Answer &amp; Explanation. Reveal locked answer for Q04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14 retrieval" descr="Answer &amp; Explanation. Reveal locked answer for Q04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14 retrieval" descr="Answer &amp; Explanation. Reveal locked answer for Q04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Calculate (O03): 6CO₂ + 6H₂O + light energy → C₆H₁₂O₆ +</a:t>
            </a:r>
          </a:p>
        </p:txBody>
      </p:sp>
      <p:sp>
        <p:nvSpPr>
          <p:cNvPr id="8" name="S014 retrieval" descr="Answer &amp; Explanation. Reveal locked answer for Q04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72A"/>
                </a:solidFill>
                <a:latin typeface="Segoe UI"/>
              </a:defRPr>
            </a:pPr>
            <a:r>
              <a:t>Aligned to O03 (calculate/application): 6CO₂ + 6H₂O + light energy → C₆H₁₂O₆ + 6O₂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5 contrast" descr="Chapter 4: Photosynthesis and the Transformation of Energy. teach C012 in a manageable chun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5 contrast" descr="Chapter 4: Photosynthesis and the Transformation of Energy. teach C012 in a manageable chunk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MISCONCEPTION &amp; TRAP</a:t>
            </a:r>
          </a:p>
        </p:txBody>
      </p:sp>
      <p:sp>
        <p:nvSpPr>
          <p:cNvPr id="4" name="S015 contrast" descr="Chapter 4: Photosynthesis and the Transformation of Energy. teach C012 in a manageable chunk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15 contrast" descr="Chapter 4: Photosynthesis and the Transformation of Energy. teach C012 in a manageable chunk"/>
          <p:cNvSpPr/>
          <p:nvPr/>
        </p:nvSpPr>
        <p:spPr>
          <a:xfrm>
            <a:off x="731520" y="1828800"/>
            <a:ext cx="5181447" cy="4297680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15 contrast" descr="Chapter 4: Photosynthesis and the Transformation of Energy. teach C012 in a manageable chunk"/>
          <p:cNvSpPr txBox="1"/>
          <p:nvPr/>
        </p:nvSpPr>
        <p:spPr>
          <a:xfrm>
            <a:off x="1097280" y="2103120"/>
            <a:ext cx="4449927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✖  COMMON MISTAKE (TEMPTING ERROR)</a:t>
            </a:r>
          </a:p>
          <a:p>
            <a:pPr>
              <a:spcBef>
                <a:spcPts val="1200"/>
              </a:spcBef>
              <a:defRPr sz="1900" b="1">
                <a:solidFill>
                  <a:srgbClr val="E11D48"/>
                </a:solidFill>
                <a:latin typeface="Segoe UI"/>
              </a:defRPr>
            </a:pPr>
            <a:r>
              <a:t>The Dark Reactions and Plant Respiration</a:t>
            </a:r>
            <a:br/>
            <a:r>
              <a:t>Common Mistake: Plants perform photosynthesis during the day and cellular respiration only at night; furthermore, the 'dark reactions' (Calvin cycle) occur only in total darkness.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Why it is flawed:</a:t>
            </a:r>
            <a:br/>
            <a:r>
              <a:t>Respiration is required continuously (24/7) to sustain baseline metabolic homeostasis and ATP production in all living plant cells. Furthermore, several key Calvin cycle enzymes (e.g., phosphoribulokinase, sedoheptulose-1,7-bisphosphatase, and RuBisCO activase) are light-activated via the thioredoxi</a:t>
            </a:r>
          </a:p>
        </p:txBody>
      </p:sp>
      <p:sp>
        <p:nvSpPr>
          <p:cNvPr id="7" name="S015 contrast" descr="Chapter 4: Photosynthesis and the Transformation of Energy. teach C012 in a manageable chunk"/>
          <p:cNvSpPr/>
          <p:nvPr/>
        </p:nvSpPr>
        <p:spPr>
          <a:xfrm>
            <a:off x="6278727" y="1828800"/>
            <a:ext cx="5181447" cy="42976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15 contrast" descr="Chapter 4: Photosynthesis and the Transformation of Energy. teach C012 in a manageable chunk"/>
          <p:cNvSpPr txBox="1"/>
          <p:nvPr/>
        </p:nvSpPr>
        <p:spPr>
          <a:xfrm>
            <a:off x="6644487" y="2103120"/>
            <a:ext cx="4449927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✔  CORRECT REASONING &amp; TRUTH</a:t>
            </a:r>
          </a:p>
          <a:p>
            <a:pPr>
              <a:spcBef>
                <a:spcPts val="1200"/>
              </a:spcBef>
              <a:defRPr sz="1900" b="1">
                <a:solidFill>
                  <a:srgbClr val="10B981"/>
                </a:solidFill>
                <a:latin typeface="Segoe UI"/>
              </a:defRPr>
            </a:pPr>
            <a:r>
              <a:t>Cellular respiration occurs around the clock in all living plant tissues. The Calvin cycle is 'light-independent' only in the sense that it does not directly absorb photons, but it relies continuously on ATP and NADPH generated by light reactions and is deactivated in extended darkness.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Why this is sound:</a:t>
            </a:r>
            <a:br/>
            <a:r>
              <a:t>Cellular respiration occurs around the clock in all living plant tissues. The Calvin cycle is 'light-independent' only in the sense that it does not directly absorb photons, but it relies continuously on ATP and NADPH generated by light reactions and is deactivated in extended darkness.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sOne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6 true_false" descr="Check for Understanding. Assess: True or False: Definition: Photosynthesis is the anabolic, endergonic biochemic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6 true_false" descr="Check for Understanding. Assess: True or False: Definition: Photosynthesis is the anabolic, endergonic biochemica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16 true_false" descr="Check for Understanding. Assess: True or False: Definition: Photosynthesis is the anabolic, endergonic biochemica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Check for Understanding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Check for Understanding</a:t>
            </a:r>
          </a:p>
        </p:txBody>
      </p:sp>
      <p:sp>
        <p:nvSpPr>
          <p:cNvPr id="5" name="S016 true_false" descr="Check for Understanding. Assess: True or False: Definition: Photosynthesis is the anabolic, endergonic biochemica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16 true_false" descr="Check for Understanding. Assess: True or False: Definition: Photosynthesis is the anabolic, endergonic biochemica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16 true_false" descr="Check for Understanding. Assess: True or False: Definition: Photosynthesis is the anabolic, endergonic biochemica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True or False: Definition: Photosynthesis is the anabolic, endergonic biochemical process by which ph</a:t>
            </a:r>
          </a:p>
        </p:txBody>
      </p:sp>
      <p:sp>
        <p:nvSpPr>
          <p:cNvPr id="8" name="S016 true_false" descr="Check for Understanding. Assess: True or False: Definition: Photosynthesis is the anabolic, endergonic biochemica"/>
          <p:cNvSpPr/>
          <p:nvPr/>
        </p:nvSpPr>
        <p:spPr>
          <a:xfrm>
            <a:off x="731520" y="3310128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16 true_false" descr="Check for Understanding. Assess: True or False: Definition: Photosynthesis is the anabolic, endergonic biochemica"/>
          <p:cNvSpPr txBox="1"/>
          <p:nvPr/>
        </p:nvSpPr>
        <p:spPr>
          <a:xfrm>
            <a:off x="960120" y="3383280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A) True</a:t>
            </a:r>
          </a:p>
        </p:txBody>
      </p:sp>
      <p:sp>
        <p:nvSpPr>
          <p:cNvPr id="10" name="S016 true_false" descr="Check for Understanding. Assess: True or False: Definition: Photosynthesis is the anabolic, endergonic biochemica"/>
          <p:cNvSpPr/>
          <p:nvPr/>
        </p:nvSpPr>
        <p:spPr>
          <a:xfrm>
            <a:off x="6233007" y="3310128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16 true_false" descr="Check for Understanding. Assess: True or False: Definition: Photosynthesis is the anabolic, endergonic biochemica"/>
          <p:cNvSpPr txBox="1"/>
          <p:nvPr/>
        </p:nvSpPr>
        <p:spPr>
          <a:xfrm>
            <a:off x="6461607" y="3383280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B) False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7 true_false" descr="Answer &amp; Explanation. Reveal locked answer for Q0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7 true_false" descr="Answer &amp; Explanation. Reveal locked answer for Q03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ANSWER &amp; SOLUTION</a:t>
            </a:r>
          </a:p>
        </p:txBody>
      </p:sp>
      <p:sp>
        <p:nvSpPr>
          <p:cNvPr id="4" name="S017 true_false" descr="Answer &amp; Explanation. Reveal locked answer for Q03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Answer &amp; Explanation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Answer &amp; Explanation</a:t>
            </a:r>
          </a:p>
        </p:txBody>
      </p:sp>
      <p:sp>
        <p:nvSpPr>
          <p:cNvPr id="5" name="S017 true_false" descr="Answer &amp; Explanation. Reveal locked answer for Q03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17 true_false" descr="Answer &amp; Explanation. Reveal locked answer for Q03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17 true_false" descr="Answer &amp; Explanation. Reveal locked answer for Q03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True or False: Definition: Photosynthesis is the anabolic, endergonic biochemical process by which ph</a:t>
            </a:r>
          </a:p>
        </p:txBody>
      </p:sp>
      <p:sp>
        <p:nvSpPr>
          <p:cNvPr id="8" name="S017 true_false" descr="Answer &amp; Explanation. Reveal locked answer for Q03"/>
          <p:cNvSpPr/>
          <p:nvPr/>
        </p:nvSpPr>
        <p:spPr>
          <a:xfrm>
            <a:off x="731520" y="3310128"/>
            <a:ext cx="5227167" cy="7772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17 true_false" descr="Answer &amp; Explanation. Reveal locked answer for Q03"/>
          <p:cNvSpPr txBox="1"/>
          <p:nvPr/>
        </p:nvSpPr>
        <p:spPr>
          <a:xfrm>
            <a:off x="960120" y="3383280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✔ A) True</a:t>
            </a:r>
          </a:p>
        </p:txBody>
      </p:sp>
      <p:sp>
        <p:nvSpPr>
          <p:cNvPr id="10" name="S017 true_false" descr="Answer &amp; Explanation. Reveal locked answer for Q03"/>
          <p:cNvSpPr/>
          <p:nvPr/>
        </p:nvSpPr>
        <p:spPr>
          <a:xfrm>
            <a:off x="6233007" y="3310128"/>
            <a:ext cx="5227167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17 true_false" descr="Answer &amp; Explanation. Reveal locked answer for Q03"/>
          <p:cNvSpPr txBox="1"/>
          <p:nvPr/>
        </p:nvSpPr>
        <p:spPr>
          <a:xfrm>
            <a:off x="6461607" y="3383280"/>
            <a:ext cx="47699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B) False</a:t>
            </a:r>
          </a:p>
        </p:txBody>
      </p:sp>
      <p:sp>
        <p:nvSpPr>
          <p:cNvPr id="12" name="S017 true_false" descr="Answer &amp; Explanation. Reveal locked answer for Q03"/>
          <p:cNvSpPr txBox="1"/>
          <p:nvPr/>
        </p:nvSpPr>
        <p:spPr>
          <a:xfrm>
            <a:off x="731520" y="4288536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Segoe UI"/>
              </a:defRPr>
            </a:pPr>
            <a:r>
              <a:t>Based on the core definition: 'Definition: Photosynthesis is the anabolic, endergonic biochemical process by which ph'.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sOne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8 retrieval" descr="Recall &amp; Reconstruct. retrieve C013, C014, C015 before moving 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8 retrieval" descr="Recall &amp; Reconstruct. retrieve C013, C014, C015 before moving on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18 retrieval" descr="Recall &amp; Reconstruct. retrieve C013, C014, C015 before moving on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Recall &amp; Reconstruct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6. Quantitative Experimental Data: Action Spectrum vs Absorption Spectrum</a:t>
            </a:r>
          </a:p>
        </p:txBody>
      </p:sp>
      <p:sp>
        <p:nvSpPr>
          <p:cNvPr id="5" name="S018 retrieval" descr="Recall &amp; Reconstruct. retrieve C013, C014, C015 before moving on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18 retrieval" descr="Recall &amp; Reconstruct. retrieve C013, C014, C015 before moving on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18 retrieval" descr="Recall &amp; Reconstruct. retrieve C013, C014, C015 before moving on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Without looking back: reconstruct Respiration is required continuously (24/7) to sustain baseline metabolic homeos; Cellular respiration occurs around the clock in all living plant tissues. The Ca.</a:t>
            </a:r>
          </a:p>
        </p:txBody>
      </p:sp>
      <p:sp>
        <p:nvSpPr>
          <p:cNvPr id="8" name="S018 retrieval" descr="Recall &amp; Reconstruct. retrieve C013, C014, C015 before moving on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Quiet thinking time: 30 seconds. Write before we reveal.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19 data_table" descr="Chapter 4: Photosynthesis and the Transformation of Energy. teach C016 in a manageable chun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19 data_table" descr="Chapter 4: Photosynthesis and the Transformation of Energy. teach C016 in a manageable chunk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DATA TABLE</a:t>
            </a:r>
          </a:p>
        </p:txBody>
      </p:sp>
      <p:sp>
        <p:nvSpPr>
          <p:cNvPr id="4" name="S019 data_table" descr="Chapter 4: Photosynthesis and the Transformation of Energy. teach C016 in a manageable chunk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Pigment Component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Peak Absorption Blue (nm)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Peak Absorption Red (nm)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Relative Abundance (%)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Chlorophyll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Chlorophyll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Carotenoids (Lutein &amp; β-Carotene)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0 retrieval" descr="Recall &amp; Reconstruct. retrieve C016, C017, C018 before moving 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0 retrieval" descr="Recall &amp; Reconstruct. retrieve C016, C017, C018 before moving on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20 retrieval" descr="Recall &amp; Reconstruct. retrieve C016, C017, C018 before moving on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Recall &amp; Reconstruct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7. Formative Assessment: Checks for Understanding</a:t>
            </a:r>
          </a:p>
        </p:txBody>
      </p:sp>
      <p:sp>
        <p:nvSpPr>
          <p:cNvPr id="5" name="S020 retrieval" descr="Recall &amp; Reconstruct. retrieve C016, C017, C018 before moving on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20 retrieval" descr="Recall &amp; Reconstruct. retrieve C016, C017, C018 before moving on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20 retrieval" descr="Recall &amp; Reconstruct. retrieve C016, C017, C018 before moving on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Without looking back: reconstruct the data table; If the thylakoid membrane becomes permeable to protons due to a chemical ionopho.</a:t>
            </a:r>
          </a:p>
        </p:txBody>
      </p:sp>
      <p:sp>
        <p:nvSpPr>
          <p:cNvPr id="8" name="S020 retrieval" descr="Recall &amp; Reconstruct. retrieve C016, C017, C018 before moving on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Quiet thinking time: 30 seconds. Write before we reveal.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1 practice_problem" descr="Practice Problem (source). model reasoning for C0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1 practice_problem" descr="Practice Problem (source). model reasoning for C020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PRACTICE</a:t>
            </a:r>
          </a:p>
        </p:txBody>
      </p:sp>
      <p:sp>
        <p:nvSpPr>
          <p:cNvPr id="4" name="S021 practice_problem" descr="Practice Problem (source). model reasoning for C020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Practice Problem (source)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8. Independent Practice and Exam-Style Problems</a:t>
            </a:r>
          </a:p>
        </p:txBody>
      </p:sp>
      <p:sp>
        <p:nvSpPr>
          <p:cNvPr id="5" name="S021 practice_problem" descr="Practice Problem (source). model reasoning for C020"/>
          <p:cNvSpPr/>
          <p:nvPr/>
        </p:nvSpPr>
        <p:spPr>
          <a:xfrm>
            <a:off x="731520" y="1783080"/>
            <a:ext cx="2194560" cy="31089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SOURCE PROBLEM</a:t>
            </a:r>
          </a:p>
        </p:txBody>
      </p:sp>
      <p:sp>
        <p:nvSpPr>
          <p:cNvPr id="6" name="S021 practice_problem" descr="Practice Problem (source). model reasoning for C020"/>
          <p:cNvSpPr/>
          <p:nvPr/>
        </p:nvSpPr>
        <p:spPr>
          <a:xfrm>
            <a:off x="731520" y="2194560"/>
            <a:ext cx="107286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21 practice_problem" descr="Practice Problem (source). model reasoning for C020"/>
          <p:cNvSpPr txBox="1"/>
          <p:nvPr/>
        </p:nvSpPr>
        <p:spPr>
          <a:xfrm>
            <a:off x="1097280" y="2377440"/>
            <a:ext cx="999713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72A"/>
                </a:solidFill>
                <a:latin typeface="Segoe UI"/>
              </a:defRPr>
            </a:pPr>
            <a:r>
              <a:t>Practice Problem 1: Trace the path of an electron extracted from water photolysis in Photosystem II until its terminal reduction of NADP+ to NADPH.</a:t>
            </a:r>
          </a:p>
        </p:txBody>
      </p:sp>
      <p:sp>
        <p:nvSpPr>
          <p:cNvPr id="8" name="S021 practice_problem" descr="Practice Problem (source). model reasoning for C020"/>
          <p:cNvSpPr txBox="1"/>
          <p:nvPr/>
        </p:nvSpPr>
        <p:spPr>
          <a:xfrm>
            <a:off x="731520" y="4069079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Segoe UI"/>
              </a:defRPr>
            </a:pPr>
            <a:r>
              <a:t>Number each transfer step; cite the source mechanism.</a:t>
            </a:r>
          </a:p>
        </p:txBody>
      </p:sp>
      <p:sp>
        <p:nvSpPr>
          <p:cNvPr id="9" name="S021 practice_problem" descr="Practice Problem (source). model reasoning for C020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Guided: complete the missing step, then verify.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2 practice_problem" descr="Practice Problem (source). model reasoning for C0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2 practice_problem" descr="Practice Problem (source). model reasoning for C021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PRACTICE</a:t>
            </a:r>
          </a:p>
        </p:txBody>
      </p:sp>
      <p:sp>
        <p:nvSpPr>
          <p:cNvPr id="4" name="S022 practice_problem" descr="Practice Problem (source). model reasoning for C021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Practice Problem (source)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22 practice_problem" descr="Practice Problem (source). model reasoning for C021"/>
          <p:cNvSpPr/>
          <p:nvPr/>
        </p:nvSpPr>
        <p:spPr>
          <a:xfrm>
            <a:off x="731520" y="1783080"/>
            <a:ext cx="2194560" cy="31089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SOURCE PROBLEM</a:t>
            </a:r>
          </a:p>
        </p:txBody>
      </p:sp>
      <p:sp>
        <p:nvSpPr>
          <p:cNvPr id="6" name="S022 practice_problem" descr="Practice Problem (source). model reasoning for C021"/>
          <p:cNvSpPr/>
          <p:nvPr/>
        </p:nvSpPr>
        <p:spPr>
          <a:xfrm>
            <a:off x="731520" y="2194560"/>
            <a:ext cx="107286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22 practice_problem" descr="Practice Problem (source). model reasoning for C021"/>
          <p:cNvSpPr txBox="1"/>
          <p:nvPr/>
        </p:nvSpPr>
        <p:spPr>
          <a:xfrm>
            <a:off x="1097280" y="2377440"/>
            <a:ext cx="999713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72A"/>
                </a:solidFill>
                <a:latin typeface="Segoe UI"/>
              </a:defRPr>
            </a:pPr>
            <a:r>
              <a:t>Practice Problem 2: Contrast the physiological advantages and energetic costs of the C3 photosynthetic pathway with the C4 dicarboxylic acid pathway in arid environments.</a:t>
            </a:r>
          </a:p>
        </p:txBody>
      </p:sp>
      <p:sp>
        <p:nvSpPr>
          <p:cNvPr id="8" name="S022 practice_problem" descr="Practice Problem (source). model reasoning for C021"/>
          <p:cNvSpPr/>
          <p:nvPr/>
        </p:nvSpPr>
        <p:spPr>
          <a:xfrm>
            <a:off x="731520" y="4069079"/>
            <a:ext cx="5181447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22 practice_problem" descr="Practice Problem (source). model reasoning for C021"/>
          <p:cNvSpPr txBox="1"/>
          <p:nvPr/>
        </p:nvSpPr>
        <p:spPr>
          <a:xfrm>
            <a:off x="1005840" y="4206239"/>
            <a:ext cx="46328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Segoe UI"/>
              </a:defRPr>
            </a:pPr>
            <a:r>
              <a:t>C3</a:t>
            </a:r>
          </a:p>
          <a:p>
            <a:pPr>
              <a:spcBef>
                <a:spcPts val="8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— class response —</a:t>
            </a:r>
          </a:p>
        </p:txBody>
      </p:sp>
      <p:sp>
        <p:nvSpPr>
          <p:cNvPr id="10" name="S022 practice_problem" descr="Practice Problem (source). model reasoning for C021"/>
          <p:cNvSpPr/>
          <p:nvPr/>
        </p:nvSpPr>
        <p:spPr>
          <a:xfrm>
            <a:off x="6278727" y="4069079"/>
            <a:ext cx="5181447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22 practice_problem" descr="Practice Problem (source). model reasoning for C021"/>
          <p:cNvSpPr txBox="1"/>
          <p:nvPr/>
        </p:nvSpPr>
        <p:spPr>
          <a:xfrm>
            <a:off x="6553047" y="4206239"/>
            <a:ext cx="46328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Segoe UI"/>
              </a:defRPr>
            </a:pPr>
            <a:r>
              <a:t>C4</a:t>
            </a:r>
          </a:p>
          <a:p>
            <a:pPr>
              <a:spcBef>
                <a:spcPts val="8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— class response —</a:t>
            </a:r>
          </a:p>
        </p:txBody>
      </p:sp>
      <p:sp>
        <p:nvSpPr>
          <p:cNvPr id="12" name="S022 practice_problem" descr="Practice Problem (source). model reasoning for C021"/>
          <p:cNvSpPr txBox="1"/>
          <p:nvPr/>
        </p:nvSpPr>
        <p:spPr>
          <a:xfrm>
            <a:off x="731520" y="5486399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Complete each cell from the lesson; no invented facts.</a:t>
            </a:r>
          </a:p>
        </p:txBody>
      </p:sp>
      <p:sp>
        <p:nvSpPr>
          <p:cNvPr id="13" name="S022 practice_problem" descr="Practice Problem (source). model reasoning for C021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Guided: complete the missing step, then verify.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3 retrieval" descr="Recall &amp; Reconstruct. retrieve C019, C020, C021 before moving 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3 retrieval" descr="Recall &amp; Reconstruct. retrieve C019, C020, C021 before moving on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23 retrieval" descr="Recall &amp; Reconstruct. retrieve C019, C020, C021 before moving on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Recall &amp; Reconstruct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Recall &amp; Reconstruct</a:t>
            </a:r>
          </a:p>
        </p:txBody>
      </p:sp>
      <p:sp>
        <p:nvSpPr>
          <p:cNvPr id="5" name="S023 retrieval" descr="Recall &amp; Reconstruct. retrieve C019, C020, C021 before moving on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23 retrieval" descr="Recall &amp; Reconstruct. retrieve C019, C020, C021 before moving on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23 retrieval" descr="Recall &amp; Reconstruct. retrieve C019, C020, C021 before moving on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Without looking back: reconstruct Practice Problem 1: Trace the path of an electron extracted from water photolysi; Practice Problem 2: Contrast the physiological advantages and energetic costs of.</a:t>
            </a:r>
          </a:p>
        </p:txBody>
      </p:sp>
      <p:sp>
        <p:nvSpPr>
          <p:cNvPr id="8" name="S023 retrieval" descr="Recall &amp; Reconstruct. retrieve C019, C020, C021 before moving on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Quiet thinking time: 30 seconds. Write before we reveal.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4 data_table" descr="Chapter 4: Photosynthesis and the Transformation of Energy. coordinate explanation + visual for C0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4 data_table" descr="Chapter 4: Photosynthesis and the Transformation of Energy. coordinate explanation + visual for C022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DATA TABLE</a:t>
            </a:r>
          </a:p>
        </p:txBody>
      </p:sp>
      <p:sp>
        <p:nvSpPr>
          <p:cNvPr id="4" name="S024 data_table" descr="Chapter 4: Photosynthesis and the Transformation of Energy. coordinate explanation + visual for C022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Pigment Component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Peak Absorption Blue (nm)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Peak Absorption Red (nm)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Relative Abundance (%)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Chlorophyll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Chlorophyll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Carotenoids (Lutein &amp; β-Carotene)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5 retrieval" descr="Recall &amp; Reconstruct. revisit the earliest important idea in a new con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5 retrieval" descr="Recall &amp; Reconstruct. revisit the earliest important idea in a new context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25 retrieval" descr="Recall &amp; Reconstruct. revisit the earliest important idea in a new context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Recall &amp; Reconstruct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Recall &amp; Reconstruct</a:t>
            </a:r>
          </a:p>
        </p:txBody>
      </p:sp>
      <p:sp>
        <p:nvSpPr>
          <p:cNvPr id="5" name="S025 retrieval" descr="Recall &amp; Reconstruct. revisit the earliest important idea in a new context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25 retrieval" descr="Recall &amp; Reconstruct. revisit the earliest important idea in a new context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25 retrieval" descr="Recall &amp; Reconstruct. revisit the earliest important idea in a new context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Without looking back: reconstruct Introduction and Big Picture; Definition: Photosynthesis is the anabolic, endergonic biochemical process by wh.</a:t>
            </a:r>
          </a:p>
        </p:txBody>
      </p:sp>
      <p:sp>
        <p:nvSpPr>
          <p:cNvPr id="8" name="S025 retrieval" descr="Recall &amp; Reconstruct. revisit the earliest important idea in a new context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Quiet thinking time: 30 seconds. Write before we reveal.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6 big_picture" descr="Chapter 4: Photosynthesis and the Transformation of Energy. consolidate golden rule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6 big_picture" descr="Chapter 4: Photosynthesis and the Transformation of Energy. consolidate golden rules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SYNTHESIS</a:t>
            </a:r>
          </a:p>
        </p:txBody>
      </p:sp>
      <p:sp>
        <p:nvSpPr>
          <p:cNvPr id="4" name="S026 big_picture" descr="Chapter 4: Photosynthesis and the Transformation of Energy. consolidate golden rules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Chapter 4: Photosynthesis and the Transformation of Energy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5" name="S026 big_picture" descr="Chapter 4: Photosynthesis and the Transformation of Energy. consolidate golden rules"/>
          <p:cNvSpPr/>
          <p:nvPr/>
        </p:nvSpPr>
        <p:spPr>
          <a:xfrm>
            <a:off x="5212080" y="3291840"/>
            <a:ext cx="182880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Chapter 4: Photosynthesis and the Transformation of Energy</a:t>
            </a:r>
          </a:p>
        </p:txBody>
      </p:sp>
      <p:sp>
        <p:nvSpPr>
          <p:cNvPr id="6" name="S026 big_picture" descr="Chapter 4: Photosynthesis and the Transformation of Energy. consolidate golden rules"/>
          <p:cNvSpPr/>
          <p:nvPr/>
        </p:nvSpPr>
        <p:spPr>
          <a:xfrm>
            <a:off x="914400" y="2103120"/>
            <a:ext cx="2926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26 big_picture" descr="Chapter 4: Photosynthesis and the Transformation of Energy. consolidate golden rules"/>
          <p:cNvSpPr txBox="1"/>
          <p:nvPr/>
        </p:nvSpPr>
        <p:spPr>
          <a:xfrm>
            <a:off x="1143000" y="2212848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Definition: Photosynthesis is the anabolic, endergonic biochemical process b</a:t>
            </a:r>
          </a:p>
        </p:txBody>
      </p:sp>
      <p:cxnSp>
        <p:nvCxnSpPr>
          <p:cNvPr id="8" name="S026 big_picture" descr="Chapter 4: Photosynthesis and the Transformation of Energy. consolidate golden rules"/>
          <p:cNvCxnSpPr/>
          <p:nvPr/>
        </p:nvCxnSpPr>
        <p:spPr>
          <a:xfrm>
            <a:off x="2377440" y="2697480"/>
            <a:ext cx="3749040" cy="109728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026 big_picture" descr="Chapter 4: Photosynthesis and the Transformation of Energy. consolidate golden rules"/>
          <p:cNvSpPr/>
          <p:nvPr/>
        </p:nvSpPr>
        <p:spPr>
          <a:xfrm>
            <a:off x="8321040" y="2103120"/>
            <a:ext cx="2926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26 big_picture" descr="Chapter 4: Photosynthesis and the Transformation of Energy. consolidate golden rules"/>
          <p:cNvSpPr txBox="1"/>
          <p:nvPr/>
        </p:nvSpPr>
        <p:spPr>
          <a:xfrm>
            <a:off x="8549640" y="2212848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6CO₂ + 6H₂O + light energy → text</a:t>
            </a:r>
          </a:p>
        </p:txBody>
      </p:sp>
      <p:cxnSp>
        <p:nvCxnSpPr>
          <p:cNvPr id="11" name="S026 big_picture" descr="Chapter 4: Photosynthesis and the Transformation of Energy. consolidate golden rules"/>
          <p:cNvCxnSpPr/>
          <p:nvPr/>
        </p:nvCxnSpPr>
        <p:spPr>
          <a:xfrm flipH="1">
            <a:off x="6126480" y="2697480"/>
            <a:ext cx="3657600" cy="109728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026 big_picture" descr="Chapter 4: Photosynthesis and the Transformation of Energy. consolidate golden rules"/>
          <p:cNvSpPr/>
          <p:nvPr/>
        </p:nvSpPr>
        <p:spPr>
          <a:xfrm>
            <a:off x="914400" y="4754880"/>
            <a:ext cx="2926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26 big_picture" descr="Chapter 4: Photosynthesis and the Transformation of Energy. consolidate golden rules"/>
          <p:cNvSpPr txBox="1"/>
          <p:nvPr/>
        </p:nvSpPr>
        <p:spPr>
          <a:xfrm>
            <a:off x="1143000" y="4864608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4. Worked Calculation: Photochemical Quantum Yield and Efficiency</a:t>
            </a:r>
            <a:br/>
            <a:r>
              <a:t>A research</a:t>
            </a:r>
          </a:p>
        </p:txBody>
      </p:sp>
      <p:cxnSp>
        <p:nvCxnSpPr>
          <p:cNvPr id="14" name="S026 big_picture" descr="Chapter 4: Photosynthesis and the Transformation of Energy. consolidate golden rules"/>
          <p:cNvCxnSpPr/>
          <p:nvPr/>
        </p:nvCxnSpPr>
        <p:spPr>
          <a:xfrm flipV="1">
            <a:off x="2377440" y="3794760"/>
            <a:ext cx="3749040" cy="155448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026 big_picture" descr="Chapter 4: Photosynthesis and the Transformation of Energy. consolidate golden rules"/>
          <p:cNvSpPr/>
          <p:nvPr/>
        </p:nvSpPr>
        <p:spPr>
          <a:xfrm>
            <a:off x="8321040" y="4754880"/>
            <a:ext cx="2926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26 big_picture" descr="Chapter 4: Photosynthesis and the Transformation of Energy. consolidate golden rules"/>
          <p:cNvSpPr txBox="1"/>
          <p:nvPr/>
        </p:nvSpPr>
        <p:spPr>
          <a:xfrm>
            <a:off x="8549640" y="4864608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  <a:latin typeface="Segoe UI"/>
              </a:defRPr>
            </a:pPr>
            <a:r>
              <a:t>Step 1: Determine the ratio of oxygen evolution to photon absorption:</a:t>
            </a:r>
            <a:br/>
            <a:r>
              <a:t>textMo</a:t>
            </a:r>
          </a:p>
        </p:txBody>
      </p:sp>
      <p:cxnSp>
        <p:nvCxnSpPr>
          <p:cNvPr id="17" name="S026 big_picture" descr="Chapter 4: Photosynthesis and the Transformation of Energy. consolidate golden rules"/>
          <p:cNvCxnSpPr/>
          <p:nvPr/>
        </p:nvCxnSpPr>
        <p:spPr>
          <a:xfrm flipH="1" flipV="1">
            <a:off x="6126480" y="3794760"/>
            <a:ext cx="3657600" cy="155448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sOne"/>
      <p:bldP spid="6" grpId="0" build="asOne"/>
      <p:bldP spid="9" grpId="0" build="asOne"/>
      <p:bldP spid="12" grpId="0" build="asOne"/>
      <p:bldP spid="15" grpId="0" build="asOne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7 retrieval" descr="Check for Understanding. Assess: Identify (O05): Headers: Pigment Component, Peak Absorption Blue (nm), Peak Abs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7 retrieval" descr="Check for Understanding. Assess: Identify (O05): Headers: Pigment Component, Peak Absorption Blue (nm), Peak Abso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4" name="S027 retrieval" descr="Check for Understanding. Assess: Identify (O05): Headers: Pigment Component, Peak Absorption Blue (nm), Peak Abso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Check for Understanding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Check for Understanding</a:t>
            </a:r>
          </a:p>
        </p:txBody>
      </p:sp>
      <p:sp>
        <p:nvSpPr>
          <p:cNvPr id="5" name="S027 retrieval" descr="Check for Understanding. Assess: Identify (O05): Headers: Pigment Component, Peak Absorption Blue (nm), Peak Abso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27 retrieval" descr="Check for Understanding. Assess: Identify (O05): Headers: Pigment Component, Peak Absorption Blue (nm), Peak Abso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27 retrieval" descr="Check for Understanding. Assess: Identify (O05): Headers: Pigment Component, Peak Absorption Blue (nm), Peak Abso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Identify (O05): Headers: Pigment Component, Peak Absorption Blue (nm), Peak Absorption Red (nm), Relative Abundance (%)</a:t>
            </a:r>
            <a:br/>
            <a:r>
              <a:t>Rows:</a:t>
            </a:r>
          </a:p>
        </p:txBody>
      </p:sp>
      <p:sp>
        <p:nvSpPr>
          <p:cNvPr id="8" name="S027 retrieval" descr="Check for Understanding. Assess: Identify (O05): Headers: Pigment Component, Peak Absorption Blue (nm), Peak Abso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Quiet thinking time: 30 seconds. Write before we reveal.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8 retrieval" descr="Answer &amp; Explanation. Reveal locked answer for Q0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8 retrieval" descr="Answer &amp; Explanation. Reveal locked answer for Q05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ANSWER &amp; SOLUTION</a:t>
            </a:r>
          </a:p>
        </p:txBody>
      </p:sp>
      <p:sp>
        <p:nvSpPr>
          <p:cNvPr id="4" name="S028 retrieval" descr="Answer &amp; Explanation. Reveal locked answer for Q05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Answer &amp; Explanation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Answer &amp; Explanation</a:t>
            </a:r>
          </a:p>
        </p:txBody>
      </p:sp>
      <p:sp>
        <p:nvSpPr>
          <p:cNvPr id="5" name="S028 retrieval" descr="Answer &amp; Explanation. Reveal locked answer for Q05"/>
          <p:cNvSpPr/>
          <p:nvPr/>
        </p:nvSpPr>
        <p:spPr>
          <a:xfrm>
            <a:off x="731520" y="1783080"/>
            <a:ext cx="20116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RETRIEVAL CHECK</a:t>
            </a:r>
          </a:p>
        </p:txBody>
      </p:sp>
      <p:sp>
        <p:nvSpPr>
          <p:cNvPr id="6" name="S028 retrieval" descr="Answer &amp; Explanation. Reveal locked answer for Q05"/>
          <p:cNvSpPr/>
          <p:nvPr/>
        </p:nvSpPr>
        <p:spPr>
          <a:xfrm>
            <a:off x="731520" y="21488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028 retrieval" descr="Answer &amp; Explanation. Reveal locked answer for Q05"/>
          <p:cNvSpPr txBox="1"/>
          <p:nvPr/>
        </p:nvSpPr>
        <p:spPr>
          <a:xfrm>
            <a:off x="1097280" y="228600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Identify (O05): Headers: Pigment Component, Peak Absorption Blue (nm), Peak Absorption Red (nm), Relative Abundance (%)</a:t>
            </a:r>
            <a:br/>
            <a:r>
              <a:t>Rows:</a:t>
            </a:r>
          </a:p>
        </p:txBody>
      </p:sp>
      <p:sp>
        <p:nvSpPr>
          <p:cNvPr id="8" name="S028 retrieval" descr="Answer &amp; Explanation. Reveal locked answer for Q05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F172A"/>
                </a:solidFill>
                <a:latin typeface="Segoe UI"/>
              </a:defRPr>
            </a:pPr>
            <a:r>
              <a:t>Aligned to O05 (identify/recall): Headers: Pigment Component, Peak Absorption Blue (nm), Peak Absorption Red (nm), Relative Abundance (%)</a:t>
            </a:r>
            <a:br/>
            <a:r>
              <a:t>Rows:</a:t>
            </a:r>
            <a:br/>
            <a:r>
              <a:t>Chlorophyll a, 430, 662, 65</a:t>
            </a:r>
            <a:br/>
            <a:r>
              <a:t>Chlorophyll b, 453, 642, 25</a:t>
            </a:r>
            <a:br/>
            <a:r>
              <a:t>Carotenoids (Lutein &amp; β-C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029 exit" descr="Exit Ticket. Rapid formative exit chec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029 exit" descr="Exit Ticket. Rapid formative exit check"/>
          <p:cNvSpPr/>
          <p:nvPr/>
        </p:nvSpPr>
        <p:spPr>
          <a:xfrm>
            <a:off x="731520" y="548640"/>
            <a:ext cx="228600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REFLECTION</a:t>
            </a:r>
          </a:p>
        </p:txBody>
      </p:sp>
      <p:sp>
        <p:nvSpPr>
          <p:cNvPr id="4" name="S029 exit" descr="Exit Ticket. Rapid formative exit check"/>
          <p:cNvSpPr txBox="1"/>
          <p:nvPr/>
        </p:nvSpPr>
        <p:spPr>
          <a:xfrm>
            <a:off x="731520" y="89611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Exit Ticket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Exit Ticket</a:t>
            </a:r>
          </a:p>
        </p:txBody>
      </p:sp>
      <p:sp>
        <p:nvSpPr>
          <p:cNvPr id="5" name="S029 exit" descr="Exit Ticket. Rapid formative exit check"/>
          <p:cNvSpPr/>
          <p:nvPr/>
        </p:nvSpPr>
        <p:spPr>
          <a:xfrm>
            <a:off x="731520" y="2011680"/>
            <a:ext cx="5181447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029 exit" descr="Exit Ticket. Rapid formative exit check"/>
          <p:cNvSpPr txBox="1"/>
          <p:nvPr/>
        </p:nvSpPr>
        <p:spPr>
          <a:xfrm>
            <a:off x="1097280" y="2377440"/>
            <a:ext cx="444992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Most important concept from today?</a:t>
            </a:r>
          </a:p>
        </p:txBody>
      </p:sp>
      <p:sp>
        <p:nvSpPr>
          <p:cNvPr id="7" name="S029 exit" descr="Exit Ticket. Rapid formative exit check"/>
          <p:cNvSpPr/>
          <p:nvPr/>
        </p:nvSpPr>
        <p:spPr>
          <a:xfrm>
            <a:off x="6278727" y="2011680"/>
            <a:ext cx="5181447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29 exit" descr="Exit Ticket. Rapid formative exit check"/>
          <p:cNvSpPr txBox="1"/>
          <p:nvPr/>
        </p:nvSpPr>
        <p:spPr>
          <a:xfrm>
            <a:off x="6644487" y="2377440"/>
            <a:ext cx="444992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One question you still have?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