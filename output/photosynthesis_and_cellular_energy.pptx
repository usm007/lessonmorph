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Welcome students to Chapter 4: Photosynthesis and the Transformation of Energy. Today we establish a deep conceptual and practical mastery of this topic.</a:t>
            </a:r>
          </a:p>
          <a:p/>
          <a:p>
            <a:r>
              <a:t>EMPHASIS / KEY POINT:</a:t>
            </a:r>
          </a:p>
          <a:p>
            <a:r>
              <a:t>Focus on fundamental definitions and principles first before moving to problem solving.</a:t>
            </a:r>
          </a:p>
          <a:p/>
          <a:p>
            <a:r>
              <a:t>ASK STUDENTS (ORAL CHECK):</a:t>
            </a:r>
          </a:p>
          <a:p>
            <a:r>
              <a:t>What comes to your mind when you hear the term 'Chapter 4: Photosynthesis and the Transformation of Energy'?</a:t>
            </a:r>
          </a:p>
          <a:p/>
          <a:p>
            <a:r>
              <a:t>TRANSITION:</a:t>
            </a:r>
          </a:p>
          <a:p>
            <a:r>
              <a:t>Let's look at our roadmap for today's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Walk students through the roadmap so they see how today's ideas connect logically.</a:t>
            </a:r>
          </a:p>
          <a:p/>
          <a:p>
            <a:r>
              <a:t>EMPHASIS / KEY POINT:</a:t>
            </a:r>
          </a:p>
          <a:p>
            <a:r>
              <a:t>Every concept builds directly upon the previous one.</a:t>
            </a:r>
          </a:p>
          <a:p/>
          <a:p>
            <a:r>
              <a:t>TRANSITION:</a:t>
            </a:r>
          </a:p>
          <a:p>
            <a:r>
              <a:t>Let's look at our specific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State the learning goals clearly so students know what they are responsible for.</a:t>
            </a:r>
          </a:p>
          <a:p/>
          <a:p>
            <a:r>
              <a:t>EMPHASIS / KEY POINT:</a:t>
            </a:r>
          </a:p>
          <a:p>
            <a:r>
              <a:t>By the end of this session, you should be able to solve these problems independently.</a:t>
            </a:r>
          </a:p>
          <a:p/>
          <a:p>
            <a:r>
              <a:t>ASK STUDENTS (ORAL CHECK):</a:t>
            </a:r>
          </a:p>
          <a:p>
            <a:r>
              <a:t>Which of these goals looks most challenging or interesting?</a:t>
            </a:r>
          </a:p>
          <a:p/>
          <a:p>
            <a:r>
              <a:t>TRANSITION:</a:t>
            </a:r>
          </a:p>
          <a:p>
            <a:r>
              <a:t>Let's activate our prior knowledge before introducing new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Briefly review prerequisite concepts to activate prior knowledge.</a:t>
            </a:r>
          </a:p>
          <a:p/>
          <a:p>
            <a:r>
              <a:t>EMPHASIS / KEY POINT:</a:t>
            </a:r>
          </a:p>
          <a:p>
            <a:r>
              <a:t>If you are rusty on these prerequisites, pay close attention to the warm-up connections.</a:t>
            </a:r>
          </a:p>
          <a:p/>
          <a:p>
            <a:r>
              <a:t>ASK STUDENTS (ORAL CHECK):</a:t>
            </a:r>
          </a:p>
          <a:p>
            <a:r>
              <a:t>Can someone summarize our first prerequisite in their own words?</a:t>
            </a:r>
          </a:p>
          <a:p/>
          <a:p>
            <a:r>
              <a:t>TRANSITION:</a:t>
            </a:r>
          </a:p>
          <a:p>
            <a:r>
              <a:t>With this foundation ready, let's dive into our first core concept.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1. Introduction and Big Picture</a:t>
            </a:r>
          </a:p>
          <a:p>
            <a:r>
              <a:t>All biological activity on Earth is ultimately driven by solar energy. Phototrophic organisms—including terrestrial green plants, cyanobacteria, and eukaryotic algae—possess the specialized machinery required to capture solar photons and convert electromagnetic energy into stable chemical bonds.</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Define the term with high precision. Emphasize why the formal wording matters.</a:t>
            </a:r>
          </a:p>
          <a:p>
            <a:r>
              <a:t>**Definition**: Photosynthesis is the anabolic, endergonic biochemical process by which photoautotrophic organisms synthesize high-energy hexose carbohydrates from inorganic carbon dioxide and water, using radiant solar energy captured by photosynthetic pigments, with molecular oxygen released as a metabolic byproduct.</a:t>
            </a:r>
          </a:p>
          <a:p/>
          <a:p>
            <a:r>
              <a:t>EMPHASIS / KEY POINT:</a:t>
            </a:r>
          </a:p>
          <a:p>
            <a:r>
              <a:t>Do not paraphrase away key terminology.</a:t>
            </a:r>
          </a:p>
          <a:p/>
          <a:p>
            <a:r>
              <a:t>ASK STUDENTS (ORAL CHECK):</a:t>
            </a:r>
          </a:p>
          <a:p>
            <a:r>
              <a:t>Why is this specific definition necessary?</a:t>
            </a:r>
          </a:p>
          <a:p/>
          <a:p>
            <a:r>
              <a:t>TRANSITION:</a:t>
            </a:r>
          </a:p>
          <a:p>
            <a:r>
              <a:t>Now let's see how this definition applies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Analyze every symbol in the formula:</a:t>
            </a:r>
          </a:p>
          <a:p>
            <a:r>
              <a:t>$$6\text{CO}_2 + 6\text{H}_2\text{O} + \text{light energy} \longrightarrow \text{C}_6\text{H}_{12}\text{O}_6 + 6\text{O}_2$$</a:t>
            </a:r>
          </a:p>
          <a:p/>
          <a:p>
            <a:r>
              <a:t>EMPHASIS / KEY POINT:</a:t>
            </a:r>
          </a:p>
          <a:p>
            <a:r>
              <a:t>Units and dimensional consistency must always be checked.</a:t>
            </a:r>
          </a:p>
          <a:p/>
          <a:p>
            <a:r>
              <a:t>ASK STUDENTS (ORAL CHECK):</a:t>
            </a:r>
          </a:p>
          <a:p>
            <a:r>
              <a:t>What happens to the left side if we double the variable on the right?</a:t>
            </a:r>
          </a:p>
          <a:p/>
          <a:p>
            <a:r>
              <a:t>TRANSITION:</a:t>
            </a:r>
          </a:p>
          <a:p>
            <a:r>
              <a:t>Let's work through a concrete calculation using this formula.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Where:</a:t>
            </a:r>
          </a:p>
          <a:p>
            <a:r>
              <a:t>- $\text{CO}_2$ represents atmospheric carbon dioxide, entering via foliar stomatal pores</a:t>
            </a:r>
          </a:p>
          <a:p>
            <a:r>
              <a:t>- $\text{H}_2\text{O}$ represents water absorbed from the rhizosphere through root xylem tissue</a:t>
            </a:r>
          </a:p>
          <a:p>
            <a:r>
              <a:t>- $\text{C}_6\text{H}_{12}\text{O}_6$ represents glucose, the primary phosphorylated monosaccharide substrate</a:t>
            </a:r>
          </a:p>
          <a:p>
            <a:r>
              <a:t>- $\text{O}_2$ represents molecular diatomic oxygen, released as a gaseous byproduct</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3. Subcellular Architecture: The Chloroplast</a:t>
            </a:r>
          </a:p>
          <a:p>
            <a:r>
              <a:t>Photosynthetic reactions in eukaryotes are compartmentalized within double-membrane chloroplasts.</a:t>
            </a:r>
          </a:p>
          <a:p>
            <a:r>
              <a:t>- **Thylakoid Membrane System**: Site of the light-dependent reactions, housing Photosystem II (P680), Photosystem I (P700), the cytochrome b6f complex, and ATP synthase.</a:t>
            </a:r>
          </a:p>
          <a:p>
            <a:r>
              <a:t>- **Stroma**: The semi-fluid matrix surrounding thylakoids, containing RuBisCO, soluble enzymes, stromal ribosomes, and chloroplast DNA; site of the Calvin-Benson cycle.</a:t>
            </a:r>
          </a:p>
          <a:p>
            <a:r>
              <a:t>- **Thylakoid Lumen**: The acidified interior compartment across which a transmembrane proton motive force ($\Delta\mu_{\text{H}^+}$) is established.</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Analyze every symbol in the formula:</a:t>
            </a:r>
          </a:p>
          <a:p>
            <a:r>
              <a:t>### 4. Worked Calculation: Photochemical Quantum Yield and Efficiency</a:t>
            </a:r>
          </a:p>
          <a:p>
            <a:r>
              <a:t>A researcher illuminates a suspension of *Chlorella vulgaris* with monochromatic red light at a wavelength of $\lambda = 680\text{ nm}$. The molar photon flux absorbed is $8.0\text{ mol of photons}$.</a:t>
            </a:r>
          </a:p>
          <a:p/>
          <a:p>
            <a:r>
              <a:t>EMPHASIS / KEY POINT:</a:t>
            </a:r>
          </a:p>
          <a:p>
            <a:r>
              <a:t>Units and dimensional consistency must always be checked.</a:t>
            </a:r>
          </a:p>
          <a:p/>
          <a:p>
            <a:r>
              <a:t>ASK STUDENTS (ORAL CHECK):</a:t>
            </a:r>
          </a:p>
          <a:p>
            <a:r>
              <a:t>What happens to the left side if we double the variable on the right?</a:t>
            </a:r>
          </a:p>
          <a:p/>
          <a:p>
            <a:r>
              <a:t>TRANSITION:</a:t>
            </a:r>
          </a:p>
          <a:p>
            <a:r>
              <a:t>Let's work through a concrete calculation using this formula.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Determine the theoretical moles of glucose produced if the experimental quantum requirement is $8\text{ photons per molecule of }\text{O}_2$ evolved.</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Analyze every symbol in the formula:</a:t>
            </a:r>
          </a:p>
          <a:p>
            <a:r>
              <a:t>Step 1: Determine the ratio of oxygen evolution to photon absorption:</a:t>
            </a:r>
          </a:p>
          <a:p>
            <a:r>
              <a:t>$$\text{Moles of }\text{O}_2 = \frac{8.0\text{ mol photons}}{8\text{ photons/molecule}} = 1.0\text{ mol }\text{O}_2$$</a:t>
            </a:r>
          </a:p>
          <a:p/>
          <a:p>
            <a:r>
              <a:t>EMPHASIS / KEY POINT:</a:t>
            </a:r>
          </a:p>
          <a:p>
            <a:r>
              <a:t>Units and dimensional consistency must always be checked.</a:t>
            </a:r>
          </a:p>
          <a:p/>
          <a:p>
            <a:r>
              <a:t>ASK STUDENTS (ORAL CHECK):</a:t>
            </a:r>
          </a:p>
          <a:p>
            <a:r>
              <a:t>What happens to the left side if we double the variable on the right?</a:t>
            </a:r>
          </a:p>
          <a:p/>
          <a:p>
            <a:r>
              <a:t>TRANSITION:</a:t>
            </a:r>
          </a:p>
          <a:p>
            <a:r>
              <a:t>Let's work through a concrete calculation using this formula.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Analyze every symbol in the formula:</a:t>
            </a:r>
          </a:p>
          <a:p>
            <a:r>
              <a:t>Step 2: Relate oxygen evolution to glucose synthesis using the stoichiometric equation:</a:t>
            </a:r>
          </a:p>
          <a:p>
            <a:r>
              <a:t>$$6\text{ mol }\text{O}_2 \text{ evolved corresponds to } 1\text{ mol }\text{C}_6\text{H}_{12}\text{O}_6 \text{ synthesized.}$$</a:t>
            </a:r>
          </a:p>
          <a:p/>
          <a:p>
            <a:r>
              <a:t>EMPHASIS / KEY POINT:</a:t>
            </a:r>
          </a:p>
          <a:p>
            <a:r>
              <a:t>Units and dimensional consistency must always be checked.</a:t>
            </a:r>
          </a:p>
          <a:p/>
          <a:p>
            <a:r>
              <a:t>ASK STUDENTS (ORAL CHECK):</a:t>
            </a:r>
          </a:p>
          <a:p>
            <a:r>
              <a:t>What happens to the left side if we double the variable on the right?</a:t>
            </a:r>
          </a:p>
          <a:p/>
          <a:p>
            <a:r>
              <a:t>TRANSITION:</a:t>
            </a:r>
          </a:p>
          <a:p>
            <a:r>
              <a:t>Let's work through a concrete calculation using this formula.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Analyze every symbol in the formula:</a:t>
            </a:r>
          </a:p>
          <a:p>
            <a:r>
              <a:t>Step 3: Compute the theoretical glucose yield:</a:t>
            </a:r>
          </a:p>
          <a:p>
            <a:r>
              <a:t>$$\text{Moles of Glucose} = \frac{1.0\text{ mol }\text{O}_2}{6} \approx 0.167\text{ mol of Glucose (approx. } 30.0\\text{ grams)}.$$</a:t>
            </a:r>
          </a:p>
          <a:p/>
          <a:p>
            <a:r>
              <a:t>EMPHASIS / KEY POINT:</a:t>
            </a:r>
          </a:p>
          <a:p>
            <a:r>
              <a:t>Units and dimensional consistency must always be checked.</a:t>
            </a:r>
          </a:p>
          <a:p/>
          <a:p>
            <a:r>
              <a:t>ASK STUDENTS (ORAL CHECK):</a:t>
            </a:r>
          </a:p>
          <a:p>
            <a:r>
              <a:t>What happens to the left side if we double the variable on the right?</a:t>
            </a:r>
          </a:p>
          <a:p/>
          <a:p>
            <a:r>
              <a:t>TRANSITION:</a:t>
            </a:r>
          </a:p>
          <a:p>
            <a:r>
              <a:t>Let's work through a concrete calculation using this formula.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5. Common Misconception: The Dark Reactions and Plant Respiration</a:t>
            </a:r>
          </a:p>
          <a:p>
            <a:r>
              <a:t>Common Mistake: Plants perform photosynthesis during the day and cellular respiration only at night; furthermore, the 'dark reactions' (Calvin cycle) occur only in total darkness.</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Why it is flawed: Respiration is required continuously (24/7) to sustain baseline metabolic homeostasis and ATP production in all living plant cells. Furthermore, several key Calvin cycle enzymes (e.g., phosphoribulokinase, sedoheptulose-1,7-bisphosphatase, and RuBisCO activase) are light-activated via the thioredoxin system.</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Correct Reasoning: Cellular respiration occurs around the clock in all living plant tissues. The Calvin cycle is 'light-independent' only in the sense that it does not directly absorb photons, but it relies continuously on ATP and NADPH generated by light reactions and is deactivated in extended darkness.</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6. Quantitative Experimental Data: Action Spectrum vs Absorption Spectrum</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Pigment Component | Peak Absorption Blue (nm) | Peak Absorption Red (nm) | Relative Abundance (%) |</a:t>
            </a:r>
          </a:p>
          <a:p>
            <a:r>
              <a:t>| :---: | :---: | :---: | :---: |</a:t>
            </a:r>
          </a:p>
          <a:p>
            <a:r>
              <a:t>| Chlorophyll a | 430 | 662 | 65 |</a:t>
            </a:r>
          </a:p>
          <a:p>
            <a:r>
              <a:t>| Chlorophyll b | 453 | 642 | 25 |</a:t>
            </a:r>
          </a:p>
          <a:p>
            <a:r>
              <a:t>| Carotenoids (Lutein &amp; β-Carotene) | 445 | None | 10 |</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7. Formative Assessment: Checks for Understanding</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Question: If the thylakoid membrane becomes permeable to protons due to a chemical ionophore, what is the immediate biochemical consequence?</a:t>
            </a:r>
          </a:p>
          <a:p>
            <a:r>
              <a:t>A) Photolysis of water ceases immediately</a:t>
            </a:r>
          </a:p>
          <a:p>
            <a:r>
              <a:t>B) Photophosphorylation of ADP to ATP stops, while electron transport may continue</a:t>
            </a:r>
          </a:p>
          <a:p>
            <a:r>
              <a:t>C) Carbon dioxide fixation in the stroma accelerates dramatically</a:t>
            </a:r>
          </a:p>
          <a:p>
            <a:r>
              <a:t>D) Chlorophyll pigments cease photon absorption</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this core concept thoroughly:</a:t>
            </a:r>
          </a:p>
          <a:p>
            <a:r>
              <a:t>### 8. Independent Practice and Exam-Style Problems</a:t>
            </a:r>
          </a:p>
          <a:p/>
          <a:p>
            <a:r>
              <a:t>EMPHASIS / KEY POINT:</a:t>
            </a:r>
          </a:p>
          <a:p>
            <a:r>
              <a:t>Ensure students grasp the fundamental mechanism.</a:t>
            </a:r>
          </a:p>
          <a:p/>
          <a:p>
            <a:r>
              <a:t>ASK STUDENTS (ORAL CHECK):</a:t>
            </a:r>
          </a:p>
          <a:p>
            <a:r>
              <a:t>How does this relate to what we discussed earlier?</a:t>
            </a:r>
          </a:p>
          <a:p/>
          <a:p>
            <a:r>
              <a:t>TRANSITION:</a:t>
            </a:r>
          </a:p>
          <a:p>
            <a:r>
              <a:t>Let's build upon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Guide students step by step. Pause after each step before clicking to reveal the next step.</a:t>
            </a:r>
          </a:p>
          <a:p/>
          <a:p>
            <a:r>
              <a:t>EMPHASIS / KEY POINT:</a:t>
            </a:r>
          </a:p>
          <a:p>
            <a:r>
              <a:t>Ensure students write down each intermediate step rather than skipping to the final number.</a:t>
            </a:r>
          </a:p>
          <a:p/>
          <a:p>
            <a:r>
              <a:t>ASK STUDENTS (ORAL CHECK):</a:t>
            </a:r>
          </a:p>
          <a:p>
            <a:r>
              <a:t>Before I click, what is our next mathematical operation?</a:t>
            </a:r>
          </a:p>
          <a:p/>
          <a:p>
            <a:r>
              <a:t>TRANSITION:</a:t>
            </a:r>
          </a:p>
          <a:p>
            <a:r>
              <a:t>Let's review the final solution and check units.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Guide students step by step. Pause after each step before clicking to reveal the next step.</a:t>
            </a:r>
          </a:p>
          <a:p/>
          <a:p>
            <a:r>
              <a:t>EMPHASIS / KEY POINT:</a:t>
            </a:r>
          </a:p>
          <a:p>
            <a:r>
              <a:t>Ensure students write down each intermediate step rather than skipping to the final number.</a:t>
            </a:r>
          </a:p>
          <a:p/>
          <a:p>
            <a:r>
              <a:t>ASK STUDENTS (ORAL CHECK):</a:t>
            </a:r>
          </a:p>
          <a:p>
            <a:r>
              <a:t>Before I click, what is our next mathematical operation?</a:t>
            </a:r>
          </a:p>
          <a:p/>
          <a:p>
            <a:r>
              <a:t>TRANSITION:</a:t>
            </a:r>
          </a:p>
          <a:p>
            <a:r>
              <a:t>Let's review the final solution and check units.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Examine patterns and relationships in the structured data.</a:t>
            </a:r>
          </a:p>
          <a:p/>
          <a:p>
            <a:r>
              <a:t>EMPHASIS / KEY POINT:</a:t>
            </a:r>
          </a:p>
          <a:p>
            <a:r>
              <a:t>Notice the rows that illustrate key trends or exceptions.</a:t>
            </a:r>
          </a:p>
          <a:p/>
          <a:p>
            <a:r>
              <a:t>ASK STUDENTS (ORAL CHECK):</a:t>
            </a:r>
          </a:p>
          <a:p>
            <a:r>
              <a:t>What trend do you observe across these columns?</a:t>
            </a:r>
          </a:p>
          <a:p/>
          <a:p>
            <a:r>
              <a:t>TRANSITION:</a:t>
            </a:r>
          </a:p>
          <a:p>
            <a:r>
              <a:t>Let's analyze what this data proves.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Highlight this frequent student misconception. Ask if anyone has made this mistake before.</a:t>
            </a:r>
          </a:p>
          <a:p/>
          <a:p>
            <a:r>
              <a:t>EMPHASIS / KEY POINT:</a:t>
            </a:r>
          </a:p>
          <a:p>
            <a:r>
              <a:t>Explain the logical flaw in the wrong approach before confirming the correct reasoning.</a:t>
            </a:r>
          </a:p>
          <a:p/>
          <a:p>
            <a:r>
              <a:t>ASK STUDENTS (ORAL CHECK):</a:t>
            </a:r>
          </a:p>
          <a:p>
            <a:r>
              <a:t>Why is 'The Dark Reactions and Plant Respiration</a:t>
            </a:r>
          </a:p>
          <a:p>
            <a:r>
              <a:t>Common Mistake: Plants perform photosynthesis during the day and cellular respiration only at night; furthermore, the 'dark reactions' (Calvin cycle) occur only in total darkness.' such an easy trap to fall into?</a:t>
            </a:r>
          </a:p>
          <a:p/>
          <a:p>
            <a:r>
              <a:t>LIKELY MISCONCEPTION:</a:t>
            </a:r>
          </a:p>
          <a:p>
            <a:r>
              <a:t>The Dark Reactions and Plant Respiration</a:t>
            </a:r>
          </a:p>
          <a:p>
            <a:r>
              <a:t>Common Mistake: Plants perform photosynthesis during the day and cellular respiration only at night; furthermore, the 'dark reactions' (Calvin cycle) occur only in total darkness.</a:t>
            </a:r>
          </a:p>
          <a:p/>
          <a:p>
            <a:r>
              <a:t>TRANSITION:</a:t>
            </a:r>
          </a:p>
          <a:p>
            <a:r>
              <a:t>Let's make sure we test our understanding with a quick check.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Present question to the class. DO NOT give away the answer.</a:t>
            </a:r>
          </a:p>
          <a:p/>
          <a:p>
            <a:r>
              <a:t>EMPHASIS / KEY POINT:</a:t>
            </a:r>
          </a:p>
          <a:p>
            <a:r>
              <a:t>Give students 30-45 seconds of quiet thinking time or turn-and-talk before taking answers.</a:t>
            </a:r>
          </a:p>
          <a:p/>
          <a:p>
            <a:r>
              <a:t>ASK STUDENTS (ORAL CHECK):</a:t>
            </a:r>
          </a:p>
          <a:p>
            <a:r>
              <a:t>Question: If the thylakoid membrane becomes permeable to protons due to a chemical ionophore, what is the immediate biochemical consequence?</a:t>
            </a:r>
          </a:p>
          <a:p>
            <a:r>
              <a:t>Who can explain their reasoning?</a:t>
            </a:r>
          </a:p>
          <a:p/>
          <a:p>
            <a:r>
              <a:t>TRANSITION:</a:t>
            </a:r>
          </a:p>
          <a:p>
            <a:r>
              <a:t>Let's advance to the next slide to reveal the verified answer and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Reveal correct answer: A) Photolysis of water ceases immediately.</a:t>
            </a:r>
          </a:p>
          <a:p>
            <a:r>
              <a:t>Explanation: Direct application of source exercise.</a:t>
            </a:r>
          </a:p>
          <a:p/>
          <a:p>
            <a:r>
              <a:t>EMPHASIS / KEY POINT:</a:t>
            </a:r>
          </a:p>
          <a:p>
            <a:r>
              <a:t>Discuss why the distractors are incorrect so students learn from mistakes.</a:t>
            </a:r>
          </a:p>
          <a:p/>
          <a:p>
            <a:r>
              <a:t>ASK STUDENTS (ORAL CHECK):</a:t>
            </a:r>
          </a:p>
          <a:p>
            <a:r>
              <a:t>Did anyone arrive at this using a different method?</a:t>
            </a:r>
          </a:p>
          <a:p/>
          <a:p>
            <a:r>
              <a:t>TRANSITION:</a:t>
            </a:r>
          </a:p>
          <a:p>
            <a:r>
              <a:t>Let's proceed to synthesize our major takeaways.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Present question to the class. DO NOT give away the answer.</a:t>
            </a:r>
          </a:p>
          <a:p/>
          <a:p>
            <a:r>
              <a:t>EMPHASIS / KEY POINT:</a:t>
            </a:r>
          </a:p>
          <a:p>
            <a:r>
              <a:t>Give students 30-45 seconds of quiet thinking time or turn-and-talk before taking answers.</a:t>
            </a:r>
          </a:p>
          <a:p/>
          <a:p>
            <a:r>
              <a:t>ASK STUDENTS (ORAL CHECK):</a:t>
            </a:r>
          </a:p>
          <a:p>
            <a:r>
              <a:t>### 8. Independent Practice and Exam-Style Problems</a:t>
            </a:r>
          </a:p>
          <a:p>
            <a:r>
              <a:t>Who can explain their reasoning?</a:t>
            </a:r>
          </a:p>
          <a:p/>
          <a:p>
            <a:r>
              <a:t>TRANSITION:</a:t>
            </a:r>
          </a:p>
          <a:p>
            <a:r>
              <a:t>Let's advance to the next slide to reveal the verified answer and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Reveal correct answer: See worked explanation and step guidelines..</a:t>
            </a:r>
          </a:p>
          <a:p>
            <a:r>
              <a:t>Explanation: ### 8. Independent Practice and Exam-Style Problems</a:t>
            </a:r>
          </a:p>
          <a:p/>
          <a:p>
            <a:r>
              <a:t>EMPHASIS / KEY POINT:</a:t>
            </a:r>
          </a:p>
          <a:p>
            <a:r>
              <a:t>Discuss why the distractors are incorrect so students learn from mistakes.</a:t>
            </a:r>
          </a:p>
          <a:p/>
          <a:p>
            <a:r>
              <a:t>ASK STUDENTS (ORAL CHECK):</a:t>
            </a:r>
          </a:p>
          <a:p>
            <a:r>
              <a:t>Did anyone arrive at this using a different method?</a:t>
            </a:r>
          </a:p>
          <a:p/>
          <a:p>
            <a:r>
              <a:t>TRANSITION:</a:t>
            </a:r>
          </a:p>
          <a:p>
            <a:r>
              <a:t>Let's proceed to synthesize our major takeaways.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Present question to the class. DO NOT give away the answer.</a:t>
            </a:r>
          </a:p>
          <a:p/>
          <a:p>
            <a:r>
              <a:t>EMPHASIS / KEY POINT:</a:t>
            </a:r>
          </a:p>
          <a:p>
            <a:r>
              <a:t>Give students 30-45 seconds of quiet thinking time or turn-and-talk before taking answers.</a:t>
            </a:r>
          </a:p>
          <a:p/>
          <a:p>
            <a:r>
              <a:t>ASK STUDENTS (ORAL CHECK):</a:t>
            </a:r>
          </a:p>
          <a:p>
            <a:r>
              <a:t>True or False: **Definition**: Photosynthesis is the anabolic, endergonic biochemical process by which ph</a:t>
            </a:r>
          </a:p>
          <a:p>
            <a:r>
              <a:t>Who can explain their reasoning?</a:t>
            </a:r>
          </a:p>
          <a:p/>
          <a:p>
            <a:r>
              <a:t>TRANSITION:</a:t>
            </a:r>
          </a:p>
          <a:p>
            <a:r>
              <a:t>Let's advance to the next slide to reveal the verified answer and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Reveal correct answer: True.</a:t>
            </a:r>
          </a:p>
          <a:p>
            <a:r>
              <a:t>Explanation: Based on the core definition: '**Definition**: Photosynthesis is the anabolic, endergonic biochemical process by which ph'.</a:t>
            </a:r>
          </a:p>
          <a:p/>
          <a:p>
            <a:r>
              <a:t>EMPHASIS / KEY POINT:</a:t>
            </a:r>
          </a:p>
          <a:p>
            <a:r>
              <a:t>Discuss why the distractors are incorrect so students learn from mistakes.</a:t>
            </a:r>
          </a:p>
          <a:p/>
          <a:p>
            <a:r>
              <a:t>ASK STUDENTS (ORAL CHECK):</a:t>
            </a:r>
          </a:p>
          <a:p>
            <a:r>
              <a:t>Did anyone arrive at this using a different method?</a:t>
            </a:r>
          </a:p>
          <a:p/>
          <a:p>
            <a:r>
              <a:t>TRANSITION:</a:t>
            </a:r>
          </a:p>
          <a:p>
            <a:r>
              <a:t>Let's proceed to synthesize our major takeaways.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Summarize the core takeaways. Have students recite or record the 3-4 golden rules.</a:t>
            </a:r>
          </a:p>
          <a:p/>
          <a:p>
            <a:r>
              <a:t>EMPHASIS / KEY POINT:</a:t>
            </a:r>
          </a:p>
          <a:p>
            <a:r>
              <a:t>These points are the foundation of upcoming assessments.</a:t>
            </a:r>
          </a:p>
          <a:p/>
          <a:p>
            <a:r>
              <a:t>ASK STUDENTS (ORAL CHECK):</a:t>
            </a:r>
          </a:p>
          <a:p>
            <a:r>
              <a:t>If you had to summarize today's lesson in one sentence, what would you say?</a:t>
            </a:r>
          </a:p>
          <a:p/>
          <a:p>
            <a:r>
              <a:t>TRANSITION:</a:t>
            </a:r>
          </a:p>
          <a:p>
            <a:r>
              <a:t>Let's conclude with independent practice problems.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Assign these practice questions for individual desk work or homework.</a:t>
            </a:r>
          </a:p>
          <a:p/>
          <a:p>
            <a:r>
              <a:t>EMPHASIS / KEY POINT:</a:t>
            </a:r>
          </a:p>
          <a:p>
            <a:r>
              <a:t>Show all working steps clearly.</a:t>
            </a:r>
          </a:p>
          <a:p/>
          <a:p>
            <a:r>
              <a:t>TRANSITION:</a:t>
            </a:r>
          </a:p>
          <a:p>
            <a:r>
              <a:t>Let's complete our exit ticket before ending the class.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Collect exit tickets before students leave to gauge today's mastery level.</a:t>
            </a:r>
          </a:p>
          <a:p/>
          <a:p>
            <a:r>
              <a:t>EMPHASIS / KEY POINT:</a:t>
            </a:r>
          </a:p>
          <a:p>
            <a:r>
              <a:t>One quick response per student.</a:t>
            </a:r>
          </a:p>
          <a:p/>
          <a:p>
            <a:r>
              <a:t>ASK STUDENTS (ORAL CHECK):</a:t>
            </a:r>
          </a:p>
          <a:p>
            <a:r>
              <a:t>What was the most important thing you learned today, and what question do you still have?</a:t>
            </a:r>
          </a:p>
          <a:p/>
          <a:p>
            <a:r>
              <a:t>TRANSITION:</a:t>
            </a:r>
          </a:p>
          <a:p>
            <a:r>
              <a:t>Great work today! Next time we will build directly on this topic.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1 hero_title" descr="Chapter 4: Photosynthesis and the Transformation of Energy. Introduce topic, create engagement, and set classroom expectations."/>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1 hero_title" descr="Chapter 4: Photosynthesis and the Transformation of Energy. Introduce topic, create engagement, and set classroom expectations."/>
          <p:cNvSpPr/>
          <p:nvPr/>
        </p:nvSpPr>
        <p:spPr>
          <a:xfrm>
            <a:off x="1371600" y="1828800"/>
            <a:ext cx="2560320" cy="3657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284C7"/>
                </a:solidFill>
                <a:latin typeface="Segoe UI"/>
              </a:defRPr>
            </a:pPr>
            <a:r>
              <a:t>• BIOLOGY •</a:t>
            </a:r>
          </a:p>
        </p:txBody>
      </p:sp>
      <p:sp>
        <p:nvSpPr>
          <p:cNvPr id="4" name="S001 hero_title" descr="Chapter 4: Photosynthesis and the Transformation of Energy. Introduce topic, create engagement, and set classroom expectations."/>
          <p:cNvSpPr txBox="1"/>
          <p:nvPr/>
        </p:nvSpPr>
        <p:spPr>
          <a:xfrm>
            <a:off x="1371600" y="2377440"/>
            <a:ext cx="9418320" cy="1645920"/>
          </a:xfrm>
          <a:prstGeom prst="rect">
            <a:avLst/>
          </a:prstGeom>
          <a:noFill/>
        </p:spPr>
        <p:txBody>
          <a:bodyPr wrap="square">
            <a:spAutoFit/>
          </a:bodyPr>
          <a:lstStyle/>
          <a:p>
            <a:pPr>
              <a:defRPr sz="4000" b="1">
                <a:solidFill>
                  <a:srgbClr val="FFFFFF"/>
                </a:solidFill>
                <a:latin typeface="Segoe UI"/>
              </a:defRPr>
            </a:pPr>
            <a:r>
              <a:t>Chapter 4: Photosynthesis and the Transformation of Energy</a:t>
            </a:r>
          </a:p>
          <a:p>
            <a:pPr>
              <a:spcBef>
                <a:spcPts val="1000"/>
              </a:spcBef>
              <a:defRPr sz="1800">
                <a:solidFill>
                  <a:srgbClr val="CBD5E1"/>
                </a:solidFill>
                <a:latin typeface="Segoe UI"/>
              </a:defRPr>
            </a:pPr>
            <a:r>
              <a:t>Biology • Classroom Presentation</a:t>
            </a:r>
          </a:p>
        </p:txBody>
      </p:sp>
      <p:sp>
        <p:nvSpPr>
          <p:cNvPr id="5" name="S001 hero_title" descr="Chapter 4: Photosynthesis and the Transformation of Energy. Introduce topic, create engagement, and set classroom expectations."/>
          <p:cNvSpPr/>
          <p:nvPr/>
        </p:nvSpPr>
        <p:spPr>
          <a:xfrm>
            <a:off x="1371600" y="5029200"/>
            <a:ext cx="4114800" cy="4114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94A3B8"/>
                </a:solidFill>
                <a:latin typeface="Segoe UI"/>
              </a:defRPr>
            </a:pPr>
            <a:r>
              <a:t>CLASSROOM-READY TEACHING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2 roadmap_stepper" descr="Lesson Roadmap. Provide students with cognitive scaffolding and clear expectation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2 roadmap_stepper" descr="Lesson Roadmap. Provide students with cognitive scaffolding and clear expectation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OVERVIEW</a:t>
            </a:r>
          </a:p>
        </p:txBody>
      </p:sp>
      <p:sp>
        <p:nvSpPr>
          <p:cNvPr id="4" name="S002 roadmap_stepper" descr="Lesson Roadmap. Provide students with cognitive scaffolding and clear expectation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Lesson Roadmap</a:t>
            </a:r>
          </a:p>
          <a:p>
            <a:pPr>
              <a:spcBef>
                <a:spcPts val="400"/>
              </a:spcBef>
              <a:defRPr sz="1400">
                <a:solidFill>
                  <a:srgbClr val="475569"/>
                </a:solidFill>
                <a:latin typeface="Segoe UI"/>
              </a:defRPr>
            </a:pPr>
            <a:r>
              <a:t>The path from core concepts to exam-level mastery</a:t>
            </a:r>
          </a:p>
        </p:txBody>
      </p:sp>
      <p:sp>
        <p:nvSpPr>
          <p:cNvPr id="5" name="S002 roadmap_stepper" descr="Lesson Roadmap. Provide students with cognitive scaffolding and clear expectations."/>
          <p:cNvSpPr/>
          <p:nvPr/>
        </p:nvSpPr>
        <p:spPr>
          <a:xfrm>
            <a:off x="731520" y="2011680"/>
            <a:ext cx="2476424" cy="3474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2 roadmap_stepper" descr="Lesson Roadmap. Provide students with cognitive scaffolding and clear expectations."/>
          <p:cNvSpPr/>
          <p:nvPr/>
        </p:nvSpPr>
        <p:spPr>
          <a:xfrm>
            <a:off x="960120" y="2240280"/>
            <a:ext cx="594360" cy="594360"/>
          </a:xfrm>
          <a:prstGeom prst="ellipse">
            <a:avLst/>
          </a:prstGeom>
          <a:solidFill>
            <a:srgbClr val="E0F2FE"/>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0284C7"/>
                </a:solidFill>
              </a:defRPr>
            </a:pPr>
            <a:r>
              <a:t>01</a:t>
            </a:r>
          </a:p>
        </p:txBody>
      </p:sp>
      <p:sp>
        <p:nvSpPr>
          <p:cNvPr id="7" name="S002 roadmap_stepper" descr="Lesson Roadmap. Provide students with cognitive scaffolding and clear expectations."/>
          <p:cNvSpPr txBox="1"/>
          <p:nvPr/>
        </p:nvSpPr>
        <p:spPr>
          <a:xfrm>
            <a:off x="960120" y="3017520"/>
            <a:ext cx="2019224" cy="2194560"/>
          </a:xfrm>
          <a:prstGeom prst="rect">
            <a:avLst/>
          </a:prstGeom>
          <a:noFill/>
        </p:spPr>
        <p:txBody>
          <a:bodyPr wrap="square">
            <a:spAutoFit/>
          </a:bodyPr>
          <a:lstStyle/>
          <a:p>
            <a:pPr>
              <a:defRPr sz="1800" b="1">
                <a:solidFill>
                  <a:srgbClr val="0F172A"/>
                </a:solidFill>
                <a:latin typeface="Segoe UI"/>
              </a:defRPr>
            </a:pPr>
            <a:r>
              <a:t>Foundations</a:t>
            </a:r>
          </a:p>
          <a:p>
            <a:pPr>
              <a:spcBef>
                <a:spcPts val="800"/>
              </a:spcBef>
              <a:defRPr sz="1400">
                <a:solidFill>
                  <a:srgbClr val="475569"/>
                </a:solidFill>
                <a:latin typeface="Segoe UI"/>
              </a:defRPr>
            </a:pPr>
            <a:r>
              <a:t>Definitions &amp; Core Laws</a:t>
            </a:r>
          </a:p>
        </p:txBody>
      </p:sp>
      <p:sp>
        <p:nvSpPr>
          <p:cNvPr id="8" name="S002 roadmap_stepper" descr="Lesson Roadmap. Provide students with cognitive scaffolding and clear expectations."/>
          <p:cNvSpPr/>
          <p:nvPr/>
        </p:nvSpPr>
        <p:spPr>
          <a:xfrm>
            <a:off x="3482264" y="2011680"/>
            <a:ext cx="2476424" cy="3474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02 roadmap_stepper" descr="Lesson Roadmap. Provide students with cognitive scaffolding and clear expectations."/>
          <p:cNvSpPr/>
          <p:nvPr/>
        </p:nvSpPr>
        <p:spPr>
          <a:xfrm>
            <a:off x="3710864" y="2240280"/>
            <a:ext cx="594360" cy="594360"/>
          </a:xfrm>
          <a:prstGeom prst="ellipse">
            <a:avLst/>
          </a:prstGeom>
          <a:solidFill>
            <a:srgbClr val="E0F2FE"/>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0284C7"/>
                </a:solidFill>
              </a:defRPr>
            </a:pPr>
            <a:r>
              <a:t>02</a:t>
            </a:r>
          </a:p>
        </p:txBody>
      </p:sp>
      <p:sp>
        <p:nvSpPr>
          <p:cNvPr id="10" name="S002 roadmap_stepper" descr="Lesson Roadmap. Provide students with cognitive scaffolding and clear expectations."/>
          <p:cNvSpPr txBox="1"/>
          <p:nvPr/>
        </p:nvSpPr>
        <p:spPr>
          <a:xfrm>
            <a:off x="3710864" y="3017520"/>
            <a:ext cx="2019224" cy="2194560"/>
          </a:xfrm>
          <a:prstGeom prst="rect">
            <a:avLst/>
          </a:prstGeom>
          <a:noFill/>
        </p:spPr>
        <p:txBody>
          <a:bodyPr wrap="square">
            <a:spAutoFit/>
          </a:bodyPr>
          <a:lstStyle/>
          <a:p>
            <a:pPr>
              <a:defRPr sz="1800" b="1">
                <a:solidFill>
                  <a:srgbClr val="0F172A"/>
                </a:solidFill>
                <a:latin typeface="Segoe UI"/>
              </a:defRPr>
            </a:pPr>
            <a:r>
              <a:t>Visual Model</a:t>
            </a:r>
          </a:p>
          <a:p>
            <a:pPr>
              <a:spcBef>
                <a:spcPts val="800"/>
              </a:spcBef>
              <a:defRPr sz="1400">
                <a:solidFill>
                  <a:srgbClr val="475569"/>
                </a:solidFill>
                <a:latin typeface="Segoe UI"/>
              </a:defRPr>
            </a:pPr>
            <a:r>
              <a:t>Mechanisms &amp; Diagrams</a:t>
            </a:r>
          </a:p>
        </p:txBody>
      </p:sp>
      <p:sp>
        <p:nvSpPr>
          <p:cNvPr id="11" name="S002 roadmap_stepper" descr="Lesson Roadmap. Provide students with cognitive scaffolding and clear expectations."/>
          <p:cNvSpPr/>
          <p:nvPr/>
        </p:nvSpPr>
        <p:spPr>
          <a:xfrm>
            <a:off x="6233008" y="2011680"/>
            <a:ext cx="2476424" cy="3474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02 roadmap_stepper" descr="Lesson Roadmap. Provide students with cognitive scaffolding and clear expectations."/>
          <p:cNvSpPr/>
          <p:nvPr/>
        </p:nvSpPr>
        <p:spPr>
          <a:xfrm>
            <a:off x="6461608" y="2240280"/>
            <a:ext cx="594360" cy="594360"/>
          </a:xfrm>
          <a:prstGeom prst="ellipse">
            <a:avLst/>
          </a:prstGeom>
          <a:solidFill>
            <a:srgbClr val="E0F2FE"/>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0284C7"/>
                </a:solidFill>
              </a:defRPr>
            </a:pPr>
            <a:r>
              <a:t>03</a:t>
            </a:r>
          </a:p>
        </p:txBody>
      </p:sp>
      <p:sp>
        <p:nvSpPr>
          <p:cNvPr id="13" name="S002 roadmap_stepper" descr="Lesson Roadmap. Provide students with cognitive scaffolding and clear expectations."/>
          <p:cNvSpPr txBox="1"/>
          <p:nvPr/>
        </p:nvSpPr>
        <p:spPr>
          <a:xfrm>
            <a:off x="6461608" y="3017520"/>
            <a:ext cx="2019224" cy="2194560"/>
          </a:xfrm>
          <a:prstGeom prst="rect">
            <a:avLst/>
          </a:prstGeom>
          <a:noFill/>
        </p:spPr>
        <p:txBody>
          <a:bodyPr wrap="square">
            <a:spAutoFit/>
          </a:bodyPr>
          <a:lstStyle/>
          <a:p>
            <a:pPr>
              <a:defRPr sz="1800" b="1">
                <a:solidFill>
                  <a:srgbClr val="0F172A"/>
                </a:solidFill>
                <a:latin typeface="Segoe UI"/>
              </a:defRPr>
            </a:pPr>
            <a:r>
              <a:t>Worked Examples</a:t>
            </a:r>
          </a:p>
          <a:p>
            <a:pPr>
              <a:spcBef>
                <a:spcPts val="800"/>
              </a:spcBef>
              <a:defRPr sz="1400">
                <a:solidFill>
                  <a:srgbClr val="475569"/>
                </a:solidFill>
                <a:latin typeface="Segoe UI"/>
              </a:defRPr>
            </a:pPr>
            <a:r>
              <a:t>Step-by-step Mastery</a:t>
            </a:r>
          </a:p>
        </p:txBody>
      </p:sp>
      <p:sp>
        <p:nvSpPr>
          <p:cNvPr id="14" name="S002 roadmap_stepper" descr="Lesson Roadmap. Provide students with cognitive scaffolding and clear expectations."/>
          <p:cNvSpPr/>
          <p:nvPr/>
        </p:nvSpPr>
        <p:spPr>
          <a:xfrm>
            <a:off x="8983752" y="2011680"/>
            <a:ext cx="2476424" cy="3474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02 roadmap_stepper" descr="Lesson Roadmap. Provide students with cognitive scaffolding and clear expectations."/>
          <p:cNvSpPr/>
          <p:nvPr/>
        </p:nvSpPr>
        <p:spPr>
          <a:xfrm>
            <a:off x="9212352" y="2240280"/>
            <a:ext cx="594360" cy="594360"/>
          </a:xfrm>
          <a:prstGeom prst="ellipse">
            <a:avLst/>
          </a:prstGeom>
          <a:solidFill>
            <a:srgbClr val="E0F2FE"/>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0284C7"/>
                </a:solidFill>
              </a:defRPr>
            </a:pPr>
            <a:r>
              <a:t>04</a:t>
            </a:r>
          </a:p>
        </p:txBody>
      </p:sp>
      <p:sp>
        <p:nvSpPr>
          <p:cNvPr id="16" name="S002 roadmap_stepper" descr="Lesson Roadmap. Provide students with cognitive scaffolding and clear expectations."/>
          <p:cNvSpPr txBox="1"/>
          <p:nvPr/>
        </p:nvSpPr>
        <p:spPr>
          <a:xfrm>
            <a:off x="9212352" y="3017520"/>
            <a:ext cx="2019224" cy="2194560"/>
          </a:xfrm>
          <a:prstGeom prst="rect">
            <a:avLst/>
          </a:prstGeom>
          <a:noFill/>
        </p:spPr>
        <p:txBody>
          <a:bodyPr wrap="square">
            <a:spAutoFit/>
          </a:bodyPr>
          <a:lstStyle/>
          <a:p>
            <a:pPr>
              <a:defRPr sz="1800" b="1">
                <a:solidFill>
                  <a:srgbClr val="0F172A"/>
                </a:solidFill>
                <a:latin typeface="Segoe UI"/>
              </a:defRPr>
            </a:pPr>
            <a:r>
              <a:t>Checks &amp; Practice</a:t>
            </a:r>
          </a:p>
          <a:p>
            <a:pPr>
              <a:spcBef>
                <a:spcPts val="800"/>
              </a:spcBef>
              <a:defRPr sz="1400">
                <a:solidFill>
                  <a:srgbClr val="475569"/>
                </a:solidFill>
                <a:latin typeface="Segoe UI"/>
              </a:defRPr>
            </a:pPr>
            <a:r>
              <a:t>Misconceptions &amp; Exam Prep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3 bullet_cards" descr="Learning Objectives. Define clear, measurable learning outcome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3 bullet_cards" descr="Learning Objectives. Define clear, measurable learning outcome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GOALS</a:t>
            </a:r>
          </a:p>
        </p:txBody>
      </p:sp>
      <p:sp>
        <p:nvSpPr>
          <p:cNvPr id="4" name="S003 bullet_cards" descr="Learning Objectives. Define clear, measurable learning outcome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Learning Objectives</a:t>
            </a:r>
          </a:p>
          <a:p>
            <a:pPr>
              <a:spcBef>
                <a:spcPts val="400"/>
              </a:spcBef>
              <a:defRPr sz="1400">
                <a:solidFill>
                  <a:srgbClr val="475569"/>
                </a:solidFill>
                <a:latin typeface="Segoe UI"/>
              </a:defRPr>
            </a:pPr>
            <a:r>
              <a:t>What you will master in this lesson</a:t>
            </a:r>
          </a:p>
        </p:txBody>
      </p:sp>
      <p:sp>
        <p:nvSpPr>
          <p:cNvPr id="5" name="S003 bullet_cards" descr="Learning Objectives. Define clear, measurable learning outcomes."/>
          <p:cNvSpPr/>
          <p:nvPr/>
        </p:nvSpPr>
        <p:spPr>
          <a:xfrm>
            <a:off x="731520" y="1828800"/>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3 bullet_cards" descr="Learning Objectives. Define clear, measurable learning outcomes."/>
          <p:cNvSpPr/>
          <p:nvPr/>
        </p:nvSpPr>
        <p:spPr>
          <a:xfrm>
            <a:off x="731520" y="1828800"/>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1</a:t>
            </a:r>
          </a:p>
        </p:txBody>
      </p:sp>
      <p:sp>
        <p:nvSpPr>
          <p:cNvPr id="7" name="S003 bullet_cards" descr="Learning Objectives. Define clear, measurable learning outcomes."/>
          <p:cNvSpPr txBox="1"/>
          <p:nvPr/>
        </p:nvSpPr>
        <p:spPr>
          <a:xfrm>
            <a:off x="1737360" y="1965960"/>
            <a:ext cx="9539935" cy="640080"/>
          </a:xfrm>
          <a:prstGeom prst="rect">
            <a:avLst/>
          </a:prstGeom>
          <a:noFill/>
        </p:spPr>
        <p:txBody>
          <a:bodyPr wrap="square">
            <a:spAutoFit/>
          </a:bodyPr>
          <a:lstStyle/>
          <a:p>
            <a:pPr>
              <a:defRPr sz="1600" b="1">
                <a:solidFill>
                  <a:srgbClr val="0F172A"/>
                </a:solidFill>
                <a:latin typeface="Segoe UI"/>
              </a:defRPr>
            </a:pPr>
            <a:r>
              <a:t>Define and explain key concepts in Chapter 4: Photosynthesis and the Transformation of Energy.</a:t>
            </a:r>
          </a:p>
        </p:txBody>
      </p:sp>
      <p:sp>
        <p:nvSpPr>
          <p:cNvPr id="8" name="S003 bullet_cards" descr="Learning Objectives. Define clear, measurable learning outcomes."/>
          <p:cNvSpPr/>
          <p:nvPr/>
        </p:nvSpPr>
        <p:spPr>
          <a:xfrm>
            <a:off x="731520" y="2944368"/>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03 bullet_cards" descr="Learning Objectives. Define clear, measurable learning outcomes."/>
          <p:cNvSpPr/>
          <p:nvPr/>
        </p:nvSpPr>
        <p:spPr>
          <a:xfrm>
            <a:off x="731520" y="2944368"/>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2</a:t>
            </a:r>
          </a:p>
        </p:txBody>
      </p:sp>
      <p:sp>
        <p:nvSpPr>
          <p:cNvPr id="10" name="S003 bullet_cards" descr="Learning Objectives. Define clear, measurable learning outcomes."/>
          <p:cNvSpPr txBox="1"/>
          <p:nvPr/>
        </p:nvSpPr>
        <p:spPr>
          <a:xfrm>
            <a:off x="1737360" y="3081528"/>
            <a:ext cx="9539935" cy="640080"/>
          </a:xfrm>
          <a:prstGeom prst="rect">
            <a:avLst/>
          </a:prstGeom>
          <a:noFill/>
        </p:spPr>
        <p:txBody>
          <a:bodyPr wrap="square">
            <a:spAutoFit/>
          </a:bodyPr>
          <a:lstStyle/>
          <a:p>
            <a:pPr>
              <a:defRPr sz="1600" b="1">
                <a:solidFill>
                  <a:srgbClr val="0F172A"/>
                </a:solidFill>
                <a:latin typeface="Segoe UI"/>
              </a:defRPr>
            </a:pPr>
            <a:r>
              <a:t>Apply fundamental formulas and laws accurately.</a:t>
            </a:r>
          </a:p>
        </p:txBody>
      </p:sp>
      <p:sp>
        <p:nvSpPr>
          <p:cNvPr id="11" name="S003 bullet_cards" descr="Learning Objectives. Define clear, measurable learning outcomes."/>
          <p:cNvSpPr/>
          <p:nvPr/>
        </p:nvSpPr>
        <p:spPr>
          <a:xfrm>
            <a:off x="731520" y="4059936"/>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03 bullet_cards" descr="Learning Objectives. Define clear, measurable learning outcomes."/>
          <p:cNvSpPr/>
          <p:nvPr/>
        </p:nvSpPr>
        <p:spPr>
          <a:xfrm>
            <a:off x="731520" y="4059936"/>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3</a:t>
            </a:r>
          </a:p>
        </p:txBody>
      </p:sp>
      <p:sp>
        <p:nvSpPr>
          <p:cNvPr id="13" name="S003 bullet_cards" descr="Learning Objectives. Define clear, measurable learning outcomes."/>
          <p:cNvSpPr txBox="1"/>
          <p:nvPr/>
        </p:nvSpPr>
        <p:spPr>
          <a:xfrm>
            <a:off x="1737360" y="4197096"/>
            <a:ext cx="9539935" cy="640080"/>
          </a:xfrm>
          <a:prstGeom prst="rect">
            <a:avLst/>
          </a:prstGeom>
          <a:noFill/>
        </p:spPr>
        <p:txBody>
          <a:bodyPr wrap="square">
            <a:spAutoFit/>
          </a:bodyPr>
          <a:lstStyle/>
          <a:p>
            <a:pPr>
              <a:defRPr sz="1600" b="1">
                <a:solidFill>
                  <a:srgbClr val="0F172A"/>
                </a:solidFill>
                <a:latin typeface="Segoe UI"/>
              </a:defRPr>
            </a:pPr>
            <a:r>
              <a:t>Solve multi-step problems and analyze concrete applications.</a:t>
            </a:r>
          </a:p>
        </p:txBody>
      </p:sp>
      <p:sp>
        <p:nvSpPr>
          <p:cNvPr id="14" name="S003 bullet_cards" descr="Learning Objectives. Define clear, measurable learning outcomes."/>
          <p:cNvSpPr/>
          <p:nvPr/>
        </p:nvSpPr>
        <p:spPr>
          <a:xfrm>
            <a:off x="731520" y="5175504"/>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03 bullet_cards" descr="Learning Objectives. Define clear, measurable learning outcomes."/>
          <p:cNvSpPr/>
          <p:nvPr/>
        </p:nvSpPr>
        <p:spPr>
          <a:xfrm>
            <a:off x="731520" y="5175504"/>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4</a:t>
            </a:r>
          </a:p>
        </p:txBody>
      </p:sp>
      <p:sp>
        <p:nvSpPr>
          <p:cNvPr id="16" name="S003 bullet_cards" descr="Learning Objectives. Define clear, measurable learning outcomes."/>
          <p:cNvSpPr txBox="1"/>
          <p:nvPr/>
        </p:nvSpPr>
        <p:spPr>
          <a:xfrm>
            <a:off x="1737360" y="5312664"/>
            <a:ext cx="9539935" cy="640080"/>
          </a:xfrm>
          <a:prstGeom prst="rect">
            <a:avLst/>
          </a:prstGeom>
          <a:noFill/>
        </p:spPr>
        <p:txBody>
          <a:bodyPr wrap="square">
            <a:spAutoFit/>
          </a:bodyPr>
          <a:lstStyle/>
          <a:p>
            <a:pPr>
              <a:defRPr sz="1600" b="1">
                <a:solidFill>
                  <a:srgbClr val="0F172A"/>
                </a:solidFill>
                <a:latin typeface="Segoe UI"/>
              </a:defRPr>
            </a:pPr>
            <a:r>
              <a:t>Identify and avoid common pitfalls and misconceptions.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4 prerequisite_grid" descr="Prior Knowledge &amp; Warm-Up. Activate relevant cognitive schemas and review prerequisite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4 prerequisite_grid" descr="Prior Knowledge &amp; Warm-Up. Activate relevant cognitive schemas and review prerequisite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PREREQUISITES</a:t>
            </a:r>
          </a:p>
        </p:txBody>
      </p:sp>
      <p:sp>
        <p:nvSpPr>
          <p:cNvPr id="4" name="S004 prerequisite_grid" descr="Prior Knowledge &amp; Warm-Up. Activate relevant cognitive schemas and review prerequisite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Prior Knowledge &amp; Warm-Up</a:t>
            </a:r>
          </a:p>
          <a:p>
            <a:pPr>
              <a:spcBef>
                <a:spcPts val="400"/>
              </a:spcBef>
              <a:defRPr sz="1400">
                <a:solidFill>
                  <a:srgbClr val="475569"/>
                </a:solidFill>
                <a:latin typeface="Segoe UI"/>
              </a:defRPr>
            </a:pPr>
            <a:r>
              <a:t>Foundations needed for today's topic</a:t>
            </a:r>
          </a:p>
        </p:txBody>
      </p:sp>
      <p:sp>
        <p:nvSpPr>
          <p:cNvPr id="5" name="S004 prerequisite_grid" descr="Prior Knowledge &amp; Warm-Up. Activate relevant cognitive schemas and review prerequisites."/>
          <p:cNvSpPr/>
          <p:nvPr/>
        </p:nvSpPr>
        <p:spPr>
          <a:xfrm>
            <a:off x="731520" y="2011680"/>
            <a:ext cx="5181447" cy="1645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4 prerequisite_grid" descr="Prior Knowledge &amp; Warm-Up. Activate relevant cognitive schemas and review prerequisites."/>
          <p:cNvSpPr txBox="1"/>
          <p:nvPr/>
        </p:nvSpPr>
        <p:spPr>
          <a:xfrm>
            <a:off x="1005840" y="2194560"/>
            <a:ext cx="4632807" cy="1280160"/>
          </a:xfrm>
          <a:prstGeom prst="rect">
            <a:avLst/>
          </a:prstGeom>
          <a:noFill/>
        </p:spPr>
        <p:txBody>
          <a:bodyPr wrap="square">
            <a:spAutoFit/>
          </a:bodyPr>
          <a:lstStyle/>
          <a:p>
            <a:pPr>
              <a:defRPr b="1" sz="1300">
                <a:solidFill>
                  <a:srgbClr val="0284C7"/>
                </a:solidFill>
              </a:defRPr>
            </a:pPr>
            <a:r>
              <a:t>• Prerequisite 1</a:t>
            </a:r>
          </a:p>
          <a:p>
            <a:pPr>
              <a:spcBef>
                <a:spcPts val="600"/>
              </a:spcBef>
              <a:defRPr sz="1600">
                <a:solidFill>
                  <a:srgbClr val="0F172A"/>
                </a:solidFill>
              </a:defRPr>
            </a:pPr>
            <a:r>
              <a:t>Cell theory fundamentals</a:t>
            </a:r>
          </a:p>
        </p:txBody>
      </p:sp>
      <p:sp>
        <p:nvSpPr>
          <p:cNvPr id="7" name="S004 prerequisite_grid" descr="Prior Knowledge &amp; Warm-Up. Activate relevant cognitive schemas and review prerequisites."/>
          <p:cNvSpPr/>
          <p:nvPr/>
        </p:nvSpPr>
        <p:spPr>
          <a:xfrm>
            <a:off x="6278727" y="2011680"/>
            <a:ext cx="5181447" cy="1645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4 prerequisite_grid" descr="Prior Knowledge &amp; Warm-Up. Activate relevant cognitive schemas and review prerequisites."/>
          <p:cNvSpPr txBox="1"/>
          <p:nvPr/>
        </p:nvSpPr>
        <p:spPr>
          <a:xfrm>
            <a:off x="6553047" y="2194560"/>
            <a:ext cx="4632807" cy="1280160"/>
          </a:xfrm>
          <a:prstGeom prst="rect">
            <a:avLst/>
          </a:prstGeom>
          <a:noFill/>
        </p:spPr>
        <p:txBody>
          <a:bodyPr wrap="square">
            <a:spAutoFit/>
          </a:bodyPr>
          <a:lstStyle/>
          <a:p>
            <a:pPr>
              <a:defRPr b="1" sz="1300">
                <a:solidFill>
                  <a:srgbClr val="0284C7"/>
                </a:solidFill>
              </a:defRPr>
            </a:pPr>
            <a:r>
              <a:t>• Prerequisite 2</a:t>
            </a:r>
          </a:p>
          <a:p>
            <a:pPr>
              <a:spcBef>
                <a:spcPts val="600"/>
              </a:spcBef>
              <a:defRPr sz="1600">
                <a:solidFill>
                  <a:srgbClr val="0F172A"/>
                </a:solidFill>
              </a:defRPr>
            </a:pPr>
            <a:r>
              <a:t>Basic energy conversion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5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5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05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05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5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 1. Introduction and Big Picture</a:t>
            </a:r>
            <a:br/>
            <a:r>
              <a:t>All biological activity on Earth is ultimately driven by solar energy. Phototrophic organisms—including terrestrial green plants, cyanobacteria, and eukaryotic algae—possess the specialized machinery required to capture solar photons and convert electromagnetic energy into stable chemical bonds.</a:t>
            </a:r>
          </a:p>
        </p:txBody>
      </p:sp>
      <p:sp>
        <p:nvSpPr>
          <p:cNvPr id="7" name="S005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5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 1. Introduction and Big Picture</a:t>
            </a:r>
            <a:br/>
            <a:r>
              <a:t>All biological activity on Earth is ultimately driven by solar energy. Phototrophic organisms—including terrestrial green plants, cyanobacteria, and eukaryotic algae—possess the specialized machinery required to capture solar photons and convert electromagnetic energy into stable chemical bonds.</a:t>
            </a:r>
          </a:p>
          <a:p>
            <a:pPr>
              <a:spcBef>
                <a:spcPts val="600"/>
              </a:spcBef>
              <a:defRPr sz="1100">
                <a:solidFill>
                  <a:srgbClr val="475569"/>
                </a:solidFill>
              </a:defRPr>
            </a:pPr>
            <a:r>
              <a:t>Source: Page 1, Section Chapter 4: Photosynthesis and the Transformation of Energy, Block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6 definition_card" descr="Core Definition: Chapter 4: Photosynthesis and the Transformation of Energy. Establish formal definition and core terminology."/>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6 definition_card" descr="Core Definition: Chapter 4: Photosynthesis and the Transformation of Energy. Establish formal definition and core terminology."/>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CORE CONCEPT</a:t>
            </a:r>
          </a:p>
        </p:txBody>
      </p:sp>
      <p:sp>
        <p:nvSpPr>
          <p:cNvPr id="4" name="S006 definition_card" descr="Core Definition: Chapter 4: Photosynthesis and the Transformation of Energy. Establish formal definition and core terminology."/>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Core Definition: Chapter 4: Photosynthesis and the Transformation of Energy</a:t>
            </a:r>
          </a:p>
          <a:p>
            <a:pPr>
              <a:spcBef>
                <a:spcPts val="400"/>
              </a:spcBef>
              <a:defRPr sz="1400">
                <a:solidFill>
                  <a:srgbClr val="475569"/>
                </a:solidFill>
                <a:latin typeface="Segoe UI"/>
              </a:defRPr>
            </a:pPr>
            <a:r>
              <a:t>Precise terminology and fundamental meaning</a:t>
            </a:r>
          </a:p>
        </p:txBody>
      </p:sp>
      <p:sp>
        <p:nvSpPr>
          <p:cNvPr id="5" name="S006 definition_card" descr="Core Definition: Chapter 4: Photosynthesis and the Transformation of Energy. Establish formal definition and core terminology."/>
          <p:cNvSpPr/>
          <p:nvPr/>
        </p:nvSpPr>
        <p:spPr>
          <a:xfrm>
            <a:off x="731520" y="1828800"/>
            <a:ext cx="10728655" cy="256032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6 definition_card" descr="Core Definition: Chapter 4: Photosynthesis and the Transformation of Energy. Establish formal definition and core terminology."/>
          <p:cNvSpPr txBox="1"/>
          <p:nvPr/>
        </p:nvSpPr>
        <p:spPr>
          <a:xfrm>
            <a:off x="1188720" y="2103120"/>
            <a:ext cx="9814255" cy="2011680"/>
          </a:xfrm>
          <a:prstGeom prst="rect">
            <a:avLst/>
          </a:prstGeom>
          <a:noFill/>
        </p:spPr>
        <p:txBody>
          <a:bodyPr wrap="square">
            <a:spAutoFit/>
          </a:bodyPr>
          <a:lstStyle/>
          <a:p>
            <a:pPr>
              <a:defRPr sz="2100" b="1">
                <a:solidFill>
                  <a:srgbClr val="0F172A"/>
                </a:solidFill>
                <a:latin typeface="Segoe UI"/>
              </a:defRPr>
            </a:pPr>
            <a:r>
              <a:t>"**Definition**: Photosynthesis is the anabolic, endergonic biochemical process by which photoautotrophic organisms synthesize high-energy hexose carbohydrates from inorganic carbon dioxide and water, using radiant solar energy captured by photosynthetic pigments, with molecular oxygen released as a metabolic byproduct."</a:t>
            </a:r>
          </a:p>
        </p:txBody>
      </p:sp>
      <p:sp>
        <p:nvSpPr>
          <p:cNvPr id="7" name="S006 definition_card" descr="Core Definition: Chapter 4: Photosynthesis and the Transformation of Energy. Establish formal definition and core terminology."/>
          <p:cNvSpPr/>
          <p:nvPr/>
        </p:nvSpPr>
        <p:spPr>
          <a:xfrm>
            <a:off x="731520" y="4572000"/>
            <a:ext cx="10728655" cy="1463040"/>
          </a:xfrm>
          <a:prstGeom prst="roundRect">
            <a:avLst/>
          </a:prstGeom>
          <a:solidFill>
            <a:srgbClr val="E0F2FE"/>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6 definition_card" descr="Core Definition: Chapter 4: Photosynthesis and the Transformation of Energy. Establish formal definition and core terminology."/>
          <p:cNvSpPr txBox="1"/>
          <p:nvPr/>
        </p:nvSpPr>
        <p:spPr>
          <a:xfrm>
            <a:off x="1097280" y="4709160"/>
            <a:ext cx="9997135" cy="1188720"/>
          </a:xfrm>
          <a:prstGeom prst="rect">
            <a:avLst/>
          </a:prstGeom>
          <a:noFill/>
        </p:spPr>
        <p:txBody>
          <a:bodyPr wrap="square">
            <a:spAutoFit/>
          </a:bodyPr>
          <a:lstStyle/>
          <a:p>
            <a:pPr>
              <a:defRPr sz="1600">
                <a:solidFill>
                  <a:srgbClr val="0F172A"/>
                </a:solidFill>
                <a:latin typeface="Segoe UI"/>
              </a:defRPr>
            </a:pPr>
            <a:r>
              <a:t>### 2. The Overall Chemical Reaction and Thermodynamic Balance</a:t>
            </a:r>
            <a:br/>
            <a:r>
              <a:t>The summary stoichiometric chemical equation for oxygenic photosynthesis is expressed as:</a:t>
            </a:r>
          </a:p>
          <a:p>
            <a:pPr>
              <a:spcBef>
                <a:spcPts val="400"/>
              </a:spcBef>
              <a:defRPr sz="1100">
                <a:solidFill>
                  <a:srgbClr val="475569"/>
                </a:solidFill>
              </a:defRPr>
            </a:pPr>
            <a:r>
              <a:t>Source Reference: Page 1, Section Chapter 4: Photosynthesis and the Transformation of Energy, Block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7 formula_breakdown" descr="Formula &amp; Relationship. Deconstruct mathematical law, variables, and unit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7 formula_breakdown" descr="Formula &amp; Relationship. Deconstruct mathematical law, variables, and unit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FORMULA</a:t>
            </a:r>
          </a:p>
        </p:txBody>
      </p:sp>
      <p:sp>
        <p:nvSpPr>
          <p:cNvPr id="4" name="S007 formula_breakdown" descr="Formula &amp; Relationship. Deconstruct mathematical law, variables, and unit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Formula &amp; Relationship</a:t>
            </a:r>
          </a:p>
          <a:p>
            <a:pPr>
              <a:spcBef>
                <a:spcPts val="400"/>
              </a:spcBef>
              <a:defRPr sz="1400">
                <a:solidFill>
                  <a:srgbClr val="475569"/>
                </a:solidFill>
                <a:latin typeface="Segoe UI"/>
              </a:defRPr>
            </a:pPr>
            <a:r>
              <a:t>Mathematical representation and physical meaning</a:t>
            </a:r>
          </a:p>
        </p:txBody>
      </p:sp>
      <p:sp>
        <p:nvSpPr>
          <p:cNvPr id="5" name="S007 formula_breakdown" descr="Formula &amp; Relationship. Deconstruct mathematical law, variables, and units."/>
          <p:cNvSpPr/>
          <p:nvPr/>
        </p:nvSpPr>
        <p:spPr>
          <a:xfrm>
            <a:off x="731520" y="1828800"/>
            <a:ext cx="10728655" cy="1645920"/>
          </a:xfrm>
          <a:prstGeom prst="roundRect">
            <a:avLst/>
          </a:prstGeom>
          <a:solidFill>
            <a:srgbClr val="F1F5F9"/>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7 formula_breakdown" descr="Formula &amp; Relationship. Deconstruct mathematical law, variables, and units."/>
          <p:cNvSpPr txBox="1"/>
          <p:nvPr/>
        </p:nvSpPr>
        <p:spPr>
          <a:xfrm>
            <a:off x="1188720" y="2011680"/>
            <a:ext cx="9814255" cy="1280160"/>
          </a:xfrm>
          <a:prstGeom prst="rect">
            <a:avLst/>
          </a:prstGeom>
          <a:noFill/>
        </p:spPr>
        <p:txBody>
          <a:bodyPr wrap="square">
            <a:spAutoFit/>
          </a:bodyPr>
          <a:lstStyle/>
          <a:p>
            <a:pPr algn="ctr">
              <a:defRPr sz="2600" b="1">
                <a:solidFill>
                  <a:srgbClr val="0F172A"/>
                </a:solidFill>
                <a:latin typeface="Consolas"/>
              </a:defRPr>
            </a:pPr>
            <a:r>
              <a:t>$$6\text{CO}_2 + 6\text{H}_2\text{O} + \text{light energy} \longrightarrow \text{C}_6\text{H}_{12}\text{O}_6 + 6\text{O}_2$$</a:t>
            </a:r>
          </a:p>
        </p:txBody>
      </p:sp>
      <p:sp>
        <p:nvSpPr>
          <p:cNvPr id="7" name="S007 formula_breakdown" descr="Formula &amp; Relationship. Deconstruct mathematical law, variables, and units."/>
          <p:cNvSpPr/>
          <p:nvPr/>
        </p:nvSpPr>
        <p:spPr>
          <a:xfrm>
            <a:off x="731520" y="3749039"/>
            <a:ext cx="107286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7 formula_breakdown" descr="Formula &amp; Relationship. Deconstruct mathematical law, variables, and units."/>
          <p:cNvSpPr txBox="1"/>
          <p:nvPr/>
        </p:nvSpPr>
        <p:spPr>
          <a:xfrm>
            <a:off x="1097280" y="3931920"/>
            <a:ext cx="9997135" cy="1920240"/>
          </a:xfrm>
          <a:prstGeom prst="rect">
            <a:avLst/>
          </a:prstGeom>
          <a:noFill/>
        </p:spPr>
        <p:txBody>
          <a:bodyPr wrap="square">
            <a:spAutoFit/>
          </a:bodyPr>
          <a:lstStyle/>
          <a:p>
            <a:pPr>
              <a:defRPr b="1" sz="1700">
                <a:solidFill>
                  <a:srgbClr val="0F172A"/>
                </a:solidFill>
              </a:defRPr>
            </a:pPr>
            <a:r>
              <a:t>Mathematical &amp; Physical Interpretation:</a:t>
            </a:r>
          </a:p>
          <a:p>
            <a:pPr>
              <a:spcBef>
                <a:spcPts val="800"/>
              </a:spcBef>
              <a:defRPr sz="1600">
                <a:solidFill>
                  <a:srgbClr val="475569"/>
                </a:solidFill>
              </a:defRPr>
            </a:pPr>
            <a:r>
              <a:t>$$6\text{CO}_2 + 6\text{H}_2\text{O} + \text{light energy} \longrightarrow \text{C}_6\text{H}_{12}\text{O}_6 + 6\text{O}_2$$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8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8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08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08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8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Where:</a:t>
            </a:r>
            <a:br/>
            <a:r>
              <a:t>- $\text{CO}_2$ represents atmospheric carbon dioxide, entering via foliar stomatal pores</a:t>
            </a:r>
            <a:br/>
            <a:r>
              <a:t>- $\text{H}_2\text{O}$ represents water absorbed from the rhizosphere through root xylem tissue</a:t>
            </a:r>
            <a:br/>
            <a:r>
              <a:t>- $\text{C}_6\text{H}_{12}\text{O}_6$ represents glucose, the primary phosphorylated monosaccharide substrate</a:t>
            </a:r>
            <a:br/>
            <a:r>
              <a:t>- $\text{O}_2$ represents molecular diatomic oxygen, released as a gaseous byproduct</a:t>
            </a:r>
          </a:p>
        </p:txBody>
      </p:sp>
      <p:sp>
        <p:nvSpPr>
          <p:cNvPr id="7" name="S008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8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Where:</a:t>
            </a:r>
            <a:br/>
            <a:r>
              <a:t>- $\text{CO}_2$ represents atmospheric carbon dioxide, entering via foliar stomatal pores</a:t>
            </a:r>
            <a:br/>
            <a:r>
              <a:t>- $\text{H}_2\text{O}$ represents water absorbed from the rhizosphere through root xylem tissue</a:t>
            </a:r>
            <a:br/>
            <a:r>
              <a:t>- $\text{C}_6\text{H}_{12}\text{O}_6$ represents glucose, the primary phosphorylated monosaccharide substrate</a:t>
            </a:r>
            <a:br/>
            <a:r>
              <a:t>- $\text{O}_2$ represents molecular diatomic oxygen, released as a gaseous byproduct</a:t>
            </a:r>
          </a:p>
          <a:p>
            <a:pPr>
              <a:spcBef>
                <a:spcPts val="600"/>
              </a:spcBef>
              <a:defRPr sz="1100">
                <a:solidFill>
                  <a:srgbClr val="475569"/>
                </a:solidFill>
              </a:defRPr>
            </a:pPr>
            <a:r>
              <a:t>Source: Page 1, Section Chapter 4: Photosynthesis and the Transformation of Energy, Block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9 process_flow"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9 process_flow"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PROCESS</a:t>
            </a:r>
          </a:p>
        </p:txBody>
      </p:sp>
      <p:sp>
        <p:nvSpPr>
          <p:cNvPr id="4" name="S009 process_flow"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09 process_flow" descr="Key Concept: Chapter 4: Photosynthesis and the Transformation of Energy. Explain core educational mechanism."/>
          <p:cNvSpPr/>
          <p:nvPr/>
        </p:nvSpPr>
        <p:spPr>
          <a:xfrm>
            <a:off x="731520" y="2194560"/>
            <a:ext cx="2339263"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9 process_flow" descr="Key Concept: Chapter 4: Photosynthesis and the Transformation of Energy. Explain core educational mechanism."/>
          <p:cNvSpPr txBox="1"/>
          <p:nvPr/>
        </p:nvSpPr>
        <p:spPr>
          <a:xfrm>
            <a:off x="960120" y="2377440"/>
            <a:ext cx="1882063" cy="2926080"/>
          </a:xfrm>
          <a:prstGeom prst="rect">
            <a:avLst/>
          </a:prstGeom>
          <a:noFill/>
        </p:spPr>
        <p:txBody>
          <a:bodyPr wrap="square">
            <a:spAutoFit/>
          </a:bodyPr>
          <a:lstStyle/>
          <a:p>
            <a:pPr>
              <a:defRPr b="1" sz="1200">
                <a:solidFill>
                  <a:srgbClr val="0284C7"/>
                </a:solidFill>
              </a:defRPr>
            </a:pPr>
            <a:r>
              <a:t>STAGE 1</a:t>
            </a:r>
          </a:p>
          <a:p>
            <a:pPr>
              <a:spcBef>
                <a:spcPts val="600"/>
              </a:spcBef>
              <a:defRPr sz="1400">
                <a:solidFill>
                  <a:srgbClr val="0F172A"/>
                </a:solidFill>
              </a:defRPr>
            </a:pPr>
            <a:r>
              <a:t>### 3. Subcellular Architecture: The Chloroplast</a:t>
            </a:r>
          </a:p>
        </p:txBody>
      </p:sp>
      <p:sp>
        <p:nvSpPr>
          <p:cNvPr id="7" name="S009 process_flow" descr="Key Concept: Chapter 4: Photosynthesis and the Transformation of Energy. Explain core educational mechanism."/>
          <p:cNvSpPr/>
          <p:nvPr/>
        </p:nvSpPr>
        <p:spPr>
          <a:xfrm>
            <a:off x="3527983" y="2194560"/>
            <a:ext cx="2339263"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9 process_flow" descr="Key Concept: Chapter 4: Photosynthesis and the Transformation of Energy. Explain core educational mechanism."/>
          <p:cNvSpPr txBox="1"/>
          <p:nvPr/>
        </p:nvSpPr>
        <p:spPr>
          <a:xfrm>
            <a:off x="3756583" y="2377440"/>
            <a:ext cx="1882063" cy="2926080"/>
          </a:xfrm>
          <a:prstGeom prst="rect">
            <a:avLst/>
          </a:prstGeom>
          <a:noFill/>
        </p:spPr>
        <p:txBody>
          <a:bodyPr wrap="square">
            <a:spAutoFit/>
          </a:bodyPr>
          <a:lstStyle/>
          <a:p>
            <a:pPr>
              <a:defRPr b="1" sz="1200">
                <a:solidFill>
                  <a:srgbClr val="0284C7"/>
                </a:solidFill>
              </a:defRPr>
            </a:pPr>
            <a:r>
              <a:t>STAGE 2</a:t>
            </a:r>
          </a:p>
          <a:p>
            <a:pPr>
              <a:spcBef>
                <a:spcPts val="600"/>
              </a:spcBef>
              <a:defRPr sz="1400">
                <a:solidFill>
                  <a:srgbClr val="0F172A"/>
                </a:solidFill>
              </a:defRPr>
            </a:pPr>
            <a:r>
              <a:t>Photosynthetic reactions in eukaryotes are compartmentalized within double-membrane chloroplasts.</a:t>
            </a:r>
          </a:p>
        </p:txBody>
      </p:sp>
      <p:sp>
        <p:nvSpPr>
          <p:cNvPr id="9" name="S009 process_flow" descr="Key Concept: Chapter 4: Photosynthesis and the Transformation of Energy. Explain core educational mechanism."/>
          <p:cNvSpPr/>
          <p:nvPr/>
        </p:nvSpPr>
        <p:spPr>
          <a:xfrm>
            <a:off x="6324447" y="2194560"/>
            <a:ext cx="2339263"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09 process_flow" descr="Key Concept: Chapter 4: Photosynthesis and the Transformation of Energy. Explain core educational mechanism."/>
          <p:cNvSpPr txBox="1"/>
          <p:nvPr/>
        </p:nvSpPr>
        <p:spPr>
          <a:xfrm>
            <a:off x="6553047" y="2377440"/>
            <a:ext cx="1882063" cy="2926080"/>
          </a:xfrm>
          <a:prstGeom prst="rect">
            <a:avLst/>
          </a:prstGeom>
          <a:noFill/>
        </p:spPr>
        <p:txBody>
          <a:bodyPr wrap="square">
            <a:spAutoFit/>
          </a:bodyPr>
          <a:lstStyle/>
          <a:p>
            <a:pPr>
              <a:defRPr b="1" sz="1200">
                <a:solidFill>
                  <a:srgbClr val="0284C7"/>
                </a:solidFill>
              </a:defRPr>
            </a:pPr>
            <a:r>
              <a:t>STAGE 3</a:t>
            </a:r>
          </a:p>
          <a:p>
            <a:pPr>
              <a:spcBef>
                <a:spcPts val="600"/>
              </a:spcBef>
              <a:defRPr sz="1400">
                <a:solidFill>
                  <a:srgbClr val="0F172A"/>
                </a:solidFill>
              </a:defRPr>
            </a:pPr>
            <a:r>
              <a:t>**Thylakoid Membrane System**: Site of the light-dependent reactions, housing Photosystem II (P680), Photosystem I (P700), the cytochrome b6f complex, and ATP synthase.</a:t>
            </a:r>
          </a:p>
        </p:txBody>
      </p:sp>
      <p:sp>
        <p:nvSpPr>
          <p:cNvPr id="11" name="S009 process_flow" descr="Key Concept: Chapter 4: Photosynthesis and the Transformation of Energy. Explain core educational mechanism."/>
          <p:cNvSpPr/>
          <p:nvPr/>
        </p:nvSpPr>
        <p:spPr>
          <a:xfrm>
            <a:off x="9120911" y="2194560"/>
            <a:ext cx="2339263"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09 process_flow" descr="Key Concept: Chapter 4: Photosynthesis and the Transformation of Energy. Explain core educational mechanism."/>
          <p:cNvSpPr txBox="1"/>
          <p:nvPr/>
        </p:nvSpPr>
        <p:spPr>
          <a:xfrm>
            <a:off x="9349511" y="2377440"/>
            <a:ext cx="1882063" cy="2926080"/>
          </a:xfrm>
          <a:prstGeom prst="rect">
            <a:avLst/>
          </a:prstGeom>
          <a:noFill/>
        </p:spPr>
        <p:txBody>
          <a:bodyPr wrap="square">
            <a:spAutoFit/>
          </a:bodyPr>
          <a:lstStyle/>
          <a:p>
            <a:pPr>
              <a:defRPr b="1" sz="1200">
                <a:solidFill>
                  <a:srgbClr val="0284C7"/>
                </a:solidFill>
              </a:defRPr>
            </a:pPr>
            <a:r>
              <a:t>STAGE 4</a:t>
            </a:r>
          </a:p>
          <a:p>
            <a:pPr>
              <a:spcBef>
                <a:spcPts val="600"/>
              </a:spcBef>
              <a:defRPr sz="1400">
                <a:solidFill>
                  <a:srgbClr val="0F172A"/>
                </a:solidFill>
              </a:defRPr>
            </a:pPr>
            <a:r>
              <a:t>**Stroma**: The semi-fluid matrix surrounding thylakoids, containing RuBisCO, soluble enzymes, stromal ribosomes, and chloroplast DNA; site of the Calvin-Benson cycle.</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7"/>
                                  </p:tgtEl>
                                </p:cBhvr>
                              </p:animEffect>
                            </p:childTnLst>
                          </p:cTn>
                        </p:par>
                      </p:childTnLst>
                    </p:cTn>
                  </p:par>
                  <p:par>
                    <p:cTn id="5" fill="hold">
                      <p:stCondLst>
                        <p:cond delay="0"/>
                      </p:stCondLst>
                      <p:childTnLst>
                        <p:par>
                          <p:cTn id="6" fill="hold">
                            <p:stCondLst>
                              <p:cond delay="0"/>
                            </p:stCondLst>
                            <p:childTnLst>
                              <p:animEffect transition="in" filter="fade">
                                <p:cBhvr>
                                  <p:cTn id="7" dur="400"/>
                                  <p:tgtEl>
                                    <p:spTgt spid="9"/>
                                  </p:tgtEl>
                                </p:cBhvr>
                              </p:animEffect>
                            </p:childTnLst>
                          </p:cTn>
                        </p:par>
                      </p:childTnLst>
                    </p:cTn>
                  </p:par>
                  <p:par>
                    <p:cTn id="8" fill="hold">
                      <p:stCondLst>
                        <p:cond delay="0"/>
                      </p:stCondLst>
                      <p:childTnLst>
                        <p:par>
                          <p:cTn id="9" fill="hold">
                            <p:stCondLst>
                              <p:cond delay="0"/>
                            </p:stCondLst>
                            <p:childTnLst>
                              <p:animEffect transition="in" filter="fade">
                                <p:cBhvr>
                                  <p:cTn id="10" dur="4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P spid="9" grpId="0" build="asOne"/>
      <p:bldP spid="11" grpId="0" build="asOne"/>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0 formula_breakdown" descr="Formula &amp; Relationship. Deconstruct mathematical law, variables, and unit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0 formula_breakdown" descr="Formula &amp; Relationship. Deconstruct mathematical law, variables, and unit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FORMULA</a:t>
            </a:r>
          </a:p>
        </p:txBody>
      </p:sp>
      <p:sp>
        <p:nvSpPr>
          <p:cNvPr id="4" name="S010 formula_breakdown" descr="Formula &amp; Relationship. Deconstruct mathematical law, variables, and unit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Formula &amp; Relationship</a:t>
            </a:r>
          </a:p>
          <a:p>
            <a:pPr>
              <a:spcBef>
                <a:spcPts val="400"/>
              </a:spcBef>
              <a:defRPr sz="1400">
                <a:solidFill>
                  <a:srgbClr val="475569"/>
                </a:solidFill>
                <a:latin typeface="Segoe UI"/>
              </a:defRPr>
            </a:pPr>
            <a:r>
              <a:t>Mathematical representation and physical meaning</a:t>
            </a:r>
          </a:p>
        </p:txBody>
      </p:sp>
      <p:sp>
        <p:nvSpPr>
          <p:cNvPr id="5" name="S010 formula_breakdown" descr="Formula &amp; Relationship. Deconstruct mathematical law, variables, and units."/>
          <p:cNvSpPr/>
          <p:nvPr/>
        </p:nvSpPr>
        <p:spPr>
          <a:xfrm>
            <a:off x="731520" y="1828800"/>
            <a:ext cx="10728655" cy="1645920"/>
          </a:xfrm>
          <a:prstGeom prst="roundRect">
            <a:avLst/>
          </a:prstGeom>
          <a:solidFill>
            <a:srgbClr val="F1F5F9"/>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0 formula_breakdown" descr="Formula &amp; Relationship. Deconstruct mathematical law, variables, and units."/>
          <p:cNvSpPr txBox="1"/>
          <p:nvPr/>
        </p:nvSpPr>
        <p:spPr>
          <a:xfrm>
            <a:off x="1188720" y="2011680"/>
            <a:ext cx="9814255" cy="1280160"/>
          </a:xfrm>
          <a:prstGeom prst="rect">
            <a:avLst/>
          </a:prstGeom>
          <a:noFill/>
        </p:spPr>
        <p:txBody>
          <a:bodyPr wrap="square">
            <a:spAutoFit/>
          </a:bodyPr>
          <a:lstStyle/>
          <a:p>
            <a:pPr algn="ctr">
              <a:defRPr sz="2600" b="1">
                <a:solidFill>
                  <a:srgbClr val="0F172A"/>
                </a:solidFill>
                <a:latin typeface="Consolas"/>
              </a:defRPr>
            </a:pPr>
            <a:r>
              <a:t>### 4. Worked Calculation: Photochemical Quantum Yield and Efficiency</a:t>
            </a:r>
            <a:br/>
            <a:r>
              <a:t>A researcher illuminates a suspension of *Chlorella vulgaris* with monochromatic red light at a wavelength of $\lambda = 680\text{ nm}$. The molar photon flux absorbed is $8.0\text{ mol of photons}$.</a:t>
            </a:r>
          </a:p>
        </p:txBody>
      </p:sp>
      <p:sp>
        <p:nvSpPr>
          <p:cNvPr id="7" name="S010 formula_breakdown" descr="Formula &amp; Relationship. Deconstruct mathematical law, variables, and units."/>
          <p:cNvSpPr/>
          <p:nvPr/>
        </p:nvSpPr>
        <p:spPr>
          <a:xfrm>
            <a:off x="731520" y="3749039"/>
            <a:ext cx="107286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0 formula_breakdown" descr="Formula &amp; Relationship. Deconstruct mathematical law, variables, and units."/>
          <p:cNvSpPr txBox="1"/>
          <p:nvPr/>
        </p:nvSpPr>
        <p:spPr>
          <a:xfrm>
            <a:off x="1097280" y="3931920"/>
            <a:ext cx="9997135" cy="1920240"/>
          </a:xfrm>
          <a:prstGeom prst="rect">
            <a:avLst/>
          </a:prstGeom>
          <a:noFill/>
        </p:spPr>
        <p:txBody>
          <a:bodyPr wrap="square">
            <a:spAutoFit/>
          </a:bodyPr>
          <a:lstStyle/>
          <a:p>
            <a:pPr>
              <a:defRPr b="1" sz="1700">
                <a:solidFill>
                  <a:srgbClr val="0F172A"/>
                </a:solidFill>
              </a:defRPr>
            </a:pPr>
            <a:r>
              <a:t>Mathematical &amp; Physical Interpretation:</a:t>
            </a:r>
          </a:p>
          <a:p>
            <a:pPr>
              <a:spcBef>
                <a:spcPts val="800"/>
              </a:spcBef>
              <a:defRPr sz="1600">
                <a:solidFill>
                  <a:srgbClr val="475569"/>
                </a:solidFill>
              </a:defRPr>
            </a:pPr>
            <a:r>
              <a:t>### 4. Worked Calculation: Photochemical Quantum Yield and Efficiency</a:t>
            </a:r>
            <a:br/>
            <a:r>
              <a:t>A researcher illuminates a suspension of *Chlorella vulgaris* with monochromatic red light at a wavelength of $\lambda = 680\text{ nm}$. The molar photon flux absorbed is $8.0\text{ mol of photons}$.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1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1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11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1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1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Determine the theoretical moles of glucose produced if the experimental quantum requirement is $8\text{ photons per molecule of }\text{O}_2$ evolved.</a:t>
            </a:r>
          </a:p>
        </p:txBody>
      </p:sp>
      <p:sp>
        <p:nvSpPr>
          <p:cNvPr id="7" name="S011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1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Determine the theoretical moles of glucose produced if the experimental quantum requirement is $8\text{ photons per molecule of }\text{O}_2$ evolved.</a:t>
            </a:r>
          </a:p>
          <a:p>
            <a:pPr>
              <a:spcBef>
                <a:spcPts val="600"/>
              </a:spcBef>
              <a:defRPr sz="1100">
                <a:solidFill>
                  <a:srgbClr val="475569"/>
                </a:solidFill>
              </a:defRPr>
            </a:pPr>
            <a:r>
              <a:t>Source: Page 1, Section Chapter 4: Photosynthesis and the Transformation of Energy, Block 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2 formula_breakdown" descr="Formula &amp; Relationship. Deconstruct mathematical law, variables, and unit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2 formula_breakdown" descr="Formula &amp; Relationship. Deconstruct mathematical law, variables, and unit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FORMULA</a:t>
            </a:r>
          </a:p>
        </p:txBody>
      </p:sp>
      <p:sp>
        <p:nvSpPr>
          <p:cNvPr id="4" name="S012 formula_breakdown" descr="Formula &amp; Relationship. Deconstruct mathematical law, variables, and unit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Formula &amp; Relationship</a:t>
            </a:r>
          </a:p>
          <a:p>
            <a:pPr>
              <a:spcBef>
                <a:spcPts val="400"/>
              </a:spcBef>
              <a:defRPr sz="1400">
                <a:solidFill>
                  <a:srgbClr val="475569"/>
                </a:solidFill>
                <a:latin typeface="Segoe UI"/>
              </a:defRPr>
            </a:pPr>
            <a:r>
              <a:t>Mathematical representation and physical meaning</a:t>
            </a:r>
          </a:p>
        </p:txBody>
      </p:sp>
      <p:sp>
        <p:nvSpPr>
          <p:cNvPr id="5" name="S012 formula_breakdown" descr="Formula &amp; Relationship. Deconstruct mathematical law, variables, and units."/>
          <p:cNvSpPr/>
          <p:nvPr/>
        </p:nvSpPr>
        <p:spPr>
          <a:xfrm>
            <a:off x="731520" y="1828800"/>
            <a:ext cx="10728655" cy="1645920"/>
          </a:xfrm>
          <a:prstGeom prst="roundRect">
            <a:avLst/>
          </a:prstGeom>
          <a:solidFill>
            <a:srgbClr val="F1F5F9"/>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2 formula_breakdown" descr="Formula &amp; Relationship. Deconstruct mathematical law, variables, and units."/>
          <p:cNvSpPr txBox="1"/>
          <p:nvPr/>
        </p:nvSpPr>
        <p:spPr>
          <a:xfrm>
            <a:off x="1188720" y="2011680"/>
            <a:ext cx="9814255" cy="1280160"/>
          </a:xfrm>
          <a:prstGeom prst="rect">
            <a:avLst/>
          </a:prstGeom>
          <a:noFill/>
        </p:spPr>
        <p:txBody>
          <a:bodyPr wrap="square">
            <a:spAutoFit/>
          </a:bodyPr>
          <a:lstStyle/>
          <a:p>
            <a:pPr algn="ctr">
              <a:defRPr sz="2600" b="1">
                <a:solidFill>
                  <a:srgbClr val="0F172A"/>
                </a:solidFill>
                <a:latin typeface="Consolas"/>
              </a:defRPr>
            </a:pPr>
            <a:r>
              <a:t>Step 1: Determine the ratio of oxygen evolution to photon absorption:</a:t>
            </a:r>
            <a:br/>
            <a:r>
              <a:t>$$\text{Moles of }\text{O}_2 = \frac{8.0\text{ mol photons}}{8\text{ photons/molecule}} = 1.0\text{ mol }\text{O}_2$$</a:t>
            </a:r>
          </a:p>
        </p:txBody>
      </p:sp>
      <p:sp>
        <p:nvSpPr>
          <p:cNvPr id="7" name="S012 formula_breakdown" descr="Formula &amp; Relationship. Deconstruct mathematical law, variables, and units."/>
          <p:cNvSpPr/>
          <p:nvPr/>
        </p:nvSpPr>
        <p:spPr>
          <a:xfrm>
            <a:off x="731520" y="3749039"/>
            <a:ext cx="107286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2 formula_breakdown" descr="Formula &amp; Relationship. Deconstruct mathematical law, variables, and units."/>
          <p:cNvSpPr txBox="1"/>
          <p:nvPr/>
        </p:nvSpPr>
        <p:spPr>
          <a:xfrm>
            <a:off x="1097280" y="3931920"/>
            <a:ext cx="9997135" cy="1920240"/>
          </a:xfrm>
          <a:prstGeom prst="rect">
            <a:avLst/>
          </a:prstGeom>
          <a:noFill/>
        </p:spPr>
        <p:txBody>
          <a:bodyPr wrap="square">
            <a:spAutoFit/>
          </a:bodyPr>
          <a:lstStyle/>
          <a:p>
            <a:pPr>
              <a:defRPr b="1" sz="1700">
                <a:solidFill>
                  <a:srgbClr val="0F172A"/>
                </a:solidFill>
              </a:defRPr>
            </a:pPr>
            <a:r>
              <a:t>Mathematical &amp; Physical Interpretation:</a:t>
            </a:r>
          </a:p>
          <a:p>
            <a:pPr>
              <a:spcBef>
                <a:spcPts val="800"/>
              </a:spcBef>
              <a:defRPr sz="1600">
                <a:solidFill>
                  <a:srgbClr val="475569"/>
                </a:solidFill>
              </a:defRPr>
            </a:pPr>
            <a:r>
              <a:t>Step 1: Determine the ratio of oxygen evolution to photon absorption:</a:t>
            </a:r>
            <a:br/>
            <a:r>
              <a:t>$$\text{Moles of }\text{O}_2 = \frac{8.0\text{ mol photons}}{8\text{ photons/molecule}} = 1.0\text{ mol }\text{O}_2$$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3 formula_breakdown" descr="Formula &amp; Relationship. Deconstruct mathematical law, variables, and unit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3 formula_breakdown" descr="Formula &amp; Relationship. Deconstruct mathematical law, variables, and unit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FORMULA</a:t>
            </a:r>
          </a:p>
        </p:txBody>
      </p:sp>
      <p:sp>
        <p:nvSpPr>
          <p:cNvPr id="4" name="S013 formula_breakdown" descr="Formula &amp; Relationship. Deconstruct mathematical law, variables, and unit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Formula &amp; Relationship</a:t>
            </a:r>
          </a:p>
          <a:p>
            <a:pPr>
              <a:spcBef>
                <a:spcPts val="400"/>
              </a:spcBef>
              <a:defRPr sz="1400">
                <a:solidFill>
                  <a:srgbClr val="475569"/>
                </a:solidFill>
                <a:latin typeface="Segoe UI"/>
              </a:defRPr>
            </a:pPr>
            <a:r>
              <a:t>Mathematical representation and physical meaning</a:t>
            </a:r>
          </a:p>
        </p:txBody>
      </p:sp>
      <p:sp>
        <p:nvSpPr>
          <p:cNvPr id="5" name="S013 formula_breakdown" descr="Formula &amp; Relationship. Deconstruct mathematical law, variables, and units."/>
          <p:cNvSpPr/>
          <p:nvPr/>
        </p:nvSpPr>
        <p:spPr>
          <a:xfrm>
            <a:off x="731520" y="1828800"/>
            <a:ext cx="10728655" cy="1645920"/>
          </a:xfrm>
          <a:prstGeom prst="roundRect">
            <a:avLst/>
          </a:prstGeom>
          <a:solidFill>
            <a:srgbClr val="F1F5F9"/>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3 formula_breakdown" descr="Formula &amp; Relationship. Deconstruct mathematical law, variables, and units."/>
          <p:cNvSpPr txBox="1"/>
          <p:nvPr/>
        </p:nvSpPr>
        <p:spPr>
          <a:xfrm>
            <a:off x="1188720" y="2011680"/>
            <a:ext cx="9814255" cy="1280160"/>
          </a:xfrm>
          <a:prstGeom prst="rect">
            <a:avLst/>
          </a:prstGeom>
          <a:noFill/>
        </p:spPr>
        <p:txBody>
          <a:bodyPr wrap="square">
            <a:spAutoFit/>
          </a:bodyPr>
          <a:lstStyle/>
          <a:p>
            <a:pPr algn="ctr">
              <a:defRPr sz="2600" b="1">
                <a:solidFill>
                  <a:srgbClr val="0F172A"/>
                </a:solidFill>
                <a:latin typeface="Consolas"/>
              </a:defRPr>
            </a:pPr>
            <a:r>
              <a:t>Step 2: Relate oxygen evolution to glucose synthesis using the stoichiometric equation:</a:t>
            </a:r>
            <a:br/>
            <a:r>
              <a:t>$$6\text{ mol }\text{O}_2 \text{ evolved corresponds to } 1\text{ mol }\text{C}_6\text{H}_{12}\text{O}_6 \text{ synthesized.}$$</a:t>
            </a:r>
          </a:p>
        </p:txBody>
      </p:sp>
      <p:sp>
        <p:nvSpPr>
          <p:cNvPr id="7" name="S013 formula_breakdown" descr="Formula &amp; Relationship. Deconstruct mathematical law, variables, and units."/>
          <p:cNvSpPr/>
          <p:nvPr/>
        </p:nvSpPr>
        <p:spPr>
          <a:xfrm>
            <a:off x="731520" y="3749039"/>
            <a:ext cx="107286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3 formula_breakdown" descr="Formula &amp; Relationship. Deconstruct mathematical law, variables, and units."/>
          <p:cNvSpPr txBox="1"/>
          <p:nvPr/>
        </p:nvSpPr>
        <p:spPr>
          <a:xfrm>
            <a:off x="1097280" y="3931920"/>
            <a:ext cx="9997135" cy="1920240"/>
          </a:xfrm>
          <a:prstGeom prst="rect">
            <a:avLst/>
          </a:prstGeom>
          <a:noFill/>
        </p:spPr>
        <p:txBody>
          <a:bodyPr wrap="square">
            <a:spAutoFit/>
          </a:bodyPr>
          <a:lstStyle/>
          <a:p>
            <a:pPr>
              <a:defRPr b="1" sz="1700">
                <a:solidFill>
                  <a:srgbClr val="0F172A"/>
                </a:solidFill>
              </a:defRPr>
            </a:pPr>
            <a:r>
              <a:t>Mathematical &amp; Physical Interpretation:</a:t>
            </a:r>
          </a:p>
          <a:p>
            <a:pPr>
              <a:spcBef>
                <a:spcPts val="800"/>
              </a:spcBef>
              <a:defRPr sz="1600">
                <a:solidFill>
                  <a:srgbClr val="475569"/>
                </a:solidFill>
              </a:defRPr>
            </a:pPr>
            <a:r>
              <a:t>Step 2: Relate oxygen evolution to glucose synthesis using the stoichiometric equation:</a:t>
            </a:r>
            <a:br/>
            <a:r>
              <a:t>$$6\text{ mol }\text{O}_2 \text{ evolved corresponds to } 1\text{ mol }\text{C}_6\text{H}_{12}\text{O}_6 \text{ synthesized.}$$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4 formula_breakdown" descr="Formula &amp; Relationship. Deconstruct mathematical law, variables, and unit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4 formula_breakdown" descr="Formula &amp; Relationship. Deconstruct mathematical law, variables, and unit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FORMULA</a:t>
            </a:r>
          </a:p>
        </p:txBody>
      </p:sp>
      <p:sp>
        <p:nvSpPr>
          <p:cNvPr id="4" name="S014 formula_breakdown" descr="Formula &amp; Relationship. Deconstruct mathematical law, variables, and unit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Formula &amp; Relationship</a:t>
            </a:r>
          </a:p>
          <a:p>
            <a:pPr>
              <a:spcBef>
                <a:spcPts val="400"/>
              </a:spcBef>
              <a:defRPr sz="1400">
                <a:solidFill>
                  <a:srgbClr val="475569"/>
                </a:solidFill>
                <a:latin typeface="Segoe UI"/>
              </a:defRPr>
            </a:pPr>
            <a:r>
              <a:t>Mathematical representation and physical meaning</a:t>
            </a:r>
          </a:p>
        </p:txBody>
      </p:sp>
      <p:sp>
        <p:nvSpPr>
          <p:cNvPr id="5" name="S014 formula_breakdown" descr="Formula &amp; Relationship. Deconstruct mathematical law, variables, and units."/>
          <p:cNvSpPr/>
          <p:nvPr/>
        </p:nvSpPr>
        <p:spPr>
          <a:xfrm>
            <a:off x="731520" y="1828800"/>
            <a:ext cx="10728655" cy="1645920"/>
          </a:xfrm>
          <a:prstGeom prst="roundRect">
            <a:avLst/>
          </a:prstGeom>
          <a:solidFill>
            <a:srgbClr val="F1F5F9"/>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4 formula_breakdown" descr="Formula &amp; Relationship. Deconstruct mathematical law, variables, and units."/>
          <p:cNvSpPr txBox="1"/>
          <p:nvPr/>
        </p:nvSpPr>
        <p:spPr>
          <a:xfrm>
            <a:off x="1188720" y="2011680"/>
            <a:ext cx="9814255" cy="1280160"/>
          </a:xfrm>
          <a:prstGeom prst="rect">
            <a:avLst/>
          </a:prstGeom>
          <a:noFill/>
        </p:spPr>
        <p:txBody>
          <a:bodyPr wrap="square">
            <a:spAutoFit/>
          </a:bodyPr>
          <a:lstStyle/>
          <a:p>
            <a:pPr algn="ctr">
              <a:defRPr sz="2600" b="1">
                <a:solidFill>
                  <a:srgbClr val="0F172A"/>
                </a:solidFill>
                <a:latin typeface="Consolas"/>
              </a:defRPr>
            </a:pPr>
            <a:r>
              <a:t>Step 3: Compute the theoretical glucose yield:</a:t>
            </a:r>
            <a:br/>
            <a:r>
              <a:t>$$\text{Moles of Glucose} = \frac{1.0\text{ mol }\text{O}_2}{6} \approx 0.167\text{ mol of Glucose (approx. } 30.0\\text{ grams)}.$$</a:t>
            </a:r>
          </a:p>
        </p:txBody>
      </p:sp>
      <p:sp>
        <p:nvSpPr>
          <p:cNvPr id="7" name="S014 formula_breakdown" descr="Formula &amp; Relationship. Deconstruct mathematical law, variables, and units."/>
          <p:cNvSpPr/>
          <p:nvPr/>
        </p:nvSpPr>
        <p:spPr>
          <a:xfrm>
            <a:off x="731520" y="3749039"/>
            <a:ext cx="107286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4 formula_breakdown" descr="Formula &amp; Relationship. Deconstruct mathematical law, variables, and units."/>
          <p:cNvSpPr txBox="1"/>
          <p:nvPr/>
        </p:nvSpPr>
        <p:spPr>
          <a:xfrm>
            <a:off x="1097280" y="3931920"/>
            <a:ext cx="9997135" cy="1920240"/>
          </a:xfrm>
          <a:prstGeom prst="rect">
            <a:avLst/>
          </a:prstGeom>
          <a:noFill/>
        </p:spPr>
        <p:txBody>
          <a:bodyPr wrap="square">
            <a:spAutoFit/>
          </a:bodyPr>
          <a:lstStyle/>
          <a:p>
            <a:pPr>
              <a:defRPr b="1" sz="1700">
                <a:solidFill>
                  <a:srgbClr val="0F172A"/>
                </a:solidFill>
              </a:defRPr>
            </a:pPr>
            <a:r>
              <a:t>Mathematical &amp; Physical Interpretation:</a:t>
            </a:r>
          </a:p>
          <a:p>
            <a:pPr>
              <a:spcBef>
                <a:spcPts val="800"/>
              </a:spcBef>
              <a:defRPr sz="1600">
                <a:solidFill>
                  <a:srgbClr val="475569"/>
                </a:solidFill>
              </a:defRPr>
            </a:pPr>
            <a:r>
              <a:t>Step 3: Compute the theoretical glucose yield:</a:t>
            </a:r>
            <a:br/>
            <a:r>
              <a:t>$$\text{Moles of Glucose} = \frac{1.0\text{ mol }\text{O}_2}{6} \approx 0.167\text{ mol of Glucose (approx. } 30.0\\text{ grams)}.$$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5 process_flow"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5 process_flow"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PROCESS</a:t>
            </a:r>
          </a:p>
        </p:txBody>
      </p:sp>
      <p:sp>
        <p:nvSpPr>
          <p:cNvPr id="4" name="S015 process_flow"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5 process_flow" descr="Key Concept: Chapter 4: Photosynthesis and the Transformation of Energy. Explain core educational mechanism."/>
          <p:cNvSpPr/>
          <p:nvPr/>
        </p:nvSpPr>
        <p:spPr>
          <a:xfrm>
            <a:off x="731520" y="2194560"/>
            <a:ext cx="5135727"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5 process_flow" descr="Key Concept: Chapter 4: Photosynthesis and the Transformation of Energy. Explain core educational mechanism."/>
          <p:cNvSpPr txBox="1"/>
          <p:nvPr/>
        </p:nvSpPr>
        <p:spPr>
          <a:xfrm>
            <a:off x="960120" y="2377440"/>
            <a:ext cx="4678527" cy="2926080"/>
          </a:xfrm>
          <a:prstGeom prst="rect">
            <a:avLst/>
          </a:prstGeom>
          <a:noFill/>
        </p:spPr>
        <p:txBody>
          <a:bodyPr wrap="square">
            <a:spAutoFit/>
          </a:bodyPr>
          <a:lstStyle/>
          <a:p>
            <a:pPr>
              <a:defRPr b="1" sz="1200">
                <a:solidFill>
                  <a:srgbClr val="0284C7"/>
                </a:solidFill>
              </a:defRPr>
            </a:pPr>
            <a:r>
              <a:t>STAGE 1</a:t>
            </a:r>
          </a:p>
          <a:p>
            <a:pPr>
              <a:spcBef>
                <a:spcPts val="600"/>
              </a:spcBef>
              <a:defRPr sz="1400">
                <a:solidFill>
                  <a:srgbClr val="0F172A"/>
                </a:solidFill>
              </a:defRPr>
            </a:pPr>
            <a:r>
              <a:t>### 5. Common Misconception: The Dark Reactions and Plant Respiration</a:t>
            </a:r>
          </a:p>
        </p:txBody>
      </p:sp>
      <p:sp>
        <p:nvSpPr>
          <p:cNvPr id="7" name="S015 process_flow" descr="Key Concept: Chapter 4: Photosynthesis and the Transformation of Energy. Explain core educational mechanism."/>
          <p:cNvSpPr/>
          <p:nvPr/>
        </p:nvSpPr>
        <p:spPr>
          <a:xfrm>
            <a:off x="6324447" y="2194560"/>
            <a:ext cx="5135727"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5 process_flow" descr="Key Concept: Chapter 4: Photosynthesis and the Transformation of Energy. Explain core educational mechanism."/>
          <p:cNvSpPr txBox="1"/>
          <p:nvPr/>
        </p:nvSpPr>
        <p:spPr>
          <a:xfrm>
            <a:off x="6553047" y="2377440"/>
            <a:ext cx="4678527" cy="2926080"/>
          </a:xfrm>
          <a:prstGeom prst="rect">
            <a:avLst/>
          </a:prstGeom>
          <a:noFill/>
        </p:spPr>
        <p:txBody>
          <a:bodyPr wrap="square">
            <a:spAutoFit/>
          </a:bodyPr>
          <a:lstStyle/>
          <a:p>
            <a:pPr>
              <a:defRPr b="1" sz="1200">
                <a:solidFill>
                  <a:srgbClr val="0284C7"/>
                </a:solidFill>
              </a:defRPr>
            </a:pPr>
            <a:r>
              <a:t>STAGE 2</a:t>
            </a:r>
          </a:p>
          <a:p>
            <a:pPr>
              <a:spcBef>
                <a:spcPts val="600"/>
              </a:spcBef>
              <a:defRPr sz="1400">
                <a:solidFill>
                  <a:srgbClr val="0F172A"/>
                </a:solidFill>
              </a:defRPr>
            </a:pPr>
            <a:r>
              <a:t>Common Mistake: Plants perform photosynthesis during the day and cellular respiration only at night; furthermore, the 'dark reactions' (Calvin cycle) occur only in total darkness.</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6 process_flow"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6 process_flow"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PROCESS</a:t>
            </a:r>
          </a:p>
        </p:txBody>
      </p:sp>
      <p:sp>
        <p:nvSpPr>
          <p:cNvPr id="4" name="S016 process_flow"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6 process_flow" descr="Key Concept: Chapter 4: Photosynthesis and the Transformation of Energy. Explain core educational mechanism."/>
          <p:cNvSpPr/>
          <p:nvPr/>
        </p:nvSpPr>
        <p:spPr>
          <a:xfrm>
            <a:off x="731520" y="2194560"/>
            <a:ext cx="3271418"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6 process_flow" descr="Key Concept: Chapter 4: Photosynthesis and the Transformation of Energy. Explain core educational mechanism."/>
          <p:cNvSpPr txBox="1"/>
          <p:nvPr/>
        </p:nvSpPr>
        <p:spPr>
          <a:xfrm>
            <a:off x="960120" y="2377440"/>
            <a:ext cx="2814218" cy="2926080"/>
          </a:xfrm>
          <a:prstGeom prst="rect">
            <a:avLst/>
          </a:prstGeom>
          <a:noFill/>
        </p:spPr>
        <p:txBody>
          <a:bodyPr wrap="square">
            <a:spAutoFit/>
          </a:bodyPr>
          <a:lstStyle/>
          <a:p>
            <a:pPr>
              <a:defRPr b="1" sz="1200">
                <a:solidFill>
                  <a:srgbClr val="0284C7"/>
                </a:solidFill>
              </a:defRPr>
            </a:pPr>
            <a:r>
              <a:t>STAGE 1</a:t>
            </a:r>
          </a:p>
          <a:p>
            <a:pPr>
              <a:spcBef>
                <a:spcPts val="600"/>
              </a:spcBef>
              <a:defRPr sz="1400">
                <a:solidFill>
                  <a:srgbClr val="0F172A"/>
                </a:solidFill>
              </a:defRPr>
            </a:pPr>
            <a:r>
              <a:t>Why it is flawed: Respiration is required continuously (24/7) to sustain baseline metabolic homeostasis and ATP production in all living plant cells. Furthermor</a:t>
            </a:r>
          </a:p>
        </p:txBody>
      </p:sp>
      <p:sp>
        <p:nvSpPr>
          <p:cNvPr id="7" name="S016 process_flow" descr="Key Concept: Chapter 4: Photosynthesis and the Transformation of Energy. Explain core educational mechanism."/>
          <p:cNvSpPr/>
          <p:nvPr/>
        </p:nvSpPr>
        <p:spPr>
          <a:xfrm>
            <a:off x="4460138" y="2194560"/>
            <a:ext cx="3271418"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6 process_flow" descr="Key Concept: Chapter 4: Photosynthesis and the Transformation of Energy. Explain core educational mechanism."/>
          <p:cNvSpPr txBox="1"/>
          <p:nvPr/>
        </p:nvSpPr>
        <p:spPr>
          <a:xfrm>
            <a:off x="4688738" y="2377440"/>
            <a:ext cx="2814218" cy="2926080"/>
          </a:xfrm>
          <a:prstGeom prst="rect">
            <a:avLst/>
          </a:prstGeom>
          <a:noFill/>
        </p:spPr>
        <p:txBody>
          <a:bodyPr wrap="square">
            <a:spAutoFit/>
          </a:bodyPr>
          <a:lstStyle/>
          <a:p>
            <a:pPr>
              <a:defRPr b="1" sz="1200">
                <a:solidFill>
                  <a:srgbClr val="0284C7"/>
                </a:solidFill>
              </a:defRPr>
            </a:pPr>
            <a:r>
              <a:t>STAGE 2</a:t>
            </a:r>
          </a:p>
          <a:p>
            <a:pPr>
              <a:spcBef>
                <a:spcPts val="600"/>
              </a:spcBef>
              <a:defRPr sz="1400">
                <a:solidFill>
                  <a:srgbClr val="0F172A"/>
                </a:solidFill>
              </a:defRPr>
            </a:pPr>
            <a:r>
              <a:t>e, several key Calvin cycle enzymes (e.g., phosphoribulokinase, sedoheptulose-1,7-bisphosphatase, and RuBisCO activase) are light-activated via the thioredoxin </a:t>
            </a:r>
          </a:p>
        </p:txBody>
      </p:sp>
      <p:sp>
        <p:nvSpPr>
          <p:cNvPr id="9" name="S016 process_flow" descr="Key Concept: Chapter 4: Photosynthesis and the Transformation of Energy. Explain core educational mechanism."/>
          <p:cNvSpPr/>
          <p:nvPr/>
        </p:nvSpPr>
        <p:spPr>
          <a:xfrm>
            <a:off x="8188756" y="2194560"/>
            <a:ext cx="3271418"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16 process_flow" descr="Key Concept: Chapter 4: Photosynthesis and the Transformation of Energy. Explain core educational mechanism."/>
          <p:cNvSpPr txBox="1"/>
          <p:nvPr/>
        </p:nvSpPr>
        <p:spPr>
          <a:xfrm>
            <a:off x="8417356" y="2377440"/>
            <a:ext cx="2814218" cy="2926080"/>
          </a:xfrm>
          <a:prstGeom prst="rect">
            <a:avLst/>
          </a:prstGeom>
          <a:noFill/>
        </p:spPr>
        <p:txBody>
          <a:bodyPr wrap="square">
            <a:spAutoFit/>
          </a:bodyPr>
          <a:lstStyle/>
          <a:p>
            <a:pPr>
              <a:defRPr b="1" sz="1200">
                <a:solidFill>
                  <a:srgbClr val="0284C7"/>
                </a:solidFill>
              </a:defRPr>
            </a:pPr>
            <a:r>
              <a:t>STAGE 3</a:t>
            </a:r>
          </a:p>
          <a:p>
            <a:pPr>
              <a:spcBef>
                <a:spcPts val="600"/>
              </a:spcBef>
              <a:defRPr sz="1400">
                <a:solidFill>
                  <a:srgbClr val="0F172A"/>
                </a:solidFill>
              </a:defRPr>
            </a:pPr>
            <a:r>
              <a:t>system.</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7"/>
                                  </p:tgtEl>
                                </p:cBhvr>
                              </p:animEffect>
                            </p:childTnLst>
                          </p:cTn>
                        </p:par>
                      </p:childTnLst>
                    </p:cTn>
                  </p:par>
                  <p:par>
                    <p:cTn id="5" fill="hold">
                      <p:stCondLst>
                        <p:cond delay="0"/>
                      </p:stCondLst>
                      <p:childTnLst>
                        <p:par>
                          <p:cTn id="6" fill="hold">
                            <p:stCondLst>
                              <p:cond delay="0"/>
                            </p:stCondLst>
                            <p:childTnLst>
                              <p:animEffect transition="in" filter="fade">
                                <p:cBhvr>
                                  <p:cTn id="7" dur="4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P spid="9" grpId="0" build="asOne"/>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7 process_flow"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7 process_flow"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PROCESS</a:t>
            </a:r>
          </a:p>
        </p:txBody>
      </p:sp>
      <p:sp>
        <p:nvSpPr>
          <p:cNvPr id="4" name="S017 process_flow"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7 process_flow" descr="Key Concept: Chapter 4: Photosynthesis and the Transformation of Energy. Explain core educational mechanism."/>
          <p:cNvSpPr/>
          <p:nvPr/>
        </p:nvSpPr>
        <p:spPr>
          <a:xfrm>
            <a:off x="731520" y="2194560"/>
            <a:ext cx="5135727"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7 process_flow" descr="Key Concept: Chapter 4: Photosynthesis and the Transformation of Energy. Explain core educational mechanism."/>
          <p:cNvSpPr txBox="1"/>
          <p:nvPr/>
        </p:nvSpPr>
        <p:spPr>
          <a:xfrm>
            <a:off x="960120" y="2377440"/>
            <a:ext cx="4678527" cy="2926080"/>
          </a:xfrm>
          <a:prstGeom prst="rect">
            <a:avLst/>
          </a:prstGeom>
          <a:noFill/>
        </p:spPr>
        <p:txBody>
          <a:bodyPr wrap="square">
            <a:spAutoFit/>
          </a:bodyPr>
          <a:lstStyle/>
          <a:p>
            <a:pPr>
              <a:defRPr b="1" sz="1200">
                <a:solidFill>
                  <a:srgbClr val="0284C7"/>
                </a:solidFill>
              </a:defRPr>
            </a:pPr>
            <a:r>
              <a:t>STAGE 1</a:t>
            </a:r>
          </a:p>
          <a:p>
            <a:pPr>
              <a:spcBef>
                <a:spcPts val="600"/>
              </a:spcBef>
              <a:defRPr sz="1400">
                <a:solidFill>
                  <a:srgbClr val="0F172A"/>
                </a:solidFill>
              </a:defRPr>
            </a:pPr>
            <a:r>
              <a:t>Correct Reasoning: Cellular respiration occurs around the clock in all living plant tissues. The Calvin cycle is 'light-independent' only in the sense that it d</a:t>
            </a:r>
          </a:p>
        </p:txBody>
      </p:sp>
      <p:sp>
        <p:nvSpPr>
          <p:cNvPr id="7" name="S017 process_flow" descr="Key Concept: Chapter 4: Photosynthesis and the Transformation of Energy. Explain core educational mechanism."/>
          <p:cNvSpPr/>
          <p:nvPr/>
        </p:nvSpPr>
        <p:spPr>
          <a:xfrm>
            <a:off x="6324447" y="2194560"/>
            <a:ext cx="5135727"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7 process_flow" descr="Key Concept: Chapter 4: Photosynthesis and the Transformation of Energy. Explain core educational mechanism."/>
          <p:cNvSpPr txBox="1"/>
          <p:nvPr/>
        </p:nvSpPr>
        <p:spPr>
          <a:xfrm>
            <a:off x="6553047" y="2377440"/>
            <a:ext cx="4678527" cy="2926080"/>
          </a:xfrm>
          <a:prstGeom prst="rect">
            <a:avLst/>
          </a:prstGeom>
          <a:noFill/>
        </p:spPr>
        <p:txBody>
          <a:bodyPr wrap="square">
            <a:spAutoFit/>
          </a:bodyPr>
          <a:lstStyle/>
          <a:p>
            <a:pPr>
              <a:defRPr b="1" sz="1200">
                <a:solidFill>
                  <a:srgbClr val="0284C7"/>
                </a:solidFill>
              </a:defRPr>
            </a:pPr>
            <a:r>
              <a:t>STAGE 2</a:t>
            </a:r>
          </a:p>
          <a:p>
            <a:pPr>
              <a:spcBef>
                <a:spcPts val="600"/>
              </a:spcBef>
              <a:defRPr sz="1400">
                <a:solidFill>
                  <a:srgbClr val="0F172A"/>
                </a:solidFill>
              </a:defRPr>
            </a:pPr>
            <a:r>
              <a:t>oes not directly absorb photons, but it relies continuously on ATP and NADPH generated by light reactions and is deactivated in extended darkness.</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8 2_column_compare"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8 2_column_compare"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COMPARISON</a:t>
            </a:r>
          </a:p>
        </p:txBody>
      </p:sp>
      <p:sp>
        <p:nvSpPr>
          <p:cNvPr id="4" name="S018 2_column_compare"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8 2_column_compare" descr="Key Concept: Chapter 4: Photosynthesis and the Transformation of Energy. Explain core educational mechanism."/>
          <p:cNvSpPr/>
          <p:nvPr/>
        </p:nvSpPr>
        <p:spPr>
          <a:xfrm>
            <a:off x="731520" y="1828800"/>
            <a:ext cx="5181447"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8 2_column_compare" descr="Key Concept: Chapter 4: Photosynthesis and the Transformation of Energy. Explain core educational mechanism."/>
          <p:cNvSpPr txBox="1"/>
          <p:nvPr/>
        </p:nvSpPr>
        <p:spPr>
          <a:xfrm>
            <a:off x="1051560" y="2103120"/>
            <a:ext cx="4541367" cy="3749039"/>
          </a:xfrm>
          <a:prstGeom prst="rect">
            <a:avLst/>
          </a:prstGeom>
          <a:noFill/>
        </p:spPr>
        <p:txBody>
          <a:bodyPr wrap="square">
            <a:spAutoFit/>
          </a:bodyPr>
          <a:lstStyle/>
          <a:p>
            <a:pPr>
              <a:defRPr b="1" sz="1300">
                <a:solidFill>
                  <a:srgbClr val="0284C7"/>
                </a:solidFill>
              </a:defRPr>
            </a:pPr>
            <a:r>
              <a:t>A</a:t>
            </a:r>
          </a:p>
          <a:p>
            <a:pPr>
              <a:spcBef>
                <a:spcPts val="600"/>
              </a:spcBef>
              <a:defRPr sz="1500">
                <a:solidFill>
                  <a:srgbClr val="0F172A"/>
                </a:solidFill>
              </a:defRPr>
            </a:pPr>
            <a:r>
              <a:t>### 6. Quantitative Experimental Data: Action Spectrum</a:t>
            </a:r>
          </a:p>
        </p:txBody>
      </p:sp>
      <p:sp>
        <p:nvSpPr>
          <p:cNvPr id="7" name="S018 2_column_compare" descr="Key Concept: Chapter 4: Photosynthesis and the Transformation of Energy. Explain core educational mechanism."/>
          <p:cNvSpPr/>
          <p:nvPr/>
        </p:nvSpPr>
        <p:spPr>
          <a:xfrm>
            <a:off x="6278727" y="1828800"/>
            <a:ext cx="5181447"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8 2_column_compare" descr="Key Concept: Chapter 4: Photosynthesis and the Transformation of Energy. Explain core educational mechanism."/>
          <p:cNvSpPr txBox="1"/>
          <p:nvPr/>
        </p:nvSpPr>
        <p:spPr>
          <a:xfrm>
            <a:off x="6598767" y="2103120"/>
            <a:ext cx="4541367" cy="3749039"/>
          </a:xfrm>
          <a:prstGeom prst="rect">
            <a:avLst/>
          </a:prstGeom>
          <a:noFill/>
        </p:spPr>
        <p:txBody>
          <a:bodyPr wrap="square">
            <a:spAutoFit/>
          </a:bodyPr>
          <a:lstStyle/>
          <a:p>
            <a:pPr>
              <a:defRPr b="1" sz="1300">
                <a:solidFill>
                  <a:srgbClr val="0284C7"/>
                </a:solidFill>
              </a:defRPr>
            </a:pPr>
            <a:r>
              <a:t>B</a:t>
            </a:r>
          </a:p>
          <a:p>
            <a:pPr>
              <a:spcBef>
                <a:spcPts val="600"/>
              </a:spcBef>
              <a:defRPr sz="1500">
                <a:solidFill>
                  <a:srgbClr val="0F172A"/>
                </a:solidFill>
              </a:defRPr>
            </a:pPr>
            <a:r>
              <a:t>Absorption Spectrum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9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9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19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19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9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 Pigment Component | Peak Absorption Blue (nm) | Peak Absorption Red (nm) | Relative Abundance (%) |</a:t>
            </a:r>
            <a:br/>
            <a:r>
              <a:t>| :---: | :---: | :---: | :---: |</a:t>
            </a:r>
            <a:br/>
            <a:r>
              <a:t>| Chlorophyll a | 430 | 662 | 65 |</a:t>
            </a:r>
            <a:br/>
            <a:r>
              <a:t>| Chlorophyll b | 453 | 642 | 25 |</a:t>
            </a:r>
            <a:br/>
            <a:r>
              <a:t>| Carotenoids (Lutein &amp; β-Carotene) | 445 | None | 10 |</a:t>
            </a:r>
          </a:p>
        </p:txBody>
      </p:sp>
      <p:sp>
        <p:nvSpPr>
          <p:cNvPr id="7" name="S019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9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 Pigment Component | Peak Absorption Blue (nm) | Peak Absorption Red (nm) | Relative Abundance (%) |</a:t>
            </a:r>
            <a:br/>
            <a:r>
              <a:t>| :---: | :---: | :---: | :---: |</a:t>
            </a:r>
            <a:br/>
            <a:r>
              <a:t>| Chlorophyll a | 430 | 662 | 65 |</a:t>
            </a:r>
            <a:br/>
            <a:r>
              <a:t>| Chlorophyll b | 453 | 642 | 25 |</a:t>
            </a:r>
            <a:br/>
            <a:r>
              <a:t>| Carotenoids (Lutein &amp; β-Carotene) | 445 | None | 10 |</a:t>
            </a:r>
          </a:p>
          <a:p>
            <a:pPr>
              <a:spcBef>
                <a:spcPts val="600"/>
              </a:spcBef>
              <a:defRPr sz="1100">
                <a:solidFill>
                  <a:srgbClr val="475569"/>
                </a:solidFill>
              </a:defRPr>
            </a:pPr>
            <a:r>
              <a:t>Source: Page 1, Section Chapter 4: Photosynthesis and the Transformation of Energy, Block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0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0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20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20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0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 7. Formative Assessment: Checks for Understanding</a:t>
            </a:r>
          </a:p>
        </p:txBody>
      </p:sp>
      <p:sp>
        <p:nvSpPr>
          <p:cNvPr id="7" name="S020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0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 7. Formative Assessment: Checks for Understanding</a:t>
            </a:r>
          </a:p>
          <a:p>
            <a:pPr>
              <a:spcBef>
                <a:spcPts val="600"/>
              </a:spcBef>
              <a:defRPr sz="1100">
                <a:solidFill>
                  <a:srgbClr val="475569"/>
                </a:solidFill>
              </a:defRPr>
            </a:pPr>
            <a:r>
              <a:t>Source: Page 1, Section Chapter 4: Photosynthesis and the Transformation of Energy, Block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1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1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21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21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1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Question: If the thylakoid membrane becomes permeable to protons due to a chemical ionophore, what is the immediate biochemical consequence?</a:t>
            </a:r>
            <a:br/>
            <a:r>
              <a:t>A) Photolysis of water ceases immediately</a:t>
            </a:r>
            <a:br/>
            <a:r>
              <a:t>B) Photophosphorylation of ADP to ATP stops, while electron transport may continue</a:t>
            </a:r>
            <a:br/>
            <a:r>
              <a:t>C) Carbon dioxide fixation in the stroma accelerates dramatically</a:t>
            </a:r>
            <a:br/>
            <a:r>
              <a:t>D) Chlorophyll pigments cease photon absorption</a:t>
            </a:r>
          </a:p>
        </p:txBody>
      </p:sp>
      <p:sp>
        <p:nvSpPr>
          <p:cNvPr id="7" name="S021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1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Question: If the thylakoid membrane becomes permeable to protons due to a chemical ionophore, what is the immediate biochemical consequence?</a:t>
            </a:r>
            <a:br/>
            <a:r>
              <a:t>A) Photolysis of water ceases immediately</a:t>
            </a:r>
            <a:br/>
            <a:r>
              <a:t>B) Photophosphorylation of ADP to ATP stops, while electron transport may continue</a:t>
            </a:r>
            <a:br/>
            <a:r>
              <a:t>C) Carbon dioxide fixation in the stroma accelerates dramatically</a:t>
            </a:r>
            <a:br/>
            <a:r>
              <a:t>D) Chlorophyll pigments cease photon absorption</a:t>
            </a:r>
          </a:p>
          <a:p>
            <a:pPr>
              <a:spcBef>
                <a:spcPts val="600"/>
              </a:spcBef>
              <a:defRPr sz="1100">
                <a:solidFill>
                  <a:srgbClr val="475569"/>
                </a:solidFill>
              </a:defRPr>
            </a:pPr>
            <a:r>
              <a:t>Source: Page 1, Section Chapter 4: Photosynthesis and the Transformation of Energy, Block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2 diagram_explanation" descr="Key Concept: Chapter 4: Photosynthesis and the Transformation of Energy. Explain core educational mechanis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2 diagram_explanation" descr="Key Concept: Chapter 4: Photosynthesis and the Transformation of Energy. Explain core educational mechanis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VISUAL MODEL</a:t>
            </a:r>
          </a:p>
        </p:txBody>
      </p:sp>
      <p:sp>
        <p:nvSpPr>
          <p:cNvPr id="4" name="S022 diagram_explanation" descr="Key Concept: Chapter 4: Photosynthesis and the Transformation of Energy. Explain core educational mechanis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Concept: Chapter 4: Photosynthesis and the Transformation of Energy</a:t>
            </a:r>
          </a:p>
          <a:p>
            <a:pPr>
              <a:spcBef>
                <a:spcPts val="400"/>
              </a:spcBef>
              <a:defRPr sz="1400">
                <a:solidFill>
                  <a:srgbClr val="475569"/>
                </a:solidFill>
                <a:latin typeface="Segoe UI"/>
              </a:defRPr>
            </a:pPr>
            <a:r>
              <a:t>Mechanisms, principles, and analysis</a:t>
            </a:r>
          </a:p>
        </p:txBody>
      </p:sp>
      <p:sp>
        <p:nvSpPr>
          <p:cNvPr id="5" name="S022 diagram_explanation" descr="Key Concept: Chapter 4: Photosynthesis and the Transformation of Energy. Explain core educational mechanism."/>
          <p:cNvSpPr/>
          <p:nvPr/>
        </p:nvSpPr>
        <p:spPr>
          <a:xfrm>
            <a:off x="731520" y="1828800"/>
            <a:ext cx="6400800" cy="42976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2 diagram_explanation" descr="Key Concept: Chapter 4: Photosynthesis and the Transformation of Energy. Explain core educational mechanism."/>
          <p:cNvSpPr txBox="1"/>
          <p:nvPr/>
        </p:nvSpPr>
        <p:spPr>
          <a:xfrm>
            <a:off x="1097280" y="2103120"/>
            <a:ext cx="5669280" cy="3108960"/>
          </a:xfrm>
          <a:prstGeom prst="rect">
            <a:avLst/>
          </a:prstGeom>
          <a:noFill/>
        </p:spPr>
        <p:txBody>
          <a:bodyPr wrap="square">
            <a:spAutoFit/>
          </a:bodyPr>
          <a:lstStyle/>
          <a:p>
            <a:pPr>
              <a:defRPr b="1" sz="1200">
                <a:solidFill>
                  <a:srgbClr val="0284C7"/>
                </a:solidFill>
              </a:defRPr>
            </a:pPr>
            <a:r>
              <a:t>VISUAL MODEL — recreated from source</a:t>
            </a:r>
          </a:p>
          <a:p>
            <a:pPr>
              <a:spcBef>
                <a:spcPts val="800"/>
              </a:spcBef>
              <a:defRPr sz="1500">
                <a:solidFill>
                  <a:srgbClr val="0F172A"/>
                </a:solidFill>
              </a:defRPr>
            </a:pPr>
            <a:r>
              <a:t>### 8. Independent Practice and Exam-Style Problems</a:t>
            </a:r>
          </a:p>
        </p:txBody>
      </p:sp>
      <p:sp>
        <p:nvSpPr>
          <p:cNvPr id="7" name="S022 diagram_explanation" descr="Key Concept: Chapter 4: Photosynthesis and the Transformation of Energy. Explain core educational mechanism."/>
          <p:cNvSpPr/>
          <p:nvPr/>
        </p:nvSpPr>
        <p:spPr>
          <a:xfrm>
            <a:off x="7498080" y="1828800"/>
            <a:ext cx="3962095" cy="4297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2 diagram_explanation" descr="Key Concept: Chapter 4: Photosynthesis and the Transformation of Energy. Explain core educational mechanism."/>
          <p:cNvSpPr txBox="1"/>
          <p:nvPr/>
        </p:nvSpPr>
        <p:spPr>
          <a:xfrm>
            <a:off x="7772400" y="2011680"/>
            <a:ext cx="3413455" cy="3931920"/>
          </a:xfrm>
          <a:prstGeom prst="rect">
            <a:avLst/>
          </a:prstGeom>
          <a:noFill/>
        </p:spPr>
        <p:txBody>
          <a:bodyPr wrap="square">
            <a:spAutoFit/>
          </a:bodyPr>
          <a:lstStyle/>
          <a:p>
            <a:pPr>
              <a:defRPr b="1" sz="1200">
                <a:solidFill>
                  <a:srgbClr val="0284C7"/>
                </a:solidFill>
              </a:defRPr>
            </a:pPr>
            <a:r>
              <a:t>READ THE DIAGRAM</a:t>
            </a:r>
          </a:p>
          <a:p>
            <a:pPr>
              <a:spcBef>
                <a:spcPts val="800"/>
              </a:spcBef>
              <a:defRPr sz="1500">
                <a:solidFill>
                  <a:srgbClr val="0F172A"/>
                </a:solidFill>
              </a:defRPr>
            </a:pPr>
            <a:r>
              <a:t>### 8. Independent Practice and Exam-Style Problems</a:t>
            </a:r>
          </a:p>
          <a:p>
            <a:pPr>
              <a:spcBef>
                <a:spcPts val="600"/>
              </a:spcBef>
              <a:defRPr sz="1100">
                <a:solidFill>
                  <a:srgbClr val="475569"/>
                </a:solidFill>
              </a:defRPr>
            </a:pPr>
            <a:r>
              <a:t>Source: Page 1, Section Chapter 4: Photosynthesis and the Transformation of Energy, Block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3 stepped_cards" descr="Worked Example: Step-by-Step. Demonstrate systematic problem-solving methodology."/>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3 stepped_cards" descr="Worked Example: Step-by-Step. Demonstrate systematic problem-solving methodology."/>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WORKED EXAMPLE</a:t>
            </a:r>
          </a:p>
        </p:txBody>
      </p:sp>
      <p:sp>
        <p:nvSpPr>
          <p:cNvPr id="4" name="S023 stepped_cards" descr="Worked Example: Step-by-Step. Demonstrate systematic problem-solving methodology."/>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Worked Example: Step-by-Step</a:t>
            </a:r>
          </a:p>
          <a:p>
            <a:pPr>
              <a:spcBef>
                <a:spcPts val="400"/>
              </a:spcBef>
              <a:defRPr sz="1400">
                <a:solidFill>
                  <a:srgbClr val="475569"/>
                </a:solidFill>
                <a:latin typeface="Segoe UI"/>
              </a:defRPr>
            </a:pPr>
            <a:r>
              <a:t>Applying principles to a concrete problem</a:t>
            </a:r>
          </a:p>
        </p:txBody>
      </p:sp>
      <p:sp>
        <p:nvSpPr>
          <p:cNvPr id="5" name="S023 stepped_cards" descr="Worked Example: Step-by-Step. Demonstrate systematic problem-solving methodology."/>
          <p:cNvSpPr/>
          <p:nvPr/>
        </p:nvSpPr>
        <p:spPr>
          <a:xfrm>
            <a:off x="731520" y="1828800"/>
            <a:ext cx="3840480" cy="429768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3 stepped_cards" descr="Worked Example: Step-by-Step. Demonstrate systematic problem-solving methodology."/>
          <p:cNvSpPr txBox="1"/>
          <p:nvPr/>
        </p:nvSpPr>
        <p:spPr>
          <a:xfrm>
            <a:off x="1005840" y="2011680"/>
            <a:ext cx="3291840" cy="3931920"/>
          </a:xfrm>
          <a:prstGeom prst="rect">
            <a:avLst/>
          </a:prstGeom>
          <a:noFill/>
        </p:spPr>
        <p:txBody>
          <a:bodyPr wrap="square">
            <a:spAutoFit/>
          </a:bodyPr>
          <a:lstStyle/>
          <a:p>
            <a:pPr>
              <a:defRPr b="1" sz="1300">
                <a:solidFill>
                  <a:srgbClr val="0284C7"/>
                </a:solidFill>
              </a:defRPr>
            </a:pPr>
            <a:r>
              <a:t>PROBLEM PROMPT</a:t>
            </a:r>
          </a:p>
          <a:p>
            <a:pPr>
              <a:spcBef>
                <a:spcPts val="1000"/>
              </a:spcBef>
              <a:defRPr sz="1600" b="1">
                <a:solidFill>
                  <a:srgbClr val="0F172A"/>
                </a:solidFill>
              </a:defRPr>
            </a:pPr>
            <a:r>
              <a:t>Practice Problem 1: Trace the path of an electron extracted from water photolysis in Photosystem II until its terminal reduction of NADP+ to NADPH.</a:t>
            </a:r>
          </a:p>
        </p:txBody>
      </p:sp>
      <p:sp>
        <p:nvSpPr>
          <p:cNvPr id="7" name="S023 stepped_cards" descr="Worked Example: Step-by-Step. Demonstrate systematic problem-solving methodology."/>
          <p:cNvSpPr/>
          <p:nvPr/>
        </p:nvSpPr>
        <p:spPr>
          <a:xfrm>
            <a:off x="4937760" y="1828800"/>
            <a:ext cx="6522415" cy="12801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3 stepped_cards" descr="Worked Example: Step-by-Step. Demonstrate systematic problem-solving methodology."/>
          <p:cNvSpPr txBox="1"/>
          <p:nvPr/>
        </p:nvSpPr>
        <p:spPr>
          <a:xfrm>
            <a:off x="5212080" y="1965960"/>
            <a:ext cx="5973775" cy="1005840"/>
          </a:xfrm>
          <a:prstGeom prst="rect">
            <a:avLst/>
          </a:prstGeom>
          <a:noFill/>
        </p:spPr>
        <p:txBody>
          <a:bodyPr wrap="square">
            <a:spAutoFit/>
          </a:bodyPr>
          <a:lstStyle/>
          <a:p>
            <a:pPr>
              <a:defRPr b="1" sz="1200">
                <a:solidFill>
                  <a:srgbClr val="0284C7"/>
                </a:solidFill>
              </a:defRPr>
            </a:pPr>
            <a:r>
              <a:t>STEP 1</a:t>
            </a:r>
          </a:p>
          <a:p>
            <a:pPr>
              <a:spcBef>
                <a:spcPts val="300"/>
              </a:spcBef>
              <a:defRPr sz="1500">
                <a:solidFill>
                  <a:srgbClr val="0F172A"/>
                </a:solidFill>
              </a:defRPr>
            </a:pPr>
            <a:r>
              <a:t>Identify given quantities</a:t>
            </a:r>
          </a:p>
        </p:txBody>
      </p:sp>
      <p:sp>
        <p:nvSpPr>
          <p:cNvPr id="9" name="S023 stepped_cards" descr="Worked Example: Step-by-Step. Demonstrate systematic problem-solving methodology."/>
          <p:cNvSpPr/>
          <p:nvPr/>
        </p:nvSpPr>
        <p:spPr>
          <a:xfrm>
            <a:off x="4937760" y="3291840"/>
            <a:ext cx="6522415" cy="12801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23 stepped_cards" descr="Worked Example: Step-by-Step. Demonstrate systematic problem-solving methodology."/>
          <p:cNvSpPr txBox="1"/>
          <p:nvPr/>
        </p:nvSpPr>
        <p:spPr>
          <a:xfrm>
            <a:off x="5212080" y="3429000"/>
            <a:ext cx="5973775" cy="1005840"/>
          </a:xfrm>
          <a:prstGeom prst="rect">
            <a:avLst/>
          </a:prstGeom>
          <a:noFill/>
        </p:spPr>
        <p:txBody>
          <a:bodyPr wrap="square">
            <a:spAutoFit/>
          </a:bodyPr>
          <a:lstStyle/>
          <a:p>
            <a:pPr>
              <a:defRPr b="1" sz="1200">
                <a:solidFill>
                  <a:srgbClr val="0284C7"/>
                </a:solidFill>
              </a:defRPr>
            </a:pPr>
            <a:r>
              <a:t>STEP 2</a:t>
            </a:r>
          </a:p>
          <a:p>
            <a:pPr>
              <a:spcBef>
                <a:spcPts val="300"/>
              </a:spcBef>
              <a:defRPr sz="1500">
                <a:solidFill>
                  <a:srgbClr val="0F172A"/>
                </a:solidFill>
              </a:defRPr>
            </a:pPr>
            <a:r>
              <a:t>Apply fundamental relation</a:t>
            </a:r>
          </a:p>
        </p:txBody>
      </p:sp>
      <p:sp>
        <p:nvSpPr>
          <p:cNvPr id="11" name="S023 stepped_cards" descr="Worked Example: Step-by-Step. Demonstrate systematic problem-solving methodology."/>
          <p:cNvSpPr/>
          <p:nvPr/>
        </p:nvSpPr>
        <p:spPr>
          <a:xfrm>
            <a:off x="4937760" y="4754880"/>
            <a:ext cx="6522415" cy="12801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23 stepped_cards" descr="Worked Example: Step-by-Step. Demonstrate systematic problem-solving methodology."/>
          <p:cNvSpPr txBox="1"/>
          <p:nvPr/>
        </p:nvSpPr>
        <p:spPr>
          <a:xfrm>
            <a:off x="5212080" y="4892040"/>
            <a:ext cx="5973775" cy="1005840"/>
          </a:xfrm>
          <a:prstGeom prst="rect">
            <a:avLst/>
          </a:prstGeom>
          <a:noFill/>
        </p:spPr>
        <p:txBody>
          <a:bodyPr wrap="square">
            <a:spAutoFit/>
          </a:bodyPr>
          <a:lstStyle/>
          <a:p>
            <a:pPr>
              <a:defRPr b="1" sz="1200">
                <a:solidFill>
                  <a:srgbClr val="0284C7"/>
                </a:solidFill>
              </a:defRPr>
            </a:pPr>
            <a:r>
              <a:t>STEP 3</a:t>
            </a:r>
          </a:p>
          <a:p>
            <a:pPr>
              <a:spcBef>
                <a:spcPts val="300"/>
              </a:spcBef>
              <a:defRPr sz="1500">
                <a:solidFill>
                  <a:srgbClr val="0F172A"/>
                </a:solidFill>
              </a:defRPr>
            </a:pPr>
            <a:r>
              <a:t>Compute exact final value</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9"/>
                                  </p:tgtEl>
                                </p:cBhvr>
                              </p:animEffect>
                            </p:childTnLst>
                          </p:cTn>
                        </p:par>
                      </p:childTnLst>
                    </p:cTn>
                  </p:par>
                  <p:par>
                    <p:cTn id="5" fill="hold">
                      <p:stCondLst>
                        <p:cond delay="0"/>
                      </p:stCondLst>
                      <p:childTnLst>
                        <p:par>
                          <p:cTn id="6" fill="hold">
                            <p:stCondLst>
                              <p:cond delay="0"/>
                            </p:stCondLst>
                            <p:childTnLst>
                              <p:animEffect transition="in" filter="fade">
                                <p:cBhvr>
                                  <p:cTn id="7" dur="4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sOne"/>
      <p:bldP spid="11" grpId="0" build="asOne"/>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4 stepped_cards" descr="Worked Example: Step-by-Step. Demonstrate systematic problem-solving methodology."/>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4 stepped_cards" descr="Worked Example: Step-by-Step. Demonstrate systematic problem-solving methodology."/>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WORKED EXAMPLE</a:t>
            </a:r>
          </a:p>
        </p:txBody>
      </p:sp>
      <p:sp>
        <p:nvSpPr>
          <p:cNvPr id="4" name="S024 stepped_cards" descr="Worked Example: Step-by-Step. Demonstrate systematic problem-solving methodology."/>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Worked Example: Step-by-Step</a:t>
            </a:r>
          </a:p>
          <a:p>
            <a:pPr>
              <a:spcBef>
                <a:spcPts val="400"/>
              </a:spcBef>
              <a:defRPr sz="1400">
                <a:solidFill>
                  <a:srgbClr val="475569"/>
                </a:solidFill>
                <a:latin typeface="Segoe UI"/>
              </a:defRPr>
            </a:pPr>
            <a:r>
              <a:t>Applying principles to a concrete problem</a:t>
            </a:r>
          </a:p>
        </p:txBody>
      </p:sp>
      <p:sp>
        <p:nvSpPr>
          <p:cNvPr id="5" name="S024 stepped_cards" descr="Worked Example: Step-by-Step. Demonstrate systematic problem-solving methodology."/>
          <p:cNvSpPr/>
          <p:nvPr/>
        </p:nvSpPr>
        <p:spPr>
          <a:xfrm>
            <a:off x="731520" y="1828800"/>
            <a:ext cx="3840480" cy="429768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4 stepped_cards" descr="Worked Example: Step-by-Step. Demonstrate systematic problem-solving methodology."/>
          <p:cNvSpPr txBox="1"/>
          <p:nvPr/>
        </p:nvSpPr>
        <p:spPr>
          <a:xfrm>
            <a:off x="1005840" y="2011680"/>
            <a:ext cx="3291840" cy="3931920"/>
          </a:xfrm>
          <a:prstGeom prst="rect">
            <a:avLst/>
          </a:prstGeom>
          <a:noFill/>
        </p:spPr>
        <p:txBody>
          <a:bodyPr wrap="square">
            <a:spAutoFit/>
          </a:bodyPr>
          <a:lstStyle/>
          <a:p>
            <a:pPr>
              <a:defRPr b="1" sz="1300">
                <a:solidFill>
                  <a:srgbClr val="0284C7"/>
                </a:solidFill>
              </a:defRPr>
            </a:pPr>
            <a:r>
              <a:t>PROBLEM PROMPT</a:t>
            </a:r>
          </a:p>
          <a:p>
            <a:pPr>
              <a:spcBef>
                <a:spcPts val="1000"/>
              </a:spcBef>
              <a:defRPr sz="1600" b="1">
                <a:solidFill>
                  <a:srgbClr val="0F172A"/>
                </a:solidFill>
              </a:defRPr>
            </a:pPr>
            <a:r>
              <a:t>Practice Problem 2: Contrast the physiological advantages and energetic costs of the C3 photosynthetic pathway with the C4 dicarboxylic acid pathway in arid environments.</a:t>
            </a:r>
          </a:p>
        </p:txBody>
      </p:sp>
      <p:sp>
        <p:nvSpPr>
          <p:cNvPr id="7" name="S024 stepped_cards" descr="Worked Example: Step-by-Step. Demonstrate systematic problem-solving methodology."/>
          <p:cNvSpPr/>
          <p:nvPr/>
        </p:nvSpPr>
        <p:spPr>
          <a:xfrm>
            <a:off x="4937760" y="1828800"/>
            <a:ext cx="6522415" cy="12801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4 stepped_cards" descr="Worked Example: Step-by-Step. Demonstrate systematic problem-solving methodology."/>
          <p:cNvSpPr txBox="1"/>
          <p:nvPr/>
        </p:nvSpPr>
        <p:spPr>
          <a:xfrm>
            <a:off x="5212080" y="1965960"/>
            <a:ext cx="5973775" cy="1005840"/>
          </a:xfrm>
          <a:prstGeom prst="rect">
            <a:avLst/>
          </a:prstGeom>
          <a:noFill/>
        </p:spPr>
        <p:txBody>
          <a:bodyPr wrap="square">
            <a:spAutoFit/>
          </a:bodyPr>
          <a:lstStyle/>
          <a:p>
            <a:pPr>
              <a:defRPr b="1" sz="1200">
                <a:solidFill>
                  <a:srgbClr val="0284C7"/>
                </a:solidFill>
              </a:defRPr>
            </a:pPr>
            <a:r>
              <a:t>STEP 1</a:t>
            </a:r>
          </a:p>
          <a:p>
            <a:pPr>
              <a:spcBef>
                <a:spcPts val="300"/>
              </a:spcBef>
              <a:defRPr sz="1500">
                <a:solidFill>
                  <a:srgbClr val="0F172A"/>
                </a:solidFill>
              </a:defRPr>
            </a:pPr>
            <a:r>
              <a:t>Identify given quantities</a:t>
            </a:r>
          </a:p>
        </p:txBody>
      </p:sp>
      <p:sp>
        <p:nvSpPr>
          <p:cNvPr id="9" name="S024 stepped_cards" descr="Worked Example: Step-by-Step. Demonstrate systematic problem-solving methodology."/>
          <p:cNvSpPr/>
          <p:nvPr/>
        </p:nvSpPr>
        <p:spPr>
          <a:xfrm>
            <a:off x="4937760" y="3291840"/>
            <a:ext cx="6522415" cy="12801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24 stepped_cards" descr="Worked Example: Step-by-Step. Demonstrate systematic problem-solving methodology."/>
          <p:cNvSpPr txBox="1"/>
          <p:nvPr/>
        </p:nvSpPr>
        <p:spPr>
          <a:xfrm>
            <a:off x="5212080" y="3429000"/>
            <a:ext cx="5973775" cy="1005840"/>
          </a:xfrm>
          <a:prstGeom prst="rect">
            <a:avLst/>
          </a:prstGeom>
          <a:noFill/>
        </p:spPr>
        <p:txBody>
          <a:bodyPr wrap="square">
            <a:spAutoFit/>
          </a:bodyPr>
          <a:lstStyle/>
          <a:p>
            <a:pPr>
              <a:defRPr b="1" sz="1200">
                <a:solidFill>
                  <a:srgbClr val="0284C7"/>
                </a:solidFill>
              </a:defRPr>
            </a:pPr>
            <a:r>
              <a:t>STEP 2</a:t>
            </a:r>
          </a:p>
          <a:p>
            <a:pPr>
              <a:spcBef>
                <a:spcPts val="300"/>
              </a:spcBef>
              <a:defRPr sz="1500">
                <a:solidFill>
                  <a:srgbClr val="0F172A"/>
                </a:solidFill>
              </a:defRPr>
            </a:pPr>
            <a:r>
              <a:t>Apply fundamental relation</a:t>
            </a:r>
          </a:p>
        </p:txBody>
      </p:sp>
      <p:sp>
        <p:nvSpPr>
          <p:cNvPr id="11" name="S024 stepped_cards" descr="Worked Example: Step-by-Step. Demonstrate systematic problem-solving methodology."/>
          <p:cNvSpPr/>
          <p:nvPr/>
        </p:nvSpPr>
        <p:spPr>
          <a:xfrm>
            <a:off x="4937760" y="4754880"/>
            <a:ext cx="6522415" cy="12801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24 stepped_cards" descr="Worked Example: Step-by-Step. Demonstrate systematic problem-solving methodology."/>
          <p:cNvSpPr txBox="1"/>
          <p:nvPr/>
        </p:nvSpPr>
        <p:spPr>
          <a:xfrm>
            <a:off x="5212080" y="4892040"/>
            <a:ext cx="5973775" cy="1005840"/>
          </a:xfrm>
          <a:prstGeom prst="rect">
            <a:avLst/>
          </a:prstGeom>
          <a:noFill/>
        </p:spPr>
        <p:txBody>
          <a:bodyPr wrap="square">
            <a:spAutoFit/>
          </a:bodyPr>
          <a:lstStyle/>
          <a:p>
            <a:pPr>
              <a:defRPr b="1" sz="1200">
                <a:solidFill>
                  <a:srgbClr val="0284C7"/>
                </a:solidFill>
              </a:defRPr>
            </a:pPr>
            <a:r>
              <a:t>STEP 3</a:t>
            </a:r>
          </a:p>
          <a:p>
            <a:pPr>
              <a:spcBef>
                <a:spcPts val="300"/>
              </a:spcBef>
              <a:defRPr sz="1500">
                <a:solidFill>
                  <a:srgbClr val="0F172A"/>
                </a:solidFill>
              </a:defRPr>
            </a:pPr>
            <a:r>
              <a:t>Compute exact final value</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9"/>
                                  </p:tgtEl>
                                </p:cBhvr>
                              </p:animEffect>
                            </p:childTnLst>
                          </p:cTn>
                        </p:par>
                      </p:childTnLst>
                    </p:cTn>
                  </p:par>
                  <p:par>
                    <p:cTn id="5" fill="hold">
                      <p:stCondLst>
                        <p:cond delay="0"/>
                      </p:stCondLst>
                      <p:childTnLst>
                        <p:par>
                          <p:cTn id="6" fill="hold">
                            <p:stCondLst>
                              <p:cond delay="0"/>
                            </p:stCondLst>
                            <p:childTnLst>
                              <p:animEffect transition="in" filter="fade">
                                <p:cBhvr>
                                  <p:cTn id="7" dur="4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sOne"/>
      <p:bldP spid="11" grpId="0" build="asOne"/>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5 table_display" descr="Structured Data: Table 1. Present structured tabular evidence."/>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5 table_display" descr="Structured Data: Table 1. Present structured tabular evidence."/>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DATA TABLE</a:t>
            </a:r>
          </a:p>
        </p:txBody>
      </p:sp>
      <p:sp>
        <p:nvSpPr>
          <p:cNvPr id="4" name="S025 table_display" descr="Structured Data: Table 1. Present structured tabular evidence."/>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Structured Data: Table 1</a:t>
            </a:r>
          </a:p>
          <a:p>
            <a:pPr>
              <a:spcBef>
                <a:spcPts val="400"/>
              </a:spcBef>
              <a:defRPr sz="1400">
                <a:solidFill>
                  <a:srgbClr val="475569"/>
                </a:solidFill>
                <a:latin typeface="Segoe UI"/>
              </a:defRPr>
            </a:pPr>
            <a:r>
              <a:t>Key values, properties, and observations</a:t>
            </a:r>
          </a:p>
        </p:txBody>
      </p:sp>
      <p:graphicFrame>
        <p:nvGraphicFramePr>
          <p:cNvPr id="5" name="Table 4"/>
          <p:cNvGraphicFramePr>
            <a:graphicFrameLocks noGrp="1"/>
          </p:cNvGraphicFramePr>
          <p:nvPr/>
        </p:nvGraphicFramePr>
        <p:xfrm>
          <a:off x="731520" y="1920240"/>
          <a:ext cx="10728655" cy="4114800"/>
        </p:xfrm>
        <a:graphic>
          <a:graphicData uri="http://schemas.openxmlformats.org/drawingml/2006/table">
            <a:tbl>
              <a:tblPr firstRow="1" bandRow="1">
                <a:tableStyleId>{5C22544A-7EE6-4342-B048-85BDC9FD1C3A}</a:tableStyleId>
              </a:tblPr>
              <a:tblGrid>
                <a:gridCol w="2682163"/>
                <a:gridCol w="2682163"/>
                <a:gridCol w="2682163"/>
                <a:gridCol w="2682166"/>
              </a:tblGrid>
              <a:tr h="1028700">
                <a:tc>
                  <a:txBody>
                    <a:bodyPr/>
                    <a:lstStyle/>
                    <a:p>
                      <a:pPr algn="ctr">
                        <a:defRPr sz="1500" b="1">
                          <a:solidFill>
                            <a:srgbClr val="FFFFFF"/>
                          </a:solidFill>
                          <a:latin typeface="Segoe UI"/>
                        </a:defRPr>
                      </a:pPr>
                      <a:r>
                        <a:t>Pigment Component</a:t>
                      </a:r>
                    </a:p>
                  </a:txBody>
                  <a:tcPr>
                    <a:solidFill>
                      <a:srgbClr val="0284C7"/>
                    </a:solidFill>
                  </a:tcPr>
                </a:tc>
                <a:tc>
                  <a:txBody>
                    <a:bodyPr/>
                    <a:lstStyle/>
                    <a:p>
                      <a:pPr algn="ctr">
                        <a:defRPr sz="1500" b="1">
                          <a:solidFill>
                            <a:srgbClr val="FFFFFF"/>
                          </a:solidFill>
                          <a:latin typeface="Segoe UI"/>
                        </a:defRPr>
                      </a:pPr>
                      <a:r>
                        <a:t>Peak Absorption Blue (nm)</a:t>
                      </a:r>
                    </a:p>
                  </a:txBody>
                  <a:tcPr>
                    <a:solidFill>
                      <a:srgbClr val="0284C7"/>
                    </a:solidFill>
                  </a:tcPr>
                </a:tc>
                <a:tc>
                  <a:txBody>
                    <a:bodyPr/>
                    <a:lstStyle/>
                    <a:p>
                      <a:pPr algn="ctr">
                        <a:defRPr sz="1500" b="1">
                          <a:solidFill>
                            <a:srgbClr val="FFFFFF"/>
                          </a:solidFill>
                          <a:latin typeface="Segoe UI"/>
                        </a:defRPr>
                      </a:pPr>
                      <a:r>
                        <a:t>Peak Absorption Red (nm)</a:t>
                      </a:r>
                    </a:p>
                  </a:txBody>
                  <a:tcPr>
                    <a:solidFill>
                      <a:srgbClr val="0284C7"/>
                    </a:solidFill>
                  </a:tcPr>
                </a:tc>
                <a:tc>
                  <a:txBody>
                    <a:bodyPr/>
                    <a:lstStyle/>
                    <a:p>
                      <a:pPr algn="ctr">
                        <a:defRPr sz="1500" b="1">
                          <a:solidFill>
                            <a:srgbClr val="FFFFFF"/>
                          </a:solidFill>
                          <a:latin typeface="Segoe UI"/>
                        </a:defRPr>
                      </a:pPr>
                      <a:r>
                        <a:t>Relative Abundance (%)</a:t>
                      </a:r>
                    </a:p>
                  </a:txBody>
                  <a:tcPr>
                    <a:solidFill>
                      <a:srgbClr val="0284C7"/>
                    </a:solidFill>
                  </a:tcPr>
                </a:tc>
              </a:tr>
              <a:tr h="1028700">
                <a:tc>
                  <a:txBody>
                    <a:bodyPr/>
                    <a:lstStyle/>
                    <a:p>
                      <a:pPr>
                        <a:defRPr sz="1400">
                          <a:solidFill>
                            <a:srgbClr val="0F172A"/>
                          </a:solidFill>
                          <a:latin typeface="Segoe UI"/>
                        </a:defRPr>
                      </a:pPr>
                      <a:r>
                        <a:t>Chlorophyll a</a:t>
                      </a:r>
                    </a:p>
                  </a:txBody>
                  <a:tcPr>
                    <a:solidFill>
                      <a:srgbClr val="F8FAFC"/>
                    </a:solidFill>
                  </a:tcPr>
                </a:tc>
                <a:tc>
                  <a:txBody>
                    <a:bodyPr/>
                    <a:lstStyle/>
                    <a:p>
                      <a:pPr>
                        <a:defRPr sz="1400">
                          <a:solidFill>
                            <a:srgbClr val="0F172A"/>
                          </a:solidFill>
                          <a:latin typeface="Segoe UI"/>
                        </a:defRPr>
                      </a:pPr>
                      <a:r>
                        <a:t>430</a:t>
                      </a:r>
                    </a:p>
                  </a:txBody>
                  <a:tcPr>
                    <a:solidFill>
                      <a:srgbClr val="F8FAFC"/>
                    </a:solidFill>
                  </a:tcPr>
                </a:tc>
                <a:tc>
                  <a:txBody>
                    <a:bodyPr/>
                    <a:lstStyle/>
                    <a:p>
                      <a:pPr>
                        <a:defRPr sz="1400">
                          <a:solidFill>
                            <a:srgbClr val="0F172A"/>
                          </a:solidFill>
                          <a:latin typeface="Segoe UI"/>
                        </a:defRPr>
                      </a:pPr>
                      <a:r>
                        <a:t>662</a:t>
                      </a:r>
                    </a:p>
                  </a:txBody>
                  <a:tcPr>
                    <a:solidFill>
                      <a:srgbClr val="F8FAFC"/>
                    </a:solidFill>
                  </a:tcPr>
                </a:tc>
                <a:tc>
                  <a:txBody>
                    <a:bodyPr/>
                    <a:lstStyle/>
                    <a:p>
                      <a:pPr>
                        <a:defRPr sz="1400">
                          <a:solidFill>
                            <a:srgbClr val="0F172A"/>
                          </a:solidFill>
                          <a:latin typeface="Segoe UI"/>
                        </a:defRPr>
                      </a:pPr>
                      <a:r>
                        <a:t>65</a:t>
                      </a:r>
                    </a:p>
                  </a:txBody>
                  <a:tcPr>
                    <a:solidFill>
                      <a:srgbClr val="F8FAFC"/>
                    </a:solidFill>
                  </a:tcPr>
                </a:tc>
              </a:tr>
              <a:tr h="1028700">
                <a:tc>
                  <a:txBody>
                    <a:bodyPr/>
                    <a:lstStyle/>
                    <a:p>
                      <a:pPr>
                        <a:defRPr sz="1400">
                          <a:solidFill>
                            <a:srgbClr val="0F172A"/>
                          </a:solidFill>
                          <a:latin typeface="Segoe UI"/>
                        </a:defRPr>
                      </a:pPr>
                      <a:r>
                        <a:t>Chlorophyll b</a:t>
                      </a:r>
                    </a:p>
                  </a:txBody>
                  <a:tcPr>
                    <a:solidFill>
                      <a:srgbClr val="FFFFFF"/>
                    </a:solidFill>
                  </a:tcPr>
                </a:tc>
                <a:tc>
                  <a:txBody>
                    <a:bodyPr/>
                    <a:lstStyle/>
                    <a:p>
                      <a:pPr>
                        <a:defRPr sz="1400">
                          <a:solidFill>
                            <a:srgbClr val="0F172A"/>
                          </a:solidFill>
                          <a:latin typeface="Segoe UI"/>
                        </a:defRPr>
                      </a:pPr>
                      <a:r>
                        <a:t>453</a:t>
                      </a:r>
                    </a:p>
                  </a:txBody>
                  <a:tcPr>
                    <a:solidFill>
                      <a:srgbClr val="FFFFFF"/>
                    </a:solidFill>
                  </a:tcPr>
                </a:tc>
                <a:tc>
                  <a:txBody>
                    <a:bodyPr/>
                    <a:lstStyle/>
                    <a:p>
                      <a:pPr>
                        <a:defRPr sz="1400">
                          <a:solidFill>
                            <a:srgbClr val="0F172A"/>
                          </a:solidFill>
                          <a:latin typeface="Segoe UI"/>
                        </a:defRPr>
                      </a:pPr>
                      <a:r>
                        <a:t>642</a:t>
                      </a:r>
                    </a:p>
                  </a:txBody>
                  <a:tcPr>
                    <a:solidFill>
                      <a:srgbClr val="FFFFFF"/>
                    </a:solidFill>
                  </a:tcPr>
                </a:tc>
                <a:tc>
                  <a:txBody>
                    <a:bodyPr/>
                    <a:lstStyle/>
                    <a:p>
                      <a:pPr>
                        <a:defRPr sz="1400">
                          <a:solidFill>
                            <a:srgbClr val="0F172A"/>
                          </a:solidFill>
                          <a:latin typeface="Segoe UI"/>
                        </a:defRPr>
                      </a:pPr>
                      <a:r>
                        <a:t>25</a:t>
                      </a:r>
                    </a:p>
                  </a:txBody>
                  <a:tcPr>
                    <a:solidFill>
                      <a:srgbClr val="FFFFFF"/>
                    </a:solidFill>
                  </a:tcPr>
                </a:tc>
              </a:tr>
              <a:tr h="1028700">
                <a:tc>
                  <a:txBody>
                    <a:bodyPr/>
                    <a:lstStyle/>
                    <a:p>
                      <a:pPr>
                        <a:defRPr sz="1400">
                          <a:solidFill>
                            <a:srgbClr val="0F172A"/>
                          </a:solidFill>
                          <a:latin typeface="Segoe UI"/>
                        </a:defRPr>
                      </a:pPr>
                      <a:r>
                        <a:t>Carotenoids (Lutein &amp; β-Carotene)</a:t>
                      </a:r>
                    </a:p>
                  </a:txBody>
                  <a:tcPr>
                    <a:solidFill>
                      <a:srgbClr val="F8FAFC"/>
                    </a:solidFill>
                  </a:tcPr>
                </a:tc>
                <a:tc>
                  <a:txBody>
                    <a:bodyPr/>
                    <a:lstStyle/>
                    <a:p>
                      <a:pPr>
                        <a:defRPr sz="1400">
                          <a:solidFill>
                            <a:srgbClr val="0F172A"/>
                          </a:solidFill>
                          <a:latin typeface="Segoe UI"/>
                        </a:defRPr>
                      </a:pPr>
                      <a:r>
                        <a:t>445</a:t>
                      </a:r>
                    </a:p>
                  </a:txBody>
                  <a:tcPr>
                    <a:solidFill>
                      <a:srgbClr val="F8FAFC"/>
                    </a:solidFill>
                  </a:tcPr>
                </a:tc>
                <a:tc>
                  <a:txBody>
                    <a:bodyPr/>
                    <a:lstStyle/>
                    <a:p>
                      <a:pPr>
                        <a:defRPr sz="1400">
                          <a:solidFill>
                            <a:srgbClr val="0F172A"/>
                          </a:solidFill>
                          <a:latin typeface="Segoe UI"/>
                        </a:defRPr>
                      </a:pPr>
                      <a:r>
                        <a:t>None</a:t>
                      </a:r>
                    </a:p>
                  </a:txBody>
                  <a:tcPr>
                    <a:solidFill>
                      <a:srgbClr val="F8FAFC"/>
                    </a:solidFill>
                  </a:tcPr>
                </a:tc>
                <a:tc>
                  <a:txBody>
                    <a:bodyPr/>
                    <a:lstStyle/>
                    <a:p>
                      <a:pPr>
                        <a:defRPr sz="1400">
                          <a:solidFill>
                            <a:srgbClr val="0F172A"/>
                          </a:solidFill>
                          <a:latin typeface="Segoe UI"/>
                        </a:defRPr>
                      </a:pPr>
                      <a:r>
                        <a:t>10</a:t>
                      </a:r>
                    </a:p>
                  </a:txBody>
                  <a:tcP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6 misconception_contrast" descr="Common Misconception &amp; Pitfall. Actively dismantle tempting error and reinforce sound reasoning."/>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6 misconception_contrast" descr="Common Misconception &amp; Pitfall. Actively dismantle tempting error and reinforce sound reasoning."/>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MISCONCEPTION &amp; TRAP</a:t>
            </a:r>
          </a:p>
        </p:txBody>
      </p:sp>
      <p:sp>
        <p:nvSpPr>
          <p:cNvPr id="4" name="S026 misconception_contrast" descr="Common Misconception &amp; Pitfall. Actively dismantle tempting error and reinforce sound reasoning."/>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Common Misconception &amp; Pitfall</a:t>
            </a:r>
          </a:p>
          <a:p>
            <a:pPr>
              <a:spcBef>
                <a:spcPts val="400"/>
              </a:spcBef>
              <a:defRPr sz="1400">
                <a:solidFill>
                  <a:srgbClr val="475569"/>
                </a:solidFill>
                <a:latin typeface="Segoe UI"/>
              </a:defRPr>
            </a:pPr>
            <a:r>
              <a:t>Chapter 4: Photosynthesis and the Transformation of Energy</a:t>
            </a:r>
          </a:p>
        </p:txBody>
      </p:sp>
      <p:sp>
        <p:nvSpPr>
          <p:cNvPr id="5" name="S026 misconception_contrast" descr="Common Misconception &amp; Pitfall. Actively dismantle tempting error and reinforce sound reasoning."/>
          <p:cNvSpPr/>
          <p:nvPr/>
        </p:nvSpPr>
        <p:spPr>
          <a:xfrm>
            <a:off x="731520" y="1828800"/>
            <a:ext cx="5181447" cy="4297680"/>
          </a:xfrm>
          <a:prstGeom prst="roundRect">
            <a:avLst/>
          </a:prstGeom>
          <a:solidFill>
            <a:srgbClr val="FFF1F2"/>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6 misconception_contrast" descr="Common Misconception &amp; Pitfall. Actively dismantle tempting error and reinforce sound reasoning."/>
          <p:cNvSpPr txBox="1"/>
          <p:nvPr/>
        </p:nvSpPr>
        <p:spPr>
          <a:xfrm>
            <a:off x="1097280" y="2103120"/>
            <a:ext cx="4449927" cy="3749040"/>
          </a:xfrm>
          <a:prstGeom prst="rect">
            <a:avLst/>
          </a:prstGeom>
          <a:noFill/>
        </p:spPr>
        <p:txBody>
          <a:bodyPr wrap="square">
            <a:spAutoFit/>
          </a:bodyPr>
          <a:lstStyle/>
          <a:p>
            <a:pPr>
              <a:defRPr b="1" sz="1300">
                <a:solidFill>
                  <a:srgbClr val="E11D48"/>
                </a:solidFill>
              </a:defRPr>
            </a:pPr>
            <a:r>
              <a:t>✖  COMMON MISTAKE (TEMPTING ERROR)</a:t>
            </a:r>
          </a:p>
          <a:p>
            <a:pPr>
              <a:spcBef>
                <a:spcPts val="1200"/>
              </a:spcBef>
              <a:defRPr sz="1900" b="1">
                <a:solidFill>
                  <a:srgbClr val="E11D48"/>
                </a:solidFill>
                <a:latin typeface="Segoe UI"/>
              </a:defRPr>
            </a:pPr>
            <a:r>
              <a:t>The Dark Reactions and Plant Respiration</a:t>
            </a:r>
            <a:br/>
            <a:r>
              <a:t>Common Mistake: Plants perform photosynthesis during the day and cellular respiration only at night; furthermore, the 'dark reactions' (Calvin cycle) occur only in total darkness.</a:t>
            </a:r>
          </a:p>
          <a:p>
            <a:pPr>
              <a:spcBef>
                <a:spcPts val="1400"/>
              </a:spcBef>
              <a:defRPr sz="1500">
                <a:solidFill>
                  <a:srgbClr val="0F172A"/>
                </a:solidFill>
              </a:defRPr>
            </a:pPr>
            <a:r>
              <a:t>Why it is flawed:</a:t>
            </a:r>
            <a:br/>
            <a:r>
              <a:t>It overlooks critical qualifications or mathematical laws.</a:t>
            </a:r>
          </a:p>
        </p:txBody>
      </p:sp>
      <p:sp>
        <p:nvSpPr>
          <p:cNvPr id="7" name="S026 misconception_contrast" descr="Common Misconception &amp; Pitfall. Actively dismantle tempting error and reinforce sound reasoning."/>
          <p:cNvSpPr/>
          <p:nvPr/>
        </p:nvSpPr>
        <p:spPr>
          <a:xfrm>
            <a:off x="6278727" y="1828800"/>
            <a:ext cx="5181447" cy="429768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6 misconception_contrast" descr="Common Misconception &amp; Pitfall. Actively dismantle tempting error and reinforce sound reasoning."/>
          <p:cNvSpPr txBox="1"/>
          <p:nvPr/>
        </p:nvSpPr>
        <p:spPr>
          <a:xfrm>
            <a:off x="6644487" y="2103120"/>
            <a:ext cx="4449927" cy="3749040"/>
          </a:xfrm>
          <a:prstGeom prst="rect">
            <a:avLst/>
          </a:prstGeom>
          <a:noFill/>
        </p:spPr>
        <p:txBody>
          <a:bodyPr wrap="square">
            <a:spAutoFit/>
          </a:bodyPr>
          <a:lstStyle/>
          <a:p>
            <a:pPr>
              <a:defRPr b="1" sz="1300">
                <a:solidFill>
                  <a:srgbClr val="10B981"/>
                </a:solidFill>
              </a:defRPr>
            </a:pPr>
            <a:r>
              <a:t>✔  CORRECT REASONING &amp; TRUTH</a:t>
            </a:r>
          </a:p>
          <a:p>
            <a:pPr>
              <a:spcBef>
                <a:spcPts val="1200"/>
              </a:spcBef>
              <a:defRPr sz="1900" b="1">
                <a:solidFill>
                  <a:srgbClr val="10B981"/>
                </a:solidFill>
                <a:latin typeface="Segoe UI"/>
              </a:defRPr>
            </a:pPr>
            <a:r>
              <a:t>Follow fundamental principles.</a:t>
            </a:r>
          </a:p>
          <a:p>
            <a:pPr>
              <a:spcBef>
                <a:spcPts val="1400"/>
              </a:spcBef>
              <a:defRPr sz="1500">
                <a:solidFill>
                  <a:srgbClr val="0F172A"/>
                </a:solidFill>
              </a:defRPr>
            </a:pPr>
            <a:r>
              <a:t>Why this is sound:</a:t>
            </a:r>
            <a:br/>
            <a:r>
              <a:t>Follow fundamental principles.</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4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7 quiz_prompt" descr="Check for Understanding. Assess student comprehension and stimulate classroom discussi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7 quiz_prompt" descr="Check for Understanding. Assess student comprehension and stimulate classroom discussi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7 quiz_prompt" descr="Check for Understanding. Assess student comprehension and stimulate classroom discussi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a:t>
            </a:r>
          </a:p>
          <a:p>
            <a:pPr>
              <a:spcBef>
                <a:spcPts val="400"/>
              </a:spcBef>
              <a:defRPr sz="1400">
                <a:solidFill>
                  <a:srgbClr val="475569"/>
                </a:solidFill>
                <a:latin typeface="Segoe UI"/>
              </a:defRPr>
            </a:pPr>
            <a:r>
              <a:t>Multiple Choice • Classroom Check</a:t>
            </a:r>
          </a:p>
        </p:txBody>
      </p:sp>
      <p:sp>
        <p:nvSpPr>
          <p:cNvPr id="5" name="S027 quiz_prompt" descr="Check for Understanding. Assess student comprehension and stimulate classroom discussion."/>
          <p:cNvSpPr/>
          <p:nvPr/>
        </p:nvSpPr>
        <p:spPr>
          <a:xfrm>
            <a:off x="731520" y="1828800"/>
            <a:ext cx="10728655" cy="164592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7 quiz_prompt" descr="Check for Understanding. Assess student comprehension and stimulate classroom discussion."/>
          <p:cNvSpPr txBox="1"/>
          <p:nvPr/>
        </p:nvSpPr>
        <p:spPr>
          <a:xfrm>
            <a:off x="1097280" y="2011680"/>
            <a:ext cx="9997135" cy="1280160"/>
          </a:xfrm>
          <a:prstGeom prst="rect">
            <a:avLst/>
          </a:prstGeom>
          <a:noFill/>
        </p:spPr>
        <p:txBody>
          <a:bodyPr wrap="square">
            <a:spAutoFit/>
          </a:bodyPr>
          <a:lstStyle/>
          <a:p>
            <a:pPr>
              <a:defRPr sz="2000" b="1">
                <a:solidFill>
                  <a:srgbClr val="0F172A"/>
                </a:solidFill>
                <a:latin typeface="Segoe UI"/>
              </a:defRPr>
            </a:pPr>
            <a:r>
              <a:t>Question: If the thylakoid membrane becomes permeable to protons due to a chemical ionophore, what is the immediate biochemical consequence?</a:t>
            </a:r>
          </a:p>
        </p:txBody>
      </p:sp>
      <p:sp>
        <p:nvSpPr>
          <p:cNvPr id="7" name="S027 quiz_prompt" descr="Check for Understanding. Assess student comprehension and stimulate classroom discussion."/>
          <p:cNvSpPr/>
          <p:nvPr/>
        </p:nvSpPr>
        <p:spPr>
          <a:xfrm>
            <a:off x="731520" y="365760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7 quiz_prompt" descr="Check for Understanding. Assess student comprehension and stimulate classroom discussion."/>
          <p:cNvSpPr txBox="1"/>
          <p:nvPr/>
        </p:nvSpPr>
        <p:spPr>
          <a:xfrm>
            <a:off x="1005840" y="3749040"/>
            <a:ext cx="10180015" cy="457200"/>
          </a:xfrm>
          <a:prstGeom prst="rect">
            <a:avLst/>
          </a:prstGeom>
          <a:noFill/>
        </p:spPr>
        <p:txBody>
          <a:bodyPr wrap="square">
            <a:spAutoFit/>
          </a:bodyPr>
          <a:lstStyle/>
          <a:p>
            <a:pPr>
              <a:defRPr sz="1600" b="1">
                <a:solidFill>
                  <a:srgbClr val="0F172A"/>
                </a:solidFill>
              </a:defRPr>
            </a:pPr>
            <a:r>
              <a:t>A) Photolysis of water ceases immediately</a:t>
            </a:r>
          </a:p>
        </p:txBody>
      </p:sp>
      <p:sp>
        <p:nvSpPr>
          <p:cNvPr id="9" name="S027 quiz_prompt" descr="Check for Understanding. Assess student comprehension and stimulate classroom discussion."/>
          <p:cNvSpPr/>
          <p:nvPr/>
        </p:nvSpPr>
        <p:spPr>
          <a:xfrm>
            <a:off x="731520" y="443484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27 quiz_prompt" descr="Check for Understanding. Assess student comprehension and stimulate classroom discussion."/>
          <p:cNvSpPr txBox="1"/>
          <p:nvPr/>
        </p:nvSpPr>
        <p:spPr>
          <a:xfrm>
            <a:off x="1005840" y="4526280"/>
            <a:ext cx="10180015" cy="457200"/>
          </a:xfrm>
          <a:prstGeom prst="rect">
            <a:avLst/>
          </a:prstGeom>
          <a:noFill/>
        </p:spPr>
        <p:txBody>
          <a:bodyPr wrap="square">
            <a:spAutoFit/>
          </a:bodyPr>
          <a:lstStyle/>
          <a:p>
            <a:pPr>
              <a:defRPr sz="1600" b="1">
                <a:solidFill>
                  <a:srgbClr val="0F172A"/>
                </a:solidFill>
              </a:defRPr>
            </a:pPr>
            <a:r>
              <a:t>B) Photophosphorylation of ADP to ATP stops, while electron transport may continue</a:t>
            </a:r>
          </a:p>
        </p:txBody>
      </p:sp>
      <p:sp>
        <p:nvSpPr>
          <p:cNvPr id="11" name="S027 quiz_prompt" descr="Check for Understanding. Assess student comprehension and stimulate classroom discussion."/>
          <p:cNvSpPr/>
          <p:nvPr/>
        </p:nvSpPr>
        <p:spPr>
          <a:xfrm>
            <a:off x="731520" y="521208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27 quiz_prompt" descr="Check for Understanding. Assess student comprehension and stimulate classroom discussion."/>
          <p:cNvSpPr txBox="1"/>
          <p:nvPr/>
        </p:nvSpPr>
        <p:spPr>
          <a:xfrm>
            <a:off x="1005840" y="5303520"/>
            <a:ext cx="10180015" cy="457200"/>
          </a:xfrm>
          <a:prstGeom prst="rect">
            <a:avLst/>
          </a:prstGeom>
          <a:noFill/>
        </p:spPr>
        <p:txBody>
          <a:bodyPr wrap="square">
            <a:spAutoFit/>
          </a:bodyPr>
          <a:lstStyle/>
          <a:p>
            <a:pPr>
              <a:defRPr sz="1600" b="1">
                <a:solidFill>
                  <a:srgbClr val="0F172A"/>
                </a:solidFill>
              </a:defRPr>
            </a:pPr>
            <a:r>
              <a:t>C) Carbon dioxide fixation in the stroma accelerates dramatically</a:t>
            </a:r>
          </a:p>
        </p:txBody>
      </p:sp>
      <p:sp>
        <p:nvSpPr>
          <p:cNvPr id="13" name="S027 quiz_prompt" descr="Check for Understanding. Assess student comprehension and stimulate classroom discussion."/>
          <p:cNvSpPr/>
          <p:nvPr/>
        </p:nvSpPr>
        <p:spPr>
          <a:xfrm>
            <a:off x="731520" y="598932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27 quiz_prompt" descr="Check for Understanding. Assess student comprehension and stimulate classroom discussion."/>
          <p:cNvSpPr txBox="1"/>
          <p:nvPr/>
        </p:nvSpPr>
        <p:spPr>
          <a:xfrm>
            <a:off x="1005840" y="6080760"/>
            <a:ext cx="10180015" cy="457200"/>
          </a:xfrm>
          <a:prstGeom prst="rect">
            <a:avLst/>
          </a:prstGeom>
          <a:noFill/>
        </p:spPr>
        <p:txBody>
          <a:bodyPr wrap="square">
            <a:spAutoFit/>
          </a:bodyPr>
          <a:lstStyle/>
          <a:p>
            <a:pPr>
              <a:defRPr sz="1600" b="1">
                <a:solidFill>
                  <a:srgbClr val="0F172A"/>
                </a:solidFill>
              </a:defRPr>
            </a:pPr>
            <a:r>
              <a:t>D) Chlorophyll pigments cease photon absorption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8 quiz_reveal" descr="Check for Understanding: Answer &amp; Explanation. Reveal correct answer, provide deep explanation, and analyze distractor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8 quiz_reveal" descr="Check for Understanding: Answer &amp; Explanation. Reveal correct answer, provide deep explanation, and analyze distractor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28 quiz_reveal" descr="Check for Understanding: Answer &amp; Explanation. Reveal correct answer, provide deep explanation, and analyze distractor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 Answer &amp; Explanation</a:t>
            </a:r>
          </a:p>
          <a:p>
            <a:pPr>
              <a:spcBef>
                <a:spcPts val="400"/>
              </a:spcBef>
              <a:defRPr sz="1400">
                <a:solidFill>
                  <a:srgbClr val="475569"/>
                </a:solidFill>
                <a:latin typeface="Segoe UI"/>
              </a:defRPr>
            </a:pPr>
            <a:r>
              <a:t>Solution for Q01</a:t>
            </a:r>
          </a:p>
        </p:txBody>
      </p:sp>
      <p:sp>
        <p:nvSpPr>
          <p:cNvPr id="5" name="S028 quiz_reveal" descr="Check for Understanding: Answer &amp; Explanation. Reveal correct answer, provide deep explanation, and analyze distractors."/>
          <p:cNvSpPr/>
          <p:nvPr/>
        </p:nvSpPr>
        <p:spPr>
          <a:xfrm>
            <a:off x="731520" y="1828800"/>
            <a:ext cx="10728655" cy="10058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8 quiz_reveal" descr="Check for Understanding: Answer &amp; Explanation. Reveal correct answer, provide deep explanation, and analyze distractors."/>
          <p:cNvSpPr txBox="1"/>
          <p:nvPr/>
        </p:nvSpPr>
        <p:spPr>
          <a:xfrm>
            <a:off x="1005840" y="1920240"/>
            <a:ext cx="10180015" cy="822960"/>
          </a:xfrm>
          <a:prstGeom prst="rect">
            <a:avLst/>
          </a:prstGeom>
          <a:noFill/>
        </p:spPr>
        <p:txBody>
          <a:bodyPr wrap="square">
            <a:spAutoFit/>
          </a:bodyPr>
          <a:lstStyle/>
          <a:p>
            <a:pPr>
              <a:defRPr sz="1500" b="1">
                <a:solidFill>
                  <a:srgbClr val="475569"/>
                </a:solidFill>
              </a:defRPr>
            </a:pPr>
            <a:r>
              <a:t>Question: Question: If the thylakoid membrane becomes permeable to protons due to a chemical ionophore, what is the immediate biochemical consequence?</a:t>
            </a:r>
          </a:p>
        </p:txBody>
      </p:sp>
      <p:sp>
        <p:nvSpPr>
          <p:cNvPr id="7" name="S028 quiz_reveal" descr="Check for Understanding: Answer &amp; Explanation. Reveal correct answer, provide deep explanation, and analyze distractors."/>
          <p:cNvSpPr/>
          <p:nvPr/>
        </p:nvSpPr>
        <p:spPr>
          <a:xfrm>
            <a:off x="731520" y="3017520"/>
            <a:ext cx="10728655" cy="128016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8 quiz_reveal" descr="Check for Understanding: Answer &amp; Explanation. Reveal correct answer, provide deep explanation, and analyze distractors."/>
          <p:cNvSpPr txBox="1"/>
          <p:nvPr/>
        </p:nvSpPr>
        <p:spPr>
          <a:xfrm>
            <a:off x="1097280" y="3154680"/>
            <a:ext cx="9997135" cy="1005840"/>
          </a:xfrm>
          <a:prstGeom prst="rect">
            <a:avLst/>
          </a:prstGeom>
          <a:noFill/>
        </p:spPr>
        <p:txBody>
          <a:bodyPr wrap="square">
            <a:spAutoFit/>
          </a:bodyPr>
          <a:lstStyle/>
          <a:p>
            <a:pPr>
              <a:defRPr b="1" sz="1300">
                <a:solidFill>
                  <a:srgbClr val="10B981"/>
                </a:solidFill>
              </a:defRPr>
            </a:pPr>
            <a:r>
              <a:t>✔  CORRECT ANSWER:</a:t>
            </a:r>
          </a:p>
          <a:p>
            <a:pPr>
              <a:spcBef>
                <a:spcPts val="400"/>
              </a:spcBef>
              <a:defRPr sz="2100" b="1">
                <a:solidFill>
                  <a:srgbClr val="10B981"/>
                </a:solidFill>
                <a:latin typeface="Segoe UI"/>
              </a:defRPr>
            </a:pPr>
            <a:r>
              <a:t>A) Photolysis of water ceases immediately</a:t>
            </a:r>
          </a:p>
        </p:txBody>
      </p:sp>
      <p:sp>
        <p:nvSpPr>
          <p:cNvPr id="9" name="S028 quiz_reveal" descr="Check for Understanding: Answer &amp; Explanation. Reveal correct answer, provide deep explanation, and analyze distractors."/>
          <p:cNvSpPr/>
          <p:nvPr/>
        </p:nvSpPr>
        <p:spPr>
          <a:xfrm>
            <a:off x="731520" y="4480560"/>
            <a:ext cx="10728655" cy="1645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28 quiz_reveal" descr="Check for Understanding: Answer &amp; Explanation. Reveal correct answer, provide deep explanation, and analyze distractors."/>
          <p:cNvSpPr txBox="1"/>
          <p:nvPr/>
        </p:nvSpPr>
        <p:spPr>
          <a:xfrm>
            <a:off x="1097280" y="4617720"/>
            <a:ext cx="9997135" cy="1371600"/>
          </a:xfrm>
          <a:prstGeom prst="rect">
            <a:avLst/>
          </a:prstGeom>
          <a:noFill/>
        </p:spPr>
        <p:txBody>
          <a:bodyPr wrap="square">
            <a:spAutoFit/>
          </a:bodyPr>
          <a:lstStyle/>
          <a:p>
            <a:pPr>
              <a:defRPr b="1" sz="1300">
                <a:solidFill>
                  <a:srgbClr val="0F172A"/>
                </a:solidFill>
              </a:defRPr>
            </a:pPr>
            <a:r>
              <a:t>PEDAGOGICAL EXPLANATION &amp; REASONING:</a:t>
            </a:r>
          </a:p>
          <a:p>
            <a:pPr>
              <a:spcBef>
                <a:spcPts val="600"/>
              </a:spcBef>
              <a:defRPr sz="1500">
                <a:solidFill>
                  <a:srgbClr val="475569"/>
                </a:solidFill>
              </a:defRPr>
            </a:pPr>
            <a:r>
              <a:t>Direct application of source exercise.</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9 quiz_prompt" descr="Check for Understanding. Assess student comprehension and stimulate classroom discussi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9 quiz_prompt" descr="Check for Understanding. Assess student comprehension and stimulate classroom discussi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9 quiz_prompt" descr="Check for Understanding. Assess student comprehension and stimulate classroom discussi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a:t>
            </a:r>
          </a:p>
          <a:p>
            <a:pPr>
              <a:spcBef>
                <a:spcPts val="400"/>
              </a:spcBef>
              <a:defRPr sz="1400">
                <a:solidFill>
                  <a:srgbClr val="475569"/>
                </a:solidFill>
                <a:latin typeface="Segoe UI"/>
              </a:defRPr>
            </a:pPr>
            <a:r>
              <a:t>Short Answer • Classroom Check</a:t>
            </a:r>
          </a:p>
        </p:txBody>
      </p:sp>
      <p:sp>
        <p:nvSpPr>
          <p:cNvPr id="5" name="S029 quiz_prompt" descr="Check for Understanding. Assess student comprehension and stimulate classroom discussion."/>
          <p:cNvSpPr/>
          <p:nvPr/>
        </p:nvSpPr>
        <p:spPr>
          <a:xfrm>
            <a:off x="731520" y="1828800"/>
            <a:ext cx="10728655" cy="164592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29 quiz_prompt" descr="Check for Understanding. Assess student comprehension and stimulate classroom discussion."/>
          <p:cNvSpPr txBox="1"/>
          <p:nvPr/>
        </p:nvSpPr>
        <p:spPr>
          <a:xfrm>
            <a:off x="1097280" y="2011680"/>
            <a:ext cx="9997135" cy="1280160"/>
          </a:xfrm>
          <a:prstGeom prst="rect">
            <a:avLst/>
          </a:prstGeom>
          <a:noFill/>
        </p:spPr>
        <p:txBody>
          <a:bodyPr wrap="square">
            <a:spAutoFit/>
          </a:bodyPr>
          <a:lstStyle/>
          <a:p>
            <a:pPr>
              <a:defRPr sz="2000" b="1">
                <a:solidFill>
                  <a:srgbClr val="0F172A"/>
                </a:solidFill>
                <a:latin typeface="Segoe UI"/>
              </a:defRPr>
            </a:pPr>
            <a:r>
              <a:t>### 8. Independent Practice and Exam-Style Problems</a:t>
            </a:r>
          </a:p>
        </p:txBody>
      </p:sp>
      <p:sp>
        <p:nvSpPr>
          <p:cNvPr id="7" name="S029 quiz_prompt" descr="Check for Understanding. Assess student comprehension and stimulate classroom discussion."/>
          <p:cNvSpPr/>
          <p:nvPr/>
        </p:nvSpPr>
        <p:spPr>
          <a:xfrm>
            <a:off x="731520" y="3840480"/>
            <a:ext cx="10728655" cy="2011680"/>
          </a:xfrm>
          <a:prstGeom prst="roundRect">
            <a:avLst/>
          </a:prstGeom>
          <a:solidFill>
            <a:srgbClr val="E0F2FE"/>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29 quiz_prompt" descr="Check for Understanding. Assess student comprehension and stimulate classroom discussion."/>
          <p:cNvSpPr txBox="1"/>
          <p:nvPr/>
        </p:nvSpPr>
        <p:spPr>
          <a:xfrm>
            <a:off x="1097280" y="4114800"/>
            <a:ext cx="9997135" cy="1463040"/>
          </a:xfrm>
          <a:prstGeom prst="rect">
            <a:avLst/>
          </a:prstGeom>
          <a:noFill/>
        </p:spPr>
        <p:txBody>
          <a:bodyPr wrap="square">
            <a:spAutoFit/>
          </a:bodyPr>
          <a:lstStyle/>
          <a:p>
            <a:pPr>
              <a:defRPr b="1" sz="1800">
                <a:solidFill>
                  <a:srgbClr val="0284C7"/>
                </a:solidFill>
              </a:defRPr>
            </a:pPr>
            <a:r>
              <a:t>Quiet thinking time: 30 seconds.</a:t>
            </a:r>
          </a:p>
          <a:p>
            <a:pPr>
              <a:spcBef>
                <a:spcPts val="800"/>
              </a:spcBef>
              <a:defRPr sz="1600">
                <a:solidFill>
                  <a:srgbClr val="475569"/>
                </a:solidFill>
              </a:defRPr>
            </a:pPr>
            <a:r>
              <a:t>Write your response in your notebook before we reveal the answer.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0 quiz_reveal" descr="Check for Understanding: Answer &amp; Explanation. Reveal correct answer, provide deep explanation, and analyze distractor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0 quiz_reveal" descr="Check for Understanding: Answer &amp; Explanation. Reveal correct answer, provide deep explanation, and analyze distractor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30 quiz_reveal" descr="Check for Understanding: Answer &amp; Explanation. Reveal correct answer, provide deep explanation, and analyze distractor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 Answer &amp; Explanation</a:t>
            </a:r>
          </a:p>
          <a:p>
            <a:pPr>
              <a:spcBef>
                <a:spcPts val="400"/>
              </a:spcBef>
              <a:defRPr sz="1400">
                <a:solidFill>
                  <a:srgbClr val="475569"/>
                </a:solidFill>
                <a:latin typeface="Segoe UI"/>
              </a:defRPr>
            </a:pPr>
            <a:r>
              <a:t>Solution for Q02</a:t>
            </a:r>
          </a:p>
        </p:txBody>
      </p:sp>
      <p:sp>
        <p:nvSpPr>
          <p:cNvPr id="5" name="S030 quiz_reveal" descr="Check for Understanding: Answer &amp; Explanation. Reveal correct answer, provide deep explanation, and analyze distractors."/>
          <p:cNvSpPr/>
          <p:nvPr/>
        </p:nvSpPr>
        <p:spPr>
          <a:xfrm>
            <a:off x="731520" y="1828800"/>
            <a:ext cx="10728655" cy="10058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0 quiz_reveal" descr="Check for Understanding: Answer &amp; Explanation. Reveal correct answer, provide deep explanation, and analyze distractors."/>
          <p:cNvSpPr txBox="1"/>
          <p:nvPr/>
        </p:nvSpPr>
        <p:spPr>
          <a:xfrm>
            <a:off x="1005840" y="1920240"/>
            <a:ext cx="10180015" cy="822960"/>
          </a:xfrm>
          <a:prstGeom prst="rect">
            <a:avLst/>
          </a:prstGeom>
          <a:noFill/>
        </p:spPr>
        <p:txBody>
          <a:bodyPr wrap="square">
            <a:spAutoFit/>
          </a:bodyPr>
          <a:lstStyle/>
          <a:p>
            <a:pPr>
              <a:defRPr sz="1500" b="1">
                <a:solidFill>
                  <a:srgbClr val="475569"/>
                </a:solidFill>
              </a:defRPr>
            </a:pPr>
            <a:r>
              <a:t>Question: ### 8. Independent Practice and Exam-Style Problems</a:t>
            </a:r>
          </a:p>
        </p:txBody>
      </p:sp>
      <p:sp>
        <p:nvSpPr>
          <p:cNvPr id="7" name="S030 quiz_reveal" descr="Check for Understanding: Answer &amp; Explanation. Reveal correct answer, provide deep explanation, and analyze distractors."/>
          <p:cNvSpPr/>
          <p:nvPr/>
        </p:nvSpPr>
        <p:spPr>
          <a:xfrm>
            <a:off x="731520" y="3017520"/>
            <a:ext cx="10728655" cy="128016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0 quiz_reveal" descr="Check for Understanding: Answer &amp; Explanation. Reveal correct answer, provide deep explanation, and analyze distractors."/>
          <p:cNvSpPr txBox="1"/>
          <p:nvPr/>
        </p:nvSpPr>
        <p:spPr>
          <a:xfrm>
            <a:off x="1097280" y="3154680"/>
            <a:ext cx="9997135" cy="1005840"/>
          </a:xfrm>
          <a:prstGeom prst="rect">
            <a:avLst/>
          </a:prstGeom>
          <a:noFill/>
        </p:spPr>
        <p:txBody>
          <a:bodyPr wrap="square">
            <a:spAutoFit/>
          </a:bodyPr>
          <a:lstStyle/>
          <a:p>
            <a:pPr>
              <a:defRPr b="1" sz="1300">
                <a:solidFill>
                  <a:srgbClr val="10B981"/>
                </a:solidFill>
              </a:defRPr>
            </a:pPr>
            <a:r>
              <a:t>✔  CORRECT ANSWER:</a:t>
            </a:r>
          </a:p>
          <a:p>
            <a:pPr>
              <a:spcBef>
                <a:spcPts val="400"/>
              </a:spcBef>
              <a:defRPr sz="2100" b="1">
                <a:solidFill>
                  <a:srgbClr val="10B981"/>
                </a:solidFill>
                <a:latin typeface="Segoe UI"/>
              </a:defRPr>
            </a:pPr>
            <a:r>
              <a:t>See worked explanation and step guidelines.</a:t>
            </a:r>
          </a:p>
        </p:txBody>
      </p:sp>
      <p:sp>
        <p:nvSpPr>
          <p:cNvPr id="9" name="S030 quiz_reveal" descr="Check for Understanding: Answer &amp; Explanation. Reveal correct answer, provide deep explanation, and analyze distractors."/>
          <p:cNvSpPr/>
          <p:nvPr/>
        </p:nvSpPr>
        <p:spPr>
          <a:xfrm>
            <a:off x="731520" y="4480560"/>
            <a:ext cx="10728655" cy="1645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30 quiz_reveal" descr="Check for Understanding: Answer &amp; Explanation. Reveal correct answer, provide deep explanation, and analyze distractors."/>
          <p:cNvSpPr txBox="1"/>
          <p:nvPr/>
        </p:nvSpPr>
        <p:spPr>
          <a:xfrm>
            <a:off x="1097280" y="4617720"/>
            <a:ext cx="9997135" cy="1371600"/>
          </a:xfrm>
          <a:prstGeom prst="rect">
            <a:avLst/>
          </a:prstGeom>
          <a:noFill/>
        </p:spPr>
        <p:txBody>
          <a:bodyPr wrap="square">
            <a:spAutoFit/>
          </a:bodyPr>
          <a:lstStyle/>
          <a:p>
            <a:pPr>
              <a:defRPr b="1" sz="1300">
                <a:solidFill>
                  <a:srgbClr val="0F172A"/>
                </a:solidFill>
              </a:defRPr>
            </a:pPr>
            <a:r>
              <a:t>PEDAGOGICAL EXPLANATION &amp; REASONING:</a:t>
            </a:r>
          </a:p>
          <a:p>
            <a:pPr>
              <a:spcBef>
                <a:spcPts val="600"/>
              </a:spcBef>
              <a:defRPr sz="1500">
                <a:solidFill>
                  <a:srgbClr val="475569"/>
                </a:solidFill>
              </a:defRPr>
            </a:pPr>
            <a:r>
              <a:t>### 8. Independent Practice and Exam-Style Problems</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1 quiz_prompt" descr="Check for Understanding. Assess student comprehension and stimulate classroom discussi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1 quiz_prompt" descr="Check for Understanding. Assess student comprehension and stimulate classroom discussi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31 quiz_prompt" descr="Check for Understanding. Assess student comprehension and stimulate classroom discussi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a:t>
            </a:r>
          </a:p>
          <a:p>
            <a:pPr>
              <a:spcBef>
                <a:spcPts val="400"/>
              </a:spcBef>
              <a:defRPr sz="1400">
                <a:solidFill>
                  <a:srgbClr val="475569"/>
                </a:solidFill>
                <a:latin typeface="Segoe UI"/>
              </a:defRPr>
            </a:pPr>
            <a:r>
              <a:t>True False • Classroom Check</a:t>
            </a:r>
          </a:p>
        </p:txBody>
      </p:sp>
      <p:sp>
        <p:nvSpPr>
          <p:cNvPr id="5" name="S031 quiz_prompt" descr="Check for Understanding. Assess student comprehension and stimulate classroom discussion."/>
          <p:cNvSpPr/>
          <p:nvPr/>
        </p:nvSpPr>
        <p:spPr>
          <a:xfrm>
            <a:off x="731520" y="1828800"/>
            <a:ext cx="10728655" cy="164592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1 quiz_prompt" descr="Check for Understanding. Assess student comprehension and stimulate classroom discussion."/>
          <p:cNvSpPr txBox="1"/>
          <p:nvPr/>
        </p:nvSpPr>
        <p:spPr>
          <a:xfrm>
            <a:off x="1097280" y="2011680"/>
            <a:ext cx="9997135" cy="1280160"/>
          </a:xfrm>
          <a:prstGeom prst="rect">
            <a:avLst/>
          </a:prstGeom>
          <a:noFill/>
        </p:spPr>
        <p:txBody>
          <a:bodyPr wrap="square">
            <a:spAutoFit/>
          </a:bodyPr>
          <a:lstStyle/>
          <a:p>
            <a:pPr>
              <a:defRPr sz="2000" b="1">
                <a:solidFill>
                  <a:srgbClr val="0F172A"/>
                </a:solidFill>
                <a:latin typeface="Segoe UI"/>
              </a:defRPr>
            </a:pPr>
            <a:r>
              <a:t>True or False: **Definition**: Photosynthesis is the anabolic, endergonic biochemical process by which ph</a:t>
            </a:r>
          </a:p>
        </p:txBody>
      </p:sp>
      <p:sp>
        <p:nvSpPr>
          <p:cNvPr id="7" name="S031 quiz_prompt" descr="Check for Understanding. Assess student comprehension and stimulate classroom discussion."/>
          <p:cNvSpPr/>
          <p:nvPr/>
        </p:nvSpPr>
        <p:spPr>
          <a:xfrm>
            <a:off x="731520" y="365760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1 quiz_prompt" descr="Check for Understanding. Assess student comprehension and stimulate classroom discussion."/>
          <p:cNvSpPr txBox="1"/>
          <p:nvPr/>
        </p:nvSpPr>
        <p:spPr>
          <a:xfrm>
            <a:off x="1005840" y="3749040"/>
            <a:ext cx="10180015" cy="457200"/>
          </a:xfrm>
          <a:prstGeom prst="rect">
            <a:avLst/>
          </a:prstGeom>
          <a:noFill/>
        </p:spPr>
        <p:txBody>
          <a:bodyPr wrap="square">
            <a:spAutoFit/>
          </a:bodyPr>
          <a:lstStyle/>
          <a:p>
            <a:pPr>
              <a:defRPr sz="1600" b="1">
                <a:solidFill>
                  <a:srgbClr val="0F172A"/>
                </a:solidFill>
              </a:defRPr>
            </a:pPr>
            <a:r>
              <a:t>True</a:t>
            </a:r>
          </a:p>
        </p:txBody>
      </p:sp>
      <p:sp>
        <p:nvSpPr>
          <p:cNvPr id="9" name="S031 quiz_prompt" descr="Check for Understanding. Assess student comprehension and stimulate classroom discussion."/>
          <p:cNvSpPr/>
          <p:nvPr/>
        </p:nvSpPr>
        <p:spPr>
          <a:xfrm>
            <a:off x="731520" y="4434840"/>
            <a:ext cx="10728655" cy="640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31 quiz_prompt" descr="Check for Understanding. Assess student comprehension and stimulate classroom discussion."/>
          <p:cNvSpPr txBox="1"/>
          <p:nvPr/>
        </p:nvSpPr>
        <p:spPr>
          <a:xfrm>
            <a:off x="1005840" y="4526280"/>
            <a:ext cx="10180015" cy="457200"/>
          </a:xfrm>
          <a:prstGeom prst="rect">
            <a:avLst/>
          </a:prstGeom>
          <a:noFill/>
        </p:spPr>
        <p:txBody>
          <a:bodyPr wrap="square">
            <a:spAutoFit/>
          </a:bodyPr>
          <a:lstStyle/>
          <a:p>
            <a:pPr>
              <a:defRPr sz="1600" b="1">
                <a:solidFill>
                  <a:srgbClr val="0F172A"/>
                </a:solidFill>
              </a:defRPr>
            </a:pPr>
            <a:r>
              <a:t>False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2 quiz_reveal" descr="Check for Understanding: Answer &amp; Explanation. Reveal correct answer, provide deep explanation, and analyze distractor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2 quiz_reveal" descr="Check for Understanding: Answer &amp; Explanation. Reveal correct answer, provide deep explanation, and analyze distractor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32 quiz_reveal" descr="Check for Understanding: Answer &amp; Explanation. Reveal correct answer, provide deep explanation, and analyze distractor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 Understanding: Answer &amp; Explanation</a:t>
            </a:r>
          </a:p>
          <a:p>
            <a:pPr>
              <a:spcBef>
                <a:spcPts val="400"/>
              </a:spcBef>
              <a:defRPr sz="1400">
                <a:solidFill>
                  <a:srgbClr val="475569"/>
                </a:solidFill>
                <a:latin typeface="Segoe UI"/>
              </a:defRPr>
            </a:pPr>
            <a:r>
              <a:t>Solution for Q03</a:t>
            </a:r>
          </a:p>
        </p:txBody>
      </p:sp>
      <p:sp>
        <p:nvSpPr>
          <p:cNvPr id="5" name="S032 quiz_reveal" descr="Check for Understanding: Answer &amp; Explanation. Reveal correct answer, provide deep explanation, and analyze distractors."/>
          <p:cNvSpPr/>
          <p:nvPr/>
        </p:nvSpPr>
        <p:spPr>
          <a:xfrm>
            <a:off x="731520" y="1828800"/>
            <a:ext cx="10728655" cy="10058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2 quiz_reveal" descr="Check for Understanding: Answer &amp; Explanation. Reveal correct answer, provide deep explanation, and analyze distractors."/>
          <p:cNvSpPr txBox="1"/>
          <p:nvPr/>
        </p:nvSpPr>
        <p:spPr>
          <a:xfrm>
            <a:off x="1005840" y="1920240"/>
            <a:ext cx="10180015" cy="822960"/>
          </a:xfrm>
          <a:prstGeom prst="rect">
            <a:avLst/>
          </a:prstGeom>
          <a:noFill/>
        </p:spPr>
        <p:txBody>
          <a:bodyPr wrap="square">
            <a:spAutoFit/>
          </a:bodyPr>
          <a:lstStyle/>
          <a:p>
            <a:pPr>
              <a:defRPr sz="1500" b="1">
                <a:solidFill>
                  <a:srgbClr val="475569"/>
                </a:solidFill>
              </a:defRPr>
            </a:pPr>
            <a:r>
              <a:t>Question: True or False: **Definition**: Photosynthesis is the anabolic, endergonic biochemical process by which ph</a:t>
            </a:r>
          </a:p>
        </p:txBody>
      </p:sp>
      <p:sp>
        <p:nvSpPr>
          <p:cNvPr id="7" name="S032 quiz_reveal" descr="Check for Understanding: Answer &amp; Explanation. Reveal correct answer, provide deep explanation, and analyze distractors."/>
          <p:cNvSpPr/>
          <p:nvPr/>
        </p:nvSpPr>
        <p:spPr>
          <a:xfrm>
            <a:off x="731520" y="3017520"/>
            <a:ext cx="10728655" cy="128016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2 quiz_reveal" descr="Check for Understanding: Answer &amp; Explanation. Reveal correct answer, provide deep explanation, and analyze distractors."/>
          <p:cNvSpPr txBox="1"/>
          <p:nvPr/>
        </p:nvSpPr>
        <p:spPr>
          <a:xfrm>
            <a:off x="1097280" y="3154680"/>
            <a:ext cx="9997135" cy="1005840"/>
          </a:xfrm>
          <a:prstGeom prst="rect">
            <a:avLst/>
          </a:prstGeom>
          <a:noFill/>
        </p:spPr>
        <p:txBody>
          <a:bodyPr wrap="square">
            <a:spAutoFit/>
          </a:bodyPr>
          <a:lstStyle/>
          <a:p>
            <a:pPr>
              <a:defRPr b="1" sz="1300">
                <a:solidFill>
                  <a:srgbClr val="10B981"/>
                </a:solidFill>
              </a:defRPr>
            </a:pPr>
            <a:r>
              <a:t>✔  CORRECT ANSWER:</a:t>
            </a:r>
          </a:p>
          <a:p>
            <a:pPr>
              <a:spcBef>
                <a:spcPts val="400"/>
              </a:spcBef>
              <a:defRPr sz="2100" b="1">
                <a:solidFill>
                  <a:srgbClr val="10B981"/>
                </a:solidFill>
                <a:latin typeface="Segoe UI"/>
              </a:defRPr>
            </a:pPr>
            <a:r>
              <a:t>True</a:t>
            </a:r>
          </a:p>
        </p:txBody>
      </p:sp>
      <p:sp>
        <p:nvSpPr>
          <p:cNvPr id="9" name="S032 quiz_reveal" descr="Check for Understanding: Answer &amp; Explanation. Reveal correct answer, provide deep explanation, and analyze distractors."/>
          <p:cNvSpPr/>
          <p:nvPr/>
        </p:nvSpPr>
        <p:spPr>
          <a:xfrm>
            <a:off x="731520" y="4480560"/>
            <a:ext cx="10728655" cy="1645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32 quiz_reveal" descr="Check for Understanding: Answer &amp; Explanation. Reveal correct answer, provide deep explanation, and analyze distractors."/>
          <p:cNvSpPr txBox="1"/>
          <p:nvPr/>
        </p:nvSpPr>
        <p:spPr>
          <a:xfrm>
            <a:off x="1097280" y="4617720"/>
            <a:ext cx="9997135" cy="1371600"/>
          </a:xfrm>
          <a:prstGeom prst="rect">
            <a:avLst/>
          </a:prstGeom>
          <a:noFill/>
        </p:spPr>
        <p:txBody>
          <a:bodyPr wrap="square">
            <a:spAutoFit/>
          </a:bodyPr>
          <a:lstStyle/>
          <a:p>
            <a:pPr>
              <a:defRPr b="1" sz="1300">
                <a:solidFill>
                  <a:srgbClr val="0F172A"/>
                </a:solidFill>
              </a:defRPr>
            </a:pPr>
            <a:r>
              <a:t>PEDAGOGICAL EXPLANATION &amp; REASONING:</a:t>
            </a:r>
          </a:p>
          <a:p>
            <a:pPr>
              <a:spcBef>
                <a:spcPts val="600"/>
              </a:spcBef>
              <a:defRPr sz="1500">
                <a:solidFill>
                  <a:srgbClr val="475569"/>
                </a:solidFill>
              </a:defRPr>
            </a:pPr>
            <a:r>
              <a:t>Based on the core definition: '**Definition**: Photosynthesis is the anabolic, endergonic biochemical process by which ph'.</a:t>
            </a:r>
          </a:p>
        </p:txBody>
      </p:sp>
    </p:spTree>
  </p:cSld>
  <p:clrMapOvr>
    <a:masterClrMapping/>
  </p:clrMapOvr>
  <p:timing>
    <p:tnLst>
      <p:par>
        <p:cTn id="1" dur="indefinite" restart="never" nodeType="tmRoot">
          <p:childTnLst>
            <p:seq concurrent="1" nextAc="seek">
              <p:cTn id="2" dur="indefinite" nodeType="mainSeq">
                <p:childTnLst>
                  <p:par>
                    <p:cTn id="2" fill="hold">
                      <p:stCondLst>
                        <p:cond delay="0"/>
                      </p:stCondLst>
                      <p:childTnLst>
                        <p:par>
                          <p:cTn id="3" fill="hold">
                            <p:stCondLst>
                              <p:cond delay="0"/>
                            </p:stCondLst>
                            <p:childTnLst>
                              <p:animEffect transition="in" filter="fade">
                                <p:cBhvr>
                                  <p:cTn id="4"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3 summary_cards" descr="Summary &amp; Key Takeaways. Synthesize and consolidate lesson knowledge."/>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3 summary_cards" descr="Summary &amp; Key Takeaways. Synthesize and consolidate lesson knowledge."/>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TAKEAWAYS</a:t>
            </a:r>
          </a:p>
        </p:txBody>
      </p:sp>
      <p:sp>
        <p:nvSpPr>
          <p:cNvPr id="4" name="S033 summary_cards" descr="Summary &amp; Key Takeaways. Synthesize and consolidate lesson knowledge."/>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Summary &amp; Key Takeaways</a:t>
            </a:r>
          </a:p>
          <a:p>
            <a:pPr>
              <a:spcBef>
                <a:spcPts val="400"/>
              </a:spcBef>
              <a:defRPr sz="1400">
                <a:solidFill>
                  <a:srgbClr val="475569"/>
                </a:solidFill>
                <a:latin typeface="Segoe UI"/>
              </a:defRPr>
            </a:pPr>
            <a:r>
              <a:t>Core ideas to remember</a:t>
            </a:r>
          </a:p>
        </p:txBody>
      </p:sp>
      <p:sp>
        <p:nvSpPr>
          <p:cNvPr id="5" name="S033 summary_cards" descr="Summary &amp; Key Takeaways. Synthesize and consolidate lesson knowledge."/>
          <p:cNvSpPr/>
          <p:nvPr/>
        </p:nvSpPr>
        <p:spPr>
          <a:xfrm>
            <a:off x="731520" y="1920240"/>
            <a:ext cx="2476424" cy="384048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3 summary_cards" descr="Summary &amp; Key Takeaways. Synthesize and consolidate lesson knowledge."/>
          <p:cNvSpPr/>
          <p:nvPr/>
        </p:nvSpPr>
        <p:spPr>
          <a:xfrm>
            <a:off x="731520" y="1920240"/>
            <a:ext cx="2476424"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KEY TAKEAWAY #1</a:t>
            </a:r>
          </a:p>
        </p:txBody>
      </p:sp>
      <p:sp>
        <p:nvSpPr>
          <p:cNvPr id="7" name="S033 summary_cards" descr="Summary &amp; Key Takeaways. Synthesize and consolidate lesson knowledge."/>
          <p:cNvSpPr txBox="1"/>
          <p:nvPr/>
        </p:nvSpPr>
        <p:spPr>
          <a:xfrm>
            <a:off x="960120" y="2468880"/>
            <a:ext cx="2019224" cy="3108960"/>
          </a:xfrm>
          <a:prstGeom prst="rect">
            <a:avLst/>
          </a:prstGeom>
          <a:noFill/>
        </p:spPr>
        <p:txBody>
          <a:bodyPr wrap="square">
            <a:spAutoFit/>
          </a:bodyPr>
          <a:lstStyle/>
          <a:p>
            <a:pPr>
              <a:defRPr sz="1600">
                <a:solidFill>
                  <a:srgbClr val="0F172A"/>
                </a:solidFill>
                <a:latin typeface="Segoe UI"/>
              </a:defRPr>
            </a:pPr>
            <a:r>
              <a:t>**Definition**: Photosynthesis is the anabolic, endergonic biochemical process b</a:t>
            </a:r>
          </a:p>
        </p:txBody>
      </p:sp>
      <p:sp>
        <p:nvSpPr>
          <p:cNvPr id="8" name="S033 summary_cards" descr="Summary &amp; Key Takeaways. Synthesize and consolidate lesson knowledge."/>
          <p:cNvSpPr/>
          <p:nvPr/>
        </p:nvSpPr>
        <p:spPr>
          <a:xfrm>
            <a:off x="3482264" y="1920240"/>
            <a:ext cx="2476424"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33 summary_cards" descr="Summary &amp; Key Takeaways. Synthesize and consolidate lesson knowledge."/>
          <p:cNvSpPr/>
          <p:nvPr/>
        </p:nvSpPr>
        <p:spPr>
          <a:xfrm>
            <a:off x="3482264" y="1920240"/>
            <a:ext cx="2476424"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KEY TAKEAWAY #2</a:t>
            </a:r>
          </a:p>
        </p:txBody>
      </p:sp>
      <p:sp>
        <p:nvSpPr>
          <p:cNvPr id="10" name="S033 summary_cards" descr="Summary &amp; Key Takeaways. Synthesize and consolidate lesson knowledge."/>
          <p:cNvSpPr txBox="1"/>
          <p:nvPr/>
        </p:nvSpPr>
        <p:spPr>
          <a:xfrm>
            <a:off x="3710864" y="2468880"/>
            <a:ext cx="2019224" cy="3108960"/>
          </a:xfrm>
          <a:prstGeom prst="rect">
            <a:avLst/>
          </a:prstGeom>
          <a:noFill/>
        </p:spPr>
        <p:txBody>
          <a:bodyPr wrap="square">
            <a:spAutoFit/>
          </a:bodyPr>
          <a:lstStyle/>
          <a:p>
            <a:pPr>
              <a:defRPr sz="1600">
                <a:solidFill>
                  <a:srgbClr val="0F172A"/>
                </a:solidFill>
                <a:latin typeface="Segoe UI"/>
              </a:defRPr>
            </a:pPr>
            <a:r>
              <a:t>$$6\text{CO}_2 + 6\text{H}_2\text{O} + \text{light energy} \longrightarrow \text</a:t>
            </a:r>
          </a:p>
        </p:txBody>
      </p:sp>
      <p:sp>
        <p:nvSpPr>
          <p:cNvPr id="11" name="S033 summary_cards" descr="Summary &amp; Key Takeaways. Synthesize and consolidate lesson knowledge."/>
          <p:cNvSpPr/>
          <p:nvPr/>
        </p:nvSpPr>
        <p:spPr>
          <a:xfrm>
            <a:off x="6233008" y="1920240"/>
            <a:ext cx="2476424"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33 summary_cards" descr="Summary &amp; Key Takeaways. Synthesize and consolidate lesson knowledge."/>
          <p:cNvSpPr/>
          <p:nvPr/>
        </p:nvSpPr>
        <p:spPr>
          <a:xfrm>
            <a:off x="6233008" y="1920240"/>
            <a:ext cx="2476424"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KEY TAKEAWAY #3</a:t>
            </a:r>
          </a:p>
        </p:txBody>
      </p:sp>
      <p:sp>
        <p:nvSpPr>
          <p:cNvPr id="13" name="S033 summary_cards" descr="Summary &amp; Key Takeaways. Synthesize and consolidate lesson knowledge."/>
          <p:cNvSpPr txBox="1"/>
          <p:nvPr/>
        </p:nvSpPr>
        <p:spPr>
          <a:xfrm>
            <a:off x="6461608" y="2468880"/>
            <a:ext cx="2019224" cy="3108960"/>
          </a:xfrm>
          <a:prstGeom prst="rect">
            <a:avLst/>
          </a:prstGeom>
          <a:noFill/>
        </p:spPr>
        <p:txBody>
          <a:bodyPr wrap="square">
            <a:spAutoFit/>
          </a:bodyPr>
          <a:lstStyle/>
          <a:p>
            <a:pPr>
              <a:defRPr sz="1600">
                <a:solidFill>
                  <a:srgbClr val="0F172A"/>
                </a:solidFill>
                <a:latin typeface="Segoe UI"/>
              </a:defRPr>
            </a:pPr>
            <a:r>
              <a:t>### 4. Worked Calculation: Photochemical Quantum Yield and Efficiency</a:t>
            </a:r>
            <a:br/>
            <a:r>
              <a:t>A research</a:t>
            </a:r>
          </a:p>
        </p:txBody>
      </p:sp>
      <p:sp>
        <p:nvSpPr>
          <p:cNvPr id="14" name="S033 summary_cards" descr="Summary &amp; Key Takeaways. Synthesize and consolidate lesson knowledge."/>
          <p:cNvSpPr/>
          <p:nvPr/>
        </p:nvSpPr>
        <p:spPr>
          <a:xfrm>
            <a:off x="8983752" y="1920240"/>
            <a:ext cx="2476424"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33 summary_cards" descr="Summary &amp; Key Takeaways. Synthesize and consolidate lesson knowledge."/>
          <p:cNvSpPr/>
          <p:nvPr/>
        </p:nvSpPr>
        <p:spPr>
          <a:xfrm>
            <a:off x="8983752" y="1920240"/>
            <a:ext cx="2476424"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KEY TAKEAWAY #4</a:t>
            </a:r>
          </a:p>
        </p:txBody>
      </p:sp>
      <p:sp>
        <p:nvSpPr>
          <p:cNvPr id="16" name="S033 summary_cards" descr="Summary &amp; Key Takeaways. Synthesize and consolidate lesson knowledge."/>
          <p:cNvSpPr txBox="1"/>
          <p:nvPr/>
        </p:nvSpPr>
        <p:spPr>
          <a:xfrm>
            <a:off x="9212352" y="2468880"/>
            <a:ext cx="2019224" cy="3108960"/>
          </a:xfrm>
          <a:prstGeom prst="rect">
            <a:avLst/>
          </a:prstGeom>
          <a:noFill/>
        </p:spPr>
        <p:txBody>
          <a:bodyPr wrap="square">
            <a:spAutoFit/>
          </a:bodyPr>
          <a:lstStyle/>
          <a:p>
            <a:pPr>
              <a:defRPr sz="1600">
                <a:solidFill>
                  <a:srgbClr val="0F172A"/>
                </a:solidFill>
                <a:latin typeface="Segoe UI"/>
              </a:defRPr>
            </a:pPr>
            <a:r>
              <a:t>Step 1: Determine the ratio of oxygen evolution to photon absorption:</a:t>
            </a:r>
            <a:br/>
            <a:r>
              <a:t>$$\text{Mo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4 practice_cards" descr="Independent Practice &amp; Exam Questions. Provide students with practice opportunitie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4 practice_cards" descr="Independent Practice &amp; Exam Questions. Provide students with practice opportunitie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PRACTICE</a:t>
            </a:r>
          </a:p>
        </p:txBody>
      </p:sp>
      <p:sp>
        <p:nvSpPr>
          <p:cNvPr id="4" name="S034 practice_cards" descr="Independent Practice &amp; Exam Questions. Provide students with practice opportunitie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Independent Practice &amp; Exam Questions</a:t>
            </a:r>
          </a:p>
          <a:p>
            <a:pPr>
              <a:spcBef>
                <a:spcPts val="400"/>
              </a:spcBef>
              <a:defRPr sz="1400">
                <a:solidFill>
                  <a:srgbClr val="475569"/>
                </a:solidFill>
                <a:latin typeface="Segoe UI"/>
              </a:defRPr>
            </a:pPr>
            <a:r>
              <a:t>Test your mastery</a:t>
            </a:r>
          </a:p>
        </p:txBody>
      </p:sp>
      <p:sp>
        <p:nvSpPr>
          <p:cNvPr id="5" name="S034 practice_cards" descr="Independent Practice &amp; Exam Questions. Provide students with practice opportunities."/>
          <p:cNvSpPr/>
          <p:nvPr/>
        </p:nvSpPr>
        <p:spPr>
          <a:xfrm>
            <a:off x="731520" y="1920240"/>
            <a:ext cx="10728655" cy="1097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4 practice_cards" descr="Independent Practice &amp; Exam Questions. Provide students with practice opportunities."/>
          <p:cNvSpPr txBox="1"/>
          <p:nvPr/>
        </p:nvSpPr>
        <p:spPr>
          <a:xfrm>
            <a:off x="1097280" y="2057400"/>
            <a:ext cx="9997135" cy="822960"/>
          </a:xfrm>
          <a:prstGeom prst="rect">
            <a:avLst/>
          </a:prstGeom>
          <a:noFill/>
        </p:spPr>
        <p:txBody>
          <a:bodyPr wrap="square">
            <a:spAutoFit/>
          </a:bodyPr>
          <a:lstStyle/>
          <a:p>
            <a:pPr>
              <a:defRPr sz="1600" b="1">
                <a:solidFill>
                  <a:srgbClr val="0F172A"/>
                </a:solidFill>
                <a:latin typeface="Segoe UI"/>
              </a:defRPr>
            </a:pPr>
            <a:r>
              <a:t>1. Explain the fundamental principles of Chapter 4: Photosynthesis and the Transformation of Energy in your own words.</a:t>
            </a:r>
          </a:p>
        </p:txBody>
      </p:sp>
      <p:sp>
        <p:nvSpPr>
          <p:cNvPr id="7" name="S034 practice_cards" descr="Independent Practice &amp; Exam Questions. Provide students with practice opportunities."/>
          <p:cNvSpPr/>
          <p:nvPr/>
        </p:nvSpPr>
        <p:spPr>
          <a:xfrm>
            <a:off x="731520" y="3246120"/>
            <a:ext cx="10728655" cy="1097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4 practice_cards" descr="Independent Practice &amp; Exam Questions. Provide students with practice opportunities."/>
          <p:cNvSpPr txBox="1"/>
          <p:nvPr/>
        </p:nvSpPr>
        <p:spPr>
          <a:xfrm>
            <a:off x="1097280" y="3383280"/>
            <a:ext cx="9997135" cy="822960"/>
          </a:xfrm>
          <a:prstGeom prst="rect">
            <a:avLst/>
          </a:prstGeom>
          <a:noFill/>
        </p:spPr>
        <p:txBody>
          <a:bodyPr wrap="square">
            <a:spAutoFit/>
          </a:bodyPr>
          <a:lstStyle/>
          <a:p>
            <a:pPr>
              <a:defRPr sz="1600" b="1">
                <a:solidFill>
                  <a:srgbClr val="0F172A"/>
                </a:solidFill>
                <a:latin typeface="Segoe UI"/>
              </a:defRPr>
            </a:pPr>
            <a:r>
              <a:t>2. Solve a multi-step numerical calculation using the core relations discussed today.</a:t>
            </a:r>
          </a:p>
        </p:txBody>
      </p:sp>
      <p:sp>
        <p:nvSpPr>
          <p:cNvPr id="9" name="S034 practice_cards" descr="Independent Practice &amp; Exam Questions. Provide students with practice opportunities."/>
          <p:cNvSpPr/>
          <p:nvPr/>
        </p:nvSpPr>
        <p:spPr>
          <a:xfrm>
            <a:off x="731520" y="4572000"/>
            <a:ext cx="10728655" cy="1097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34 practice_cards" descr="Independent Practice &amp; Exam Questions. Provide students with practice opportunities."/>
          <p:cNvSpPr txBox="1"/>
          <p:nvPr/>
        </p:nvSpPr>
        <p:spPr>
          <a:xfrm>
            <a:off x="1097280" y="4709160"/>
            <a:ext cx="9997135" cy="822960"/>
          </a:xfrm>
          <a:prstGeom prst="rect">
            <a:avLst/>
          </a:prstGeom>
          <a:noFill/>
        </p:spPr>
        <p:txBody>
          <a:bodyPr wrap="square">
            <a:spAutoFit/>
          </a:bodyPr>
          <a:lstStyle/>
          <a:p>
            <a:pPr>
              <a:defRPr sz="1600" b="1">
                <a:solidFill>
                  <a:srgbClr val="0F172A"/>
                </a:solidFill>
                <a:latin typeface="Segoe UI"/>
              </a:defRPr>
            </a:pPr>
            <a:r>
              <a:t>3. Explain why the common misconception discussed earlier is incorrect.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5 exit_ticket" descr="Exit Ticket. Rapid formative assessment to assess student confidence and lingering question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5 exit_ticket" descr="Exit Ticket. Rapid formative assessment to assess student confidence and lingering question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REFLECTION</a:t>
            </a:r>
          </a:p>
        </p:txBody>
      </p:sp>
      <p:sp>
        <p:nvSpPr>
          <p:cNvPr id="4" name="S035 exit_ticket" descr="Exit Ticket. Rapid formative assessment to assess student confidence and lingering question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Exit Ticket</a:t>
            </a:r>
          </a:p>
          <a:p>
            <a:pPr>
              <a:spcBef>
                <a:spcPts val="400"/>
              </a:spcBef>
              <a:defRPr sz="1400">
                <a:solidFill>
                  <a:srgbClr val="475569"/>
                </a:solidFill>
                <a:latin typeface="Segoe UI"/>
              </a:defRPr>
            </a:pPr>
            <a:r>
              <a:t>Before you leave the classroom</a:t>
            </a:r>
          </a:p>
        </p:txBody>
      </p:sp>
      <p:sp>
        <p:nvSpPr>
          <p:cNvPr id="5" name="S035 exit_ticket" descr="Exit Ticket. Rapid formative assessment to assess student confidence and lingering questions."/>
          <p:cNvSpPr/>
          <p:nvPr/>
        </p:nvSpPr>
        <p:spPr>
          <a:xfrm>
            <a:off x="731520" y="2011680"/>
            <a:ext cx="5181447"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5 exit_ticket" descr="Exit Ticket. Rapid formative assessment to assess student confidence and lingering questions."/>
          <p:cNvSpPr txBox="1"/>
          <p:nvPr/>
        </p:nvSpPr>
        <p:spPr>
          <a:xfrm>
            <a:off x="1097280" y="2377440"/>
            <a:ext cx="4449927" cy="3200400"/>
          </a:xfrm>
          <a:prstGeom prst="rect">
            <a:avLst/>
          </a:prstGeom>
          <a:noFill/>
        </p:spPr>
        <p:txBody>
          <a:bodyPr wrap="square">
            <a:spAutoFit/>
          </a:bodyPr>
          <a:lstStyle/>
          <a:p>
            <a:pPr>
              <a:defRPr sz="1800" b="1">
                <a:solidFill>
                  <a:srgbClr val="0F172A"/>
                </a:solidFill>
                <a:latin typeface="Segoe UI"/>
              </a:defRPr>
            </a:pPr>
            <a:r>
              <a:t>1. What is the single most important concept or rule from today's lesson?</a:t>
            </a:r>
          </a:p>
        </p:txBody>
      </p:sp>
      <p:sp>
        <p:nvSpPr>
          <p:cNvPr id="7" name="S035 exit_ticket" descr="Exit Ticket. Rapid formative assessment to assess student confidence and lingering questions."/>
          <p:cNvSpPr/>
          <p:nvPr/>
        </p:nvSpPr>
        <p:spPr>
          <a:xfrm>
            <a:off x="6278727" y="2011680"/>
            <a:ext cx="5181447"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5 exit_ticket" descr="Exit Ticket. Rapid formative assessment to assess student confidence and lingering questions."/>
          <p:cNvSpPr txBox="1"/>
          <p:nvPr/>
        </p:nvSpPr>
        <p:spPr>
          <a:xfrm>
            <a:off x="6644487" y="2377440"/>
            <a:ext cx="4449927" cy="3200400"/>
          </a:xfrm>
          <a:prstGeom prst="rect">
            <a:avLst/>
          </a:prstGeom>
          <a:noFill/>
        </p:spPr>
        <p:txBody>
          <a:bodyPr wrap="square">
            <a:spAutoFit/>
          </a:bodyPr>
          <a:lstStyle/>
          <a:p>
            <a:pPr>
              <a:defRPr sz="1800" b="1">
                <a:solidFill>
                  <a:srgbClr val="0F172A"/>
                </a:solidFill>
                <a:latin typeface="Segoe UI"/>
              </a:defRPr>
            </a:pPr>
            <a:r>
              <a:t>2. What is one question or area you would like more practice 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